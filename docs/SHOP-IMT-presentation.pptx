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1bc9c01-1142-c56c-f895-6a72a220a207}">
          <p14:sldIdLst>
            <p14:sldId id="256"/>
          </p14:sldIdLst>
        </p14:section>
        <p14:section name="Solution" id="{34f2e41e-2a60-7c32-79c1-42a42c8e0120}">
          <p14:sldIdLst>
            <p14:sldId id="257"/>
            <p14:sldId id="258"/>
            <p14:sldId id="259"/>
            <p14:sldId id="260"/>
            <p14:sldId id="261"/>
            <p14:sldId id="262"/>
          </p14:sldIdLst>
        </p14:section>
        <p14:section name="Conclusion" id="{9ee01f81-19c4-1302-838e-7bebf00a420c}">
          <p14:sldIdLst>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Nous présentons SHOP'IMT, la boutique en ligne des étudiants de l'IMT, construite entièrement en serverless sur AWS.
Le site est en ligne, tout est décrit en Terraform et l'ensemble tourne à 0 € grâce à l'offre gratuite.
Les visuels des produits et le logo ont été dessinés pour le projet, aux couleurs de la charte IMT. Le logo officiel de l'IMT n'est pas utilisé, car la charte interdit de le modifier ou de l'associer à une autre marque.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sujet demandait cinq choses : un catalogue web, la commande, une confirmation en temps réel, l'audit et un traitement interne. Plus du streaming type Kafka si possible.
Pour chacune, on a choisi un service AWS managé. Point important sur la commande : les prix sont recalculés côté serveur et le stock est réservé dans une transaction, donc on ne peut ni tricher sur le prix ni vendre un article épuisé.
Pour Kafka, on utilise DynamoDB Streams : c'est le même principe de journal d'événements ordonné, mais gratuit. On y revient sur la slide des coûts.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Voici le chemin d'une commande, de gauche à droite.
Le client passe par CloudFront, qui sert à la fois le site, stocké dans S3, et l'API. API Gateway appelle la Lambda commandes, qui écrit la commande dans DynamoDB.
Ensuite, on ne publie pas directement sur SNS : c'est DynamoDB Streams qui déclenche la Lambda publication. C'est le motif outbox : si la commande est enregistrée, l'événement partira forcément, même en cas de panne au mauvais moment.
SNS diffuse l'événement à trois abonnés indépendants : le traitement avec Step Functions, l'audit dans S3, et l'e-mail de confirmation via SES. On peut en ajouter un quatrième sans toucher au reste.
Cognito gère les comptes clients : API Gateway vérifie le jeton avant d'appeler la Lambda.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sujet demandait de déclencher un traitement interne. On a simulé un vrai parcours logistique avec Step Functions.
À chaque commande, la machine à états tire un transporteur et des délais au hasard, et dans un cas sur quatre elle ajoute un incident de transport.
Chaque étape écrit le nouveau statut directement dans DynamoDB, sans Lambda intermédiaire. La page de suivi, accessible depuis l'e-mail, affiche ce statut en direct.
Lors de notre test réel, une commande est passée de « reçue » à « livrée » en 32 secondes, avec un incident.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Côté client, trois choses à montrer.
Un : le site s'adapte au téléphone. Sur iPhone, la navigation passe en bas de l'écran et un panier flottant affiche le total.
Deux : l'e-mail de confirmation, envoyé par Amazon SES, avec le logo, la photo de chaque article et un bouton qui mène à la page de suivi.
Trois : les comptes clients avec Cognito. On crée un compte, on reçoit un code, et on retrouve toutes ses commandes. C'est API Gateway qui vérifie le jeton : sans jeton, la requête est refusée avant même d'atteindre notre code.
Précision honnête : l'adaptation mobile, c'est du HTML et du CSS, pas un service 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Une boutique ne doit perdre aucune commande. À gauche, la résilience : grâce au motif outbox, l'événement est dérivé de l'écriture en base, donc les deux ne peuvent pas diverger. En cas d'erreur, SQS et Streams relancent ; au bout de plusieurs échecs le message part dans une file d'erreurs, et une alarme CloudWatch se déclenche.
Tous les traitements sont idempotents : rejouer un message ne crée pas de doublon.
À droite, la sécurité : le bucket du site est privé, chaque Lambda a son propre rôle IAM limité, et le prix n'est jamais fourni par le navigateur.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Contrainte du sujet : coût zéro. On l'a tenue, et chaque choix a une raison.
Par exemple DynamoDB est en mode provisionné et pas à la demande, parce que seul le provisionné a une offre gratuite permanente. Les Lambdas tournent sur processeur ARM, moins cher.
Pour Kafka : Amazon MSK n'a pas d'offre gratuite, il est facturé dès la première heure. On a donc pris DynamoDB Streams, qui donne le même modèle de flux ordonné et rejouable, gratuitement. MSK reste l'architecture cible pour un vrai volume.
Un budget avec alerte à 1 dollar surveille le compte.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conclure : onze services AWS travaillent ensemble (CloudFront, S3, API Gateway, Lambda, DynamoDB, SNS, SQS, Step Functions, SES, Cognito, CloudWatch), tout est décrit en Terraform et déployé en une commande, et le coût reste à zéro.
La prochaine étape est la solution 2 sur EC2, pour comparer une approche serveur classique à l'approche serverless.
On peut maintenant faire une démo : passer une commande, montrer l'e-mail reçu, puis suivre le colis en direct. Merci, avez-vous des questions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sombr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148840"/>
            <a:ext cx="603504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640080" y="4069080"/>
            <a:ext cx="5852160" cy="914400"/>
          </a:xfrm>
          <a:prstGeom prst="rect">
            <a:avLst/>
          </a:prstGeom>
          <a:noFill/>
          <a:ln/>
        </p:spPr>
        <p:txBody>
          <a:bodyPr wrap="square" rtlCol="0"/>
          <a:lstStyle>
            <a:lvl1pPr algn="l" indent="0" marL="0">
              <a:buNone/>
              <a:defRPr lang="en-US" sz="1800" dirty="0">
                <a:solidFill>
                  <a:schemeClr val="accent1"/>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SHOP'IMT · Projet AWS FISA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Logo SHOP'IMT">    </p:cNvPr>
          <p:cNvPicPr>
            <a:picLocks noChangeAspect="1"/>
          </p:cNvPicPr>
          <p:nvPr/>
        </p:nvPicPr>
        <p:blipFill>
          <a:blip r:embed="rId1"/>
          <a:stretch>
            <a:fillRect/>
          </a:stretch>
        </p:blipFill>
        <p:spPr>
          <a:xfrm>
            <a:off x="640080" y="685800"/>
            <a:ext cx="3291840" cy="811987"/>
          </a:xfrm>
          <a:prstGeom prst="rect">
            <a:avLst/>
          </a:prstGeom>
        </p:spPr>
      </p:pic>
      <p:sp>
        <p:nvSpPr>
          <p:cNvPr id="3" name="Text 0"/>
          <p:cNvSpPr/>
          <p:nvPr>
            <p:ph idx="100" type="title" hasCustomPrompt="1"/>
          </p:nvPr>
        </p:nvSpPr>
        <p:spPr>
          <a:xfrm>
            <a:off x="640080" y="2148840"/>
            <a:ext cx="6035040" cy="1737360"/>
          </a:xfrm>
          <a:prstGeom prst="rect">
            <a:avLst/>
          </a:prstGeom>
          <a:noFill/>
          <a:ln/>
        </p:spPr>
        <p:txBody>
          <a:bodyPr wrap="square" lIns="0" tIns="0" rIns="0" bIns="0" rtlCol="0" anchor="t"/>
          <a:lstStyle/>
          <a:p>
            <a:pPr algn="l" indent="0" marL="0">
              <a:buNone/>
            </a:pPr>
            <a:r>
              <a:rPr lang="en-US" sz="4000" b="1" dirty="0">
                <a:solidFill>
                  <a:schemeClr val="bg1"/>
                </a:solidFill>
              </a:rPr>
              <a:t>Une boutique en ligne 100 % serverless sur AWS</a:t>
            </a:r>
            <a:endParaRPr lang="en-US" sz="4000" dirty="0"/>
          </a:p>
        </p:txBody>
      </p:sp>
      <p:sp>
        <p:nvSpPr>
          <p:cNvPr id="4" name="Text 0"/>
          <p:cNvSpPr/>
          <p:nvPr>
            <p:ph idx="101" type="body" hasCustomPrompt="1"/>
          </p:nvPr>
        </p:nvSpPr>
        <p:spPr>
          <a:xfrm>
            <a:off x="640080" y="4069080"/>
            <a:ext cx="5852160" cy="914400"/>
          </a:xfrm>
          <a:prstGeom prst="rect">
            <a:avLst/>
          </a:prstGeom>
          <a:noFill/>
          <a:ln/>
        </p:spPr>
        <p:txBody>
          <a:bodyPr wrap="square" lIns="0" tIns="0" rIns="0" bIns="0" rtlCol="0" anchor="t"/>
          <a:lstStyle/>
          <a:p>
            <a:pPr algn="l" indent="0" marL="0">
              <a:buNone/>
            </a:pPr>
            <a:r>
              <a:rPr lang="en-US" sz="1800" dirty="0">
                <a:solidFill>
                  <a:schemeClr val="accent1"/>
                </a:solidFill>
              </a:rPr>
              <a:t>Projet AWS · FISA 2026 · Solution 1 : serverless</a:t>
            </a:r>
            <a:endParaRPr lang="en-US" sz="1800" dirty="0"/>
          </a:p>
        </p:txBody>
      </p:sp>
      <p:sp>
        <p:nvSpPr>
          <p:cNvPr id="5" name="carte-1"/>
          <p:cNvSpPr/>
          <p:nvPr/>
        </p:nvSpPr>
        <p:spPr>
          <a:xfrm>
            <a:off x="7223760" y="822960"/>
            <a:ext cx="2103120" cy="2468880"/>
          </a:xfrm>
          <a:prstGeom prst="roundRect">
            <a:avLst>
              <a:gd name="adj" fmla="val 5217"/>
            </a:avLst>
          </a:prstGeom>
          <a:solidFill>
            <a:schemeClr val="bg2"/>
          </a:solidFill>
          <a:ln w="12700">
            <a:solidFill>
              <a:schemeClr val="bg2"/>
            </a:solidFill>
            <a:prstDash val="solid"/>
          </a:ln>
        </p:spPr>
      </p:sp>
      <p:pic>
        <p:nvPicPr>
          <p:cNvPr id="6" name="Image 1" descr="Visuel produit p001">    </p:cNvPr>
          <p:cNvPicPr>
            <a:picLocks noChangeAspect="1"/>
          </p:cNvPicPr>
          <p:nvPr/>
        </p:nvPicPr>
        <p:blipFill>
          <a:blip r:embed="rId2"/>
          <a:stretch>
            <a:fillRect/>
          </a:stretch>
        </p:blipFill>
        <p:spPr>
          <a:xfrm>
            <a:off x="7315200" y="1280160"/>
            <a:ext cx="1920240" cy="1440180"/>
          </a:xfrm>
          <a:prstGeom prst="rect">
            <a:avLst/>
          </a:prstGeom>
        </p:spPr>
      </p:pic>
      <p:sp>
        <p:nvSpPr>
          <p:cNvPr id="7" name="carte-2"/>
          <p:cNvSpPr/>
          <p:nvPr/>
        </p:nvSpPr>
        <p:spPr>
          <a:xfrm>
            <a:off x="9509760" y="822960"/>
            <a:ext cx="2103120" cy="2468880"/>
          </a:xfrm>
          <a:prstGeom prst="roundRect">
            <a:avLst>
              <a:gd name="adj" fmla="val 5217"/>
            </a:avLst>
          </a:prstGeom>
          <a:solidFill>
            <a:schemeClr val="bg2"/>
          </a:solidFill>
          <a:ln w="12700">
            <a:solidFill>
              <a:schemeClr val="bg2"/>
            </a:solidFill>
            <a:prstDash val="solid"/>
          </a:ln>
        </p:spPr>
      </p:sp>
      <p:pic>
        <p:nvPicPr>
          <p:cNvPr id="8" name="Image 2" descr="Visuel produit p003">    </p:cNvPr>
          <p:cNvPicPr>
            <a:picLocks noChangeAspect="1"/>
          </p:cNvPicPr>
          <p:nvPr/>
        </p:nvPicPr>
        <p:blipFill>
          <a:blip r:embed="rId3"/>
          <a:stretch>
            <a:fillRect/>
          </a:stretch>
        </p:blipFill>
        <p:spPr>
          <a:xfrm>
            <a:off x="9601200" y="1280160"/>
            <a:ext cx="1920240" cy="1440180"/>
          </a:xfrm>
          <a:prstGeom prst="rect">
            <a:avLst/>
          </a:prstGeom>
        </p:spPr>
      </p:pic>
      <p:sp>
        <p:nvSpPr>
          <p:cNvPr id="9" name="carte-3"/>
          <p:cNvSpPr/>
          <p:nvPr/>
        </p:nvSpPr>
        <p:spPr>
          <a:xfrm>
            <a:off x="7223760" y="3611880"/>
            <a:ext cx="2103120" cy="2468880"/>
          </a:xfrm>
          <a:prstGeom prst="roundRect">
            <a:avLst>
              <a:gd name="adj" fmla="val 5217"/>
            </a:avLst>
          </a:prstGeom>
          <a:solidFill>
            <a:schemeClr val="bg2"/>
          </a:solidFill>
          <a:ln w="12700">
            <a:solidFill>
              <a:schemeClr val="bg2"/>
            </a:solidFill>
            <a:prstDash val="solid"/>
          </a:ln>
        </p:spPr>
      </p:sp>
      <p:pic>
        <p:nvPicPr>
          <p:cNvPr id="10" name="Image 3" descr="Visuel produit p002">    </p:cNvPr>
          <p:cNvPicPr>
            <a:picLocks noChangeAspect="1"/>
          </p:cNvPicPr>
          <p:nvPr/>
        </p:nvPicPr>
        <p:blipFill>
          <a:blip r:embed="rId4"/>
          <a:stretch>
            <a:fillRect/>
          </a:stretch>
        </p:blipFill>
        <p:spPr>
          <a:xfrm>
            <a:off x="7315200" y="4069080"/>
            <a:ext cx="1920240" cy="1440180"/>
          </a:xfrm>
          <a:prstGeom prst="rect">
            <a:avLst/>
          </a:prstGeom>
        </p:spPr>
      </p:pic>
      <p:sp>
        <p:nvSpPr>
          <p:cNvPr id="11" name="carte-4"/>
          <p:cNvSpPr/>
          <p:nvPr/>
        </p:nvSpPr>
        <p:spPr>
          <a:xfrm>
            <a:off x="9509760" y="3611880"/>
            <a:ext cx="2103120" cy="2468880"/>
          </a:xfrm>
          <a:prstGeom prst="roundRect">
            <a:avLst>
              <a:gd name="adj" fmla="val 5217"/>
            </a:avLst>
          </a:prstGeom>
          <a:solidFill>
            <a:schemeClr val="bg2"/>
          </a:solidFill>
          <a:ln w="12700">
            <a:solidFill>
              <a:schemeClr val="bg2"/>
            </a:solidFill>
            <a:prstDash val="solid"/>
          </a:ln>
        </p:spPr>
      </p:sp>
      <p:pic>
        <p:nvPicPr>
          <p:cNvPr id="12" name="Image 4" descr="Visuel produit p006">    </p:cNvPr>
          <p:cNvPicPr>
            <a:picLocks noChangeAspect="1"/>
          </p:cNvPicPr>
          <p:nvPr/>
        </p:nvPicPr>
        <p:blipFill>
          <a:blip r:embed="rId5"/>
          <a:stretch>
            <a:fillRect/>
          </a:stretch>
        </p:blipFill>
        <p:spPr>
          <a:xfrm>
            <a:off x="9601200" y="4069080"/>
            <a:ext cx="1920240" cy="14401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Chaque exigence du sujet a sa réponse AWS</a:t>
            </a:r>
            <a:endParaRPr lang="en-US" sz="3000" dirty="0"/>
          </a:p>
        </p:txBody>
      </p:sp>
      <p:sp>
        <p:nvSpPr>
          <p:cNvPr id="3" name="carte-5"/>
          <p:cNvSpPr/>
          <p:nvPr/>
        </p:nvSpPr>
        <p:spPr>
          <a:xfrm>
            <a:off x="548640" y="1417320"/>
            <a:ext cx="5440680" cy="1371600"/>
          </a:xfrm>
          <a:prstGeom prst="roundRect">
            <a:avLst>
              <a:gd name="adj" fmla="val 8000"/>
            </a:avLst>
          </a:prstGeom>
          <a:solidFill>
            <a:schemeClr val="bg2"/>
          </a:solidFill>
          <a:ln w="12700">
            <a:solidFill>
              <a:schemeClr val="bg2"/>
            </a:solidFill>
            <a:prstDash val="solid"/>
          </a:ln>
        </p:spPr>
      </p:sp>
      <p:sp>
        <p:nvSpPr>
          <p:cNvPr id="4" name="pastille-6"/>
          <p:cNvSpPr/>
          <p:nvPr/>
        </p:nvSpPr>
        <p:spPr>
          <a:xfrm>
            <a:off x="822960" y="1691640"/>
            <a:ext cx="457200" cy="457200"/>
          </a:xfrm>
          <a:prstGeom prst="ellipse">
            <a:avLst/>
          </a:prstGeom>
          <a:solidFill>
            <a:schemeClr val="accent1"/>
          </a:solidFill>
          <a:ln w="12700">
            <a:solidFill>
              <a:schemeClr val="accent1"/>
            </a:solidFill>
            <a:prstDash val="solid"/>
          </a:ln>
        </p:spPr>
      </p:sp>
      <p:sp>
        <p:nvSpPr>
          <p:cNvPr id="5" name="pastille-texte-7"/>
          <p:cNvSpPr txBox="1"/>
          <p:nvPr/>
        </p:nvSpPr>
        <p:spPr>
          <a:xfrm>
            <a:off x="822960" y="169164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6" name="texte-8"/>
          <p:cNvSpPr txBox="1"/>
          <p:nvPr/>
        </p:nvSpPr>
        <p:spPr>
          <a:xfrm>
            <a:off x="1463040" y="1673352"/>
            <a:ext cx="4297680" cy="365760"/>
          </a:xfrm>
          <a:prstGeom prst="rect">
            <a:avLst/>
          </a:prstGeom>
          <a:noFill/>
          <a:ln/>
        </p:spPr>
        <p:txBody>
          <a:bodyPr wrap="square" lIns="0" tIns="0" rIns="0" bIns="0" rtlCol="0" anchor="t"/>
          <a:lstStyle/>
          <a:p>
            <a:pPr indent="0" marL="0">
              <a:buNone/>
            </a:pPr>
            <a:r>
              <a:rPr lang="en-US" sz="1800" b="1" dirty="0">
                <a:solidFill>
                  <a:schemeClr val="tx1"/>
                </a:solidFill>
              </a:rPr>
              <a:t>Parcourir le catalogue</a:t>
            </a:r>
            <a:endParaRPr lang="en-US" sz="1800" dirty="0"/>
          </a:p>
        </p:txBody>
      </p:sp>
      <p:sp>
        <p:nvSpPr>
          <p:cNvPr id="7" name="texte-9"/>
          <p:cNvSpPr txBox="1"/>
          <p:nvPr/>
        </p:nvSpPr>
        <p:spPr>
          <a:xfrm>
            <a:off x="1463040" y="2075688"/>
            <a:ext cx="4297680" cy="594360"/>
          </a:xfrm>
          <a:prstGeom prst="rect">
            <a:avLst/>
          </a:prstGeom>
          <a:noFill/>
          <a:ln/>
        </p:spPr>
        <p:txBody>
          <a:bodyPr wrap="square" lIns="0" tIns="0" rIns="0" bIns="0" rtlCol="0" anchor="t"/>
          <a:lstStyle/>
          <a:p>
            <a:pPr indent="0" marL="0">
              <a:buNone/>
            </a:pPr>
            <a:r>
              <a:rPr lang="en-US" sz="1400" dirty="0">
                <a:solidFill>
                  <a:schemeClr val="accent6"/>
                </a:solidFill>
              </a:rPr>
              <a:t>CloudFront + S3 pour le site, API Gateway + Lambda + DynamoDB pour les produits</a:t>
            </a:r>
            <a:endParaRPr lang="en-US" sz="1400" dirty="0"/>
          </a:p>
        </p:txBody>
      </p:sp>
      <p:sp>
        <p:nvSpPr>
          <p:cNvPr id="8" name="carte-10"/>
          <p:cNvSpPr/>
          <p:nvPr/>
        </p:nvSpPr>
        <p:spPr>
          <a:xfrm>
            <a:off x="6172200" y="1417320"/>
            <a:ext cx="5440680" cy="1371600"/>
          </a:xfrm>
          <a:prstGeom prst="roundRect">
            <a:avLst>
              <a:gd name="adj" fmla="val 8000"/>
            </a:avLst>
          </a:prstGeom>
          <a:solidFill>
            <a:schemeClr val="bg2"/>
          </a:solidFill>
          <a:ln w="12700">
            <a:solidFill>
              <a:schemeClr val="bg2"/>
            </a:solidFill>
            <a:prstDash val="solid"/>
          </a:ln>
        </p:spPr>
      </p:sp>
      <p:sp>
        <p:nvSpPr>
          <p:cNvPr id="9" name="pastille-11"/>
          <p:cNvSpPr/>
          <p:nvPr/>
        </p:nvSpPr>
        <p:spPr>
          <a:xfrm>
            <a:off x="6446520" y="1691640"/>
            <a:ext cx="457200" cy="457200"/>
          </a:xfrm>
          <a:prstGeom prst="ellipse">
            <a:avLst/>
          </a:prstGeom>
          <a:solidFill>
            <a:schemeClr val="accent1"/>
          </a:solidFill>
          <a:ln w="12700">
            <a:solidFill>
              <a:schemeClr val="accent1"/>
            </a:solidFill>
            <a:prstDash val="solid"/>
          </a:ln>
        </p:spPr>
      </p:sp>
      <p:sp>
        <p:nvSpPr>
          <p:cNvPr id="10" name="pastille-texte-12"/>
          <p:cNvSpPr txBox="1"/>
          <p:nvPr/>
        </p:nvSpPr>
        <p:spPr>
          <a:xfrm>
            <a:off x="6446520" y="169164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1" name="texte-13"/>
          <p:cNvSpPr txBox="1"/>
          <p:nvPr/>
        </p:nvSpPr>
        <p:spPr>
          <a:xfrm>
            <a:off x="7086600" y="1673352"/>
            <a:ext cx="4297680" cy="365760"/>
          </a:xfrm>
          <a:prstGeom prst="rect">
            <a:avLst/>
          </a:prstGeom>
          <a:noFill/>
          <a:ln/>
        </p:spPr>
        <p:txBody>
          <a:bodyPr wrap="square" lIns="0" tIns="0" rIns="0" bIns="0" rtlCol="0" anchor="t"/>
          <a:lstStyle/>
          <a:p>
            <a:pPr indent="0" marL="0">
              <a:buNone/>
            </a:pPr>
            <a:r>
              <a:rPr lang="en-US" sz="1800" b="1" dirty="0">
                <a:solidFill>
                  <a:schemeClr val="tx1"/>
                </a:solidFill>
              </a:rPr>
              <a:t>Commander</a:t>
            </a:r>
            <a:endParaRPr lang="en-US" sz="1800" dirty="0"/>
          </a:p>
        </p:txBody>
      </p:sp>
      <p:sp>
        <p:nvSpPr>
          <p:cNvPr id="12" name="texte-14"/>
          <p:cNvSpPr txBox="1"/>
          <p:nvPr/>
        </p:nvSpPr>
        <p:spPr>
          <a:xfrm>
            <a:off x="7086600" y="2075688"/>
            <a:ext cx="4297680" cy="594360"/>
          </a:xfrm>
          <a:prstGeom prst="rect">
            <a:avLst/>
          </a:prstGeom>
          <a:noFill/>
          <a:ln/>
        </p:spPr>
        <p:txBody>
          <a:bodyPr wrap="square" lIns="0" tIns="0" rIns="0" bIns="0" rtlCol="0" anchor="t"/>
          <a:lstStyle/>
          <a:p>
            <a:pPr indent="0" marL="0">
              <a:buNone/>
            </a:pPr>
            <a:r>
              <a:rPr lang="en-US" sz="1400" dirty="0">
                <a:solidFill>
                  <a:schemeClr val="accent6"/>
                </a:solidFill>
              </a:rPr>
              <a:t>Transaction DynamoDB : prix recalculés côté serveur, stock réservé d'un seul coup</a:t>
            </a:r>
            <a:endParaRPr lang="en-US" sz="1400" dirty="0"/>
          </a:p>
        </p:txBody>
      </p:sp>
      <p:sp>
        <p:nvSpPr>
          <p:cNvPr id="13" name="carte-15"/>
          <p:cNvSpPr/>
          <p:nvPr/>
        </p:nvSpPr>
        <p:spPr>
          <a:xfrm>
            <a:off x="548640" y="2990088"/>
            <a:ext cx="5440680" cy="1371600"/>
          </a:xfrm>
          <a:prstGeom prst="roundRect">
            <a:avLst>
              <a:gd name="adj" fmla="val 8000"/>
            </a:avLst>
          </a:prstGeom>
          <a:solidFill>
            <a:schemeClr val="bg2"/>
          </a:solidFill>
          <a:ln w="12700">
            <a:solidFill>
              <a:schemeClr val="bg2"/>
            </a:solidFill>
            <a:prstDash val="solid"/>
          </a:ln>
        </p:spPr>
      </p:sp>
      <p:sp>
        <p:nvSpPr>
          <p:cNvPr id="14" name="pastille-16"/>
          <p:cNvSpPr/>
          <p:nvPr/>
        </p:nvSpPr>
        <p:spPr>
          <a:xfrm>
            <a:off x="822960" y="3264408"/>
            <a:ext cx="457200" cy="457200"/>
          </a:xfrm>
          <a:prstGeom prst="ellipse">
            <a:avLst/>
          </a:prstGeom>
          <a:solidFill>
            <a:schemeClr val="accent1"/>
          </a:solidFill>
          <a:ln w="12700">
            <a:solidFill>
              <a:schemeClr val="accent1"/>
            </a:solidFill>
            <a:prstDash val="solid"/>
          </a:ln>
        </p:spPr>
      </p:sp>
      <p:sp>
        <p:nvSpPr>
          <p:cNvPr id="15" name="pastille-texte-17"/>
          <p:cNvSpPr txBox="1"/>
          <p:nvPr/>
        </p:nvSpPr>
        <p:spPr>
          <a:xfrm>
            <a:off x="822960" y="3264408"/>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6" name="texte-18"/>
          <p:cNvSpPr txBox="1"/>
          <p:nvPr/>
        </p:nvSpPr>
        <p:spPr>
          <a:xfrm>
            <a:off x="1463040" y="3246120"/>
            <a:ext cx="4297680" cy="365760"/>
          </a:xfrm>
          <a:prstGeom prst="rect">
            <a:avLst/>
          </a:prstGeom>
          <a:noFill/>
          <a:ln/>
        </p:spPr>
        <p:txBody>
          <a:bodyPr wrap="square" lIns="0" tIns="0" rIns="0" bIns="0" rtlCol="0" anchor="t"/>
          <a:lstStyle/>
          <a:p>
            <a:pPr indent="0" marL="0">
              <a:buNone/>
            </a:pPr>
            <a:r>
              <a:rPr lang="en-US" sz="1800" b="1" dirty="0">
                <a:solidFill>
                  <a:schemeClr val="tx1"/>
                </a:solidFill>
              </a:rPr>
              <a:t>Confirmer en temps réel</a:t>
            </a:r>
            <a:endParaRPr lang="en-US" sz="1800" dirty="0"/>
          </a:p>
        </p:txBody>
      </p:sp>
      <p:sp>
        <p:nvSpPr>
          <p:cNvPr id="17" name="texte-19"/>
          <p:cNvSpPr txBox="1"/>
          <p:nvPr/>
        </p:nvSpPr>
        <p:spPr>
          <a:xfrm>
            <a:off x="1463040" y="3648456"/>
            <a:ext cx="4297680" cy="594360"/>
          </a:xfrm>
          <a:prstGeom prst="rect">
            <a:avLst/>
          </a:prstGeom>
          <a:noFill/>
          <a:ln/>
        </p:spPr>
        <p:txBody>
          <a:bodyPr wrap="square" lIns="0" tIns="0" rIns="0" bIns="0" rtlCol="0" anchor="t"/>
          <a:lstStyle/>
          <a:p>
            <a:pPr indent="0" marL="0">
              <a:buNone/>
            </a:pPr>
            <a:r>
              <a:rPr lang="en-US" sz="1400" dirty="0">
                <a:solidFill>
                  <a:schemeClr val="accent6"/>
                </a:solidFill>
              </a:rPr>
              <a:t>SNS diffuse l'événement ; Lambda envoie un e-mail HTML avec Amazon SES</a:t>
            </a:r>
            <a:endParaRPr lang="en-US" sz="1400" dirty="0"/>
          </a:p>
        </p:txBody>
      </p:sp>
      <p:sp>
        <p:nvSpPr>
          <p:cNvPr id="18" name="carte-20"/>
          <p:cNvSpPr/>
          <p:nvPr/>
        </p:nvSpPr>
        <p:spPr>
          <a:xfrm>
            <a:off x="6172200" y="2990088"/>
            <a:ext cx="5440680" cy="1371600"/>
          </a:xfrm>
          <a:prstGeom prst="roundRect">
            <a:avLst>
              <a:gd name="adj" fmla="val 8000"/>
            </a:avLst>
          </a:prstGeom>
          <a:solidFill>
            <a:schemeClr val="bg2"/>
          </a:solidFill>
          <a:ln w="12700">
            <a:solidFill>
              <a:schemeClr val="bg2"/>
            </a:solidFill>
            <a:prstDash val="solid"/>
          </a:ln>
        </p:spPr>
      </p:sp>
      <p:sp>
        <p:nvSpPr>
          <p:cNvPr id="19" name="pastille-21"/>
          <p:cNvSpPr/>
          <p:nvPr/>
        </p:nvSpPr>
        <p:spPr>
          <a:xfrm>
            <a:off x="6446520" y="3264408"/>
            <a:ext cx="457200" cy="457200"/>
          </a:xfrm>
          <a:prstGeom prst="ellipse">
            <a:avLst/>
          </a:prstGeom>
          <a:solidFill>
            <a:schemeClr val="accent1"/>
          </a:solidFill>
          <a:ln w="12700">
            <a:solidFill>
              <a:schemeClr val="accent1"/>
            </a:solidFill>
            <a:prstDash val="solid"/>
          </a:ln>
        </p:spPr>
      </p:sp>
      <p:sp>
        <p:nvSpPr>
          <p:cNvPr id="20" name="pastille-texte-22"/>
          <p:cNvSpPr txBox="1"/>
          <p:nvPr/>
        </p:nvSpPr>
        <p:spPr>
          <a:xfrm>
            <a:off x="6446520" y="3264408"/>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1" name="texte-23"/>
          <p:cNvSpPr txBox="1"/>
          <p:nvPr/>
        </p:nvSpPr>
        <p:spPr>
          <a:xfrm>
            <a:off x="7086600" y="3246120"/>
            <a:ext cx="4297680" cy="365760"/>
          </a:xfrm>
          <a:prstGeom prst="rect">
            <a:avLst/>
          </a:prstGeom>
          <a:noFill/>
          <a:ln/>
        </p:spPr>
        <p:txBody>
          <a:bodyPr wrap="square" lIns="0" tIns="0" rIns="0" bIns="0" rtlCol="0" anchor="t"/>
          <a:lstStyle/>
          <a:p>
            <a:pPr indent="0" marL="0">
              <a:buNone/>
            </a:pPr>
            <a:r>
              <a:rPr lang="en-US" sz="1800" b="1" dirty="0">
                <a:solidFill>
                  <a:schemeClr val="tx1"/>
                </a:solidFill>
              </a:rPr>
              <a:t>Auditer les commandes</a:t>
            </a:r>
            <a:endParaRPr lang="en-US" sz="1800" dirty="0"/>
          </a:p>
        </p:txBody>
      </p:sp>
      <p:sp>
        <p:nvSpPr>
          <p:cNvPr id="22" name="texte-24"/>
          <p:cNvSpPr txBox="1"/>
          <p:nvPr/>
        </p:nvSpPr>
        <p:spPr>
          <a:xfrm>
            <a:off x="7086600" y="3648456"/>
            <a:ext cx="4297680" cy="594360"/>
          </a:xfrm>
          <a:prstGeom prst="rect">
            <a:avLst/>
          </a:prstGeom>
          <a:noFill/>
          <a:ln/>
        </p:spPr>
        <p:txBody>
          <a:bodyPr wrap="square" lIns="0" tIns="0" rIns="0" bIns="0" rtlCol="0" anchor="t"/>
          <a:lstStyle/>
          <a:p>
            <a:pPr indent="0" marL="0">
              <a:buNone/>
            </a:pPr>
            <a:r>
              <a:rPr lang="en-US" sz="1400" dirty="0">
                <a:solidFill>
                  <a:schemeClr val="accent6"/>
                </a:solidFill>
              </a:rPr>
              <a:t>File SQS dédiée → Lambda → un fichier JSON par commande dans S3</a:t>
            </a:r>
            <a:endParaRPr lang="en-US" sz="1400" dirty="0"/>
          </a:p>
        </p:txBody>
      </p:sp>
      <p:sp>
        <p:nvSpPr>
          <p:cNvPr id="23" name="carte-25"/>
          <p:cNvSpPr/>
          <p:nvPr/>
        </p:nvSpPr>
        <p:spPr>
          <a:xfrm>
            <a:off x="548640" y="4562856"/>
            <a:ext cx="5440680" cy="1371600"/>
          </a:xfrm>
          <a:prstGeom prst="roundRect">
            <a:avLst>
              <a:gd name="adj" fmla="val 8000"/>
            </a:avLst>
          </a:prstGeom>
          <a:solidFill>
            <a:schemeClr val="bg2"/>
          </a:solidFill>
          <a:ln w="12700">
            <a:solidFill>
              <a:schemeClr val="bg2"/>
            </a:solidFill>
            <a:prstDash val="solid"/>
          </a:ln>
        </p:spPr>
      </p:sp>
      <p:sp>
        <p:nvSpPr>
          <p:cNvPr id="24" name="pastille-26"/>
          <p:cNvSpPr/>
          <p:nvPr/>
        </p:nvSpPr>
        <p:spPr>
          <a:xfrm>
            <a:off x="822960" y="4837176"/>
            <a:ext cx="457200" cy="457200"/>
          </a:xfrm>
          <a:prstGeom prst="ellipse">
            <a:avLst/>
          </a:prstGeom>
          <a:solidFill>
            <a:schemeClr val="accent1"/>
          </a:solidFill>
          <a:ln w="12700">
            <a:solidFill>
              <a:schemeClr val="accent1"/>
            </a:solidFill>
            <a:prstDash val="solid"/>
          </a:ln>
        </p:spPr>
      </p:sp>
      <p:sp>
        <p:nvSpPr>
          <p:cNvPr id="25" name="pastille-texte-27"/>
          <p:cNvSpPr txBox="1"/>
          <p:nvPr/>
        </p:nvSpPr>
        <p:spPr>
          <a:xfrm>
            <a:off x="822960" y="4837176"/>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5</a:t>
            </a:r>
            <a:endParaRPr lang="en-US" sz="1400" dirty="0"/>
          </a:p>
        </p:txBody>
      </p:sp>
      <p:sp>
        <p:nvSpPr>
          <p:cNvPr id="26" name="texte-28"/>
          <p:cNvSpPr txBox="1"/>
          <p:nvPr/>
        </p:nvSpPr>
        <p:spPr>
          <a:xfrm>
            <a:off x="1463040" y="4818888"/>
            <a:ext cx="4297680" cy="365760"/>
          </a:xfrm>
          <a:prstGeom prst="rect">
            <a:avLst/>
          </a:prstGeom>
          <a:noFill/>
          <a:ln/>
        </p:spPr>
        <p:txBody>
          <a:bodyPr wrap="square" lIns="0" tIns="0" rIns="0" bIns="0" rtlCol="0" anchor="t"/>
          <a:lstStyle/>
          <a:p>
            <a:pPr indent="0" marL="0">
              <a:buNone/>
            </a:pPr>
            <a:r>
              <a:rPr lang="en-US" sz="1800" b="1" dirty="0">
                <a:solidFill>
                  <a:schemeClr val="tx1"/>
                </a:solidFill>
              </a:rPr>
              <a:t>Traiter en interne</a:t>
            </a:r>
            <a:endParaRPr lang="en-US" sz="1800" dirty="0"/>
          </a:p>
        </p:txBody>
      </p:sp>
      <p:sp>
        <p:nvSpPr>
          <p:cNvPr id="27" name="texte-29"/>
          <p:cNvSpPr txBox="1"/>
          <p:nvPr/>
        </p:nvSpPr>
        <p:spPr>
          <a:xfrm>
            <a:off x="1463040" y="5221224"/>
            <a:ext cx="4297680" cy="594360"/>
          </a:xfrm>
          <a:prstGeom prst="rect">
            <a:avLst/>
          </a:prstGeom>
          <a:noFill/>
          <a:ln/>
        </p:spPr>
        <p:txBody>
          <a:bodyPr wrap="square" lIns="0" tIns="0" rIns="0" bIns="0" rtlCol="0" anchor="t"/>
          <a:lstStyle/>
          <a:p>
            <a:pPr indent="0" marL="0">
              <a:buNone/>
            </a:pPr>
            <a:r>
              <a:rPr lang="en-US" sz="1400" dirty="0">
                <a:solidFill>
                  <a:schemeClr val="accent6"/>
                </a:solidFill>
              </a:rPr>
              <a:t>Step Functions simule préparation, expédition, incidents et livraison</a:t>
            </a:r>
            <a:endParaRPr lang="en-US" sz="1400" dirty="0"/>
          </a:p>
        </p:txBody>
      </p:sp>
      <p:sp>
        <p:nvSpPr>
          <p:cNvPr id="28" name="carte-30"/>
          <p:cNvSpPr/>
          <p:nvPr/>
        </p:nvSpPr>
        <p:spPr>
          <a:xfrm>
            <a:off x="6172200" y="4562856"/>
            <a:ext cx="5440680" cy="1371600"/>
          </a:xfrm>
          <a:prstGeom prst="roundRect">
            <a:avLst>
              <a:gd name="adj" fmla="val 8000"/>
            </a:avLst>
          </a:prstGeom>
          <a:solidFill>
            <a:schemeClr val="bg2"/>
          </a:solidFill>
          <a:ln w="12700">
            <a:solidFill>
              <a:schemeClr val="bg2"/>
            </a:solidFill>
            <a:prstDash val="solid"/>
          </a:ln>
        </p:spPr>
      </p:sp>
      <p:sp>
        <p:nvSpPr>
          <p:cNvPr id="29" name="pastille-31"/>
          <p:cNvSpPr/>
          <p:nvPr/>
        </p:nvSpPr>
        <p:spPr>
          <a:xfrm>
            <a:off x="6446520" y="4837176"/>
            <a:ext cx="457200" cy="457200"/>
          </a:xfrm>
          <a:prstGeom prst="ellipse">
            <a:avLst/>
          </a:prstGeom>
          <a:solidFill>
            <a:schemeClr val="accent1"/>
          </a:solidFill>
          <a:ln w="12700">
            <a:solidFill>
              <a:schemeClr val="accent1"/>
            </a:solidFill>
            <a:prstDash val="solid"/>
          </a:ln>
        </p:spPr>
      </p:sp>
      <p:sp>
        <p:nvSpPr>
          <p:cNvPr id="30" name="pastille-texte-32"/>
          <p:cNvSpPr txBox="1"/>
          <p:nvPr/>
        </p:nvSpPr>
        <p:spPr>
          <a:xfrm>
            <a:off x="6446520" y="4837176"/>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6</a:t>
            </a:r>
            <a:endParaRPr lang="en-US" sz="1400" dirty="0"/>
          </a:p>
        </p:txBody>
      </p:sp>
      <p:sp>
        <p:nvSpPr>
          <p:cNvPr id="31" name="texte-33"/>
          <p:cNvSpPr txBox="1"/>
          <p:nvPr/>
        </p:nvSpPr>
        <p:spPr>
          <a:xfrm>
            <a:off x="7086600" y="4818888"/>
            <a:ext cx="4297680" cy="365760"/>
          </a:xfrm>
          <a:prstGeom prst="rect">
            <a:avLst/>
          </a:prstGeom>
          <a:noFill/>
          <a:ln/>
        </p:spPr>
        <p:txBody>
          <a:bodyPr wrap="square" lIns="0" tIns="0" rIns="0" bIns="0" rtlCol="0" anchor="t"/>
          <a:lstStyle/>
          <a:p>
            <a:pPr indent="0" marL="0">
              <a:buNone/>
            </a:pPr>
            <a:r>
              <a:rPr lang="en-US" sz="1800" b="1" dirty="0">
                <a:solidFill>
                  <a:schemeClr val="tx1"/>
                </a:solidFill>
              </a:rPr>
              <a:t>Streaming (Kafka)</a:t>
            </a:r>
            <a:endParaRPr lang="en-US" sz="1800" dirty="0"/>
          </a:p>
        </p:txBody>
      </p:sp>
      <p:sp>
        <p:nvSpPr>
          <p:cNvPr id="32" name="texte-34"/>
          <p:cNvSpPr txBox="1"/>
          <p:nvPr/>
        </p:nvSpPr>
        <p:spPr>
          <a:xfrm>
            <a:off x="7086600" y="5221224"/>
            <a:ext cx="4297680" cy="594360"/>
          </a:xfrm>
          <a:prstGeom prst="rect">
            <a:avLst/>
          </a:prstGeom>
          <a:noFill/>
          <a:ln/>
        </p:spPr>
        <p:txBody>
          <a:bodyPr wrap="square" lIns="0" tIns="0" rIns="0" bIns="0" rtlCol="0" anchor="t"/>
          <a:lstStyle/>
          <a:p>
            <a:pPr indent="0" marL="0">
              <a:buNone/>
            </a:pPr>
            <a:r>
              <a:rPr lang="en-US" sz="1400" dirty="0">
                <a:solidFill>
                  <a:schemeClr val="accent6"/>
                </a:solidFill>
              </a:rPr>
              <a:t>DynamoDB Streams joue le rôle du flux de commandes, gratuitement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Architecture : une commande devient un événement</a:t>
            </a:r>
            <a:endParaRPr lang="en-US" sz="3000" dirty="0"/>
          </a:p>
        </p:txBody>
      </p:sp>
      <p:sp>
        <p:nvSpPr>
          <p:cNvPr id="3" name="service-35"/>
          <p:cNvSpPr/>
          <p:nvPr/>
        </p:nvSpPr>
        <p:spPr>
          <a:xfrm>
            <a:off x="548640" y="1417320"/>
            <a:ext cx="1600200" cy="749808"/>
          </a:xfrm>
          <a:prstGeom prst="roundRect">
            <a:avLst>
              <a:gd name="adj" fmla="val 9756"/>
            </a:avLst>
          </a:prstGeom>
          <a:solidFill>
            <a:schemeClr val="tx1"/>
          </a:solidFill>
          <a:ln w="15875">
            <a:solidFill>
              <a:schemeClr val="tx1"/>
            </a:solidFill>
            <a:prstDash val="solid"/>
          </a:ln>
        </p:spPr>
      </p:sp>
      <p:sp>
        <p:nvSpPr>
          <p:cNvPr id="4" name="service-texte-36"/>
          <p:cNvSpPr txBox="1"/>
          <p:nvPr/>
        </p:nvSpPr>
        <p:spPr>
          <a:xfrm>
            <a:off x="548640" y="1417320"/>
            <a:ext cx="1600200" cy="749808"/>
          </a:xfrm>
          <a:prstGeom prst="rect">
            <a:avLst/>
          </a:prstGeom>
          <a:noFill/>
          <a:ln/>
        </p:spPr>
        <p:txBody>
          <a:bodyPr wrap="square" lIns="508" tIns="508" rIns="508" bIns="508" rtlCol="0" anchor="ctr"/>
          <a:lstStyle/>
          <a:p>
            <a:pPr algn="ctr" indent="0" marL="0">
              <a:buNone/>
            </a:pPr>
            <a:r>
              <a:rPr lang="en-US" sz="1200" b="1" dirty="0">
                <a:solidFill>
                  <a:schemeClr val="bg1"/>
                </a:solidFill>
              </a:rPr>
              <a:t>Client</a:t>
            </a:r>
            <a:endParaRPr lang="en-US" sz="1200" dirty="0"/>
          </a:p>
          <a:p>
            <a:pPr algn="ctr" indent="0" marL="0">
              <a:buNone/>
            </a:pPr>
            <a:r>
              <a:rPr lang="en-US" sz="1000" dirty="0">
                <a:solidFill>
                  <a:schemeClr val="bg1"/>
                </a:solidFill>
              </a:rPr>
              <a:t>navigateur, iPhone</a:t>
            </a:r>
            <a:endParaRPr lang="en-US" sz="1200" dirty="0"/>
          </a:p>
        </p:txBody>
      </p:sp>
      <p:sp>
        <p:nvSpPr>
          <p:cNvPr id="5" name="service-37"/>
          <p:cNvSpPr/>
          <p:nvPr/>
        </p:nvSpPr>
        <p:spPr>
          <a:xfrm>
            <a:off x="2450592" y="1417320"/>
            <a:ext cx="1600200" cy="749808"/>
          </a:xfrm>
          <a:prstGeom prst="roundRect">
            <a:avLst>
              <a:gd name="adj" fmla="val 9756"/>
            </a:avLst>
          </a:prstGeom>
          <a:solidFill>
            <a:schemeClr val="tx1"/>
          </a:solidFill>
          <a:ln w="15875">
            <a:solidFill>
              <a:schemeClr val="tx1"/>
            </a:solidFill>
            <a:prstDash val="solid"/>
          </a:ln>
        </p:spPr>
      </p:sp>
      <p:sp>
        <p:nvSpPr>
          <p:cNvPr id="6" name="service-texte-38"/>
          <p:cNvSpPr txBox="1"/>
          <p:nvPr/>
        </p:nvSpPr>
        <p:spPr>
          <a:xfrm>
            <a:off x="2450592" y="1417320"/>
            <a:ext cx="1600200" cy="749808"/>
          </a:xfrm>
          <a:prstGeom prst="rect">
            <a:avLst/>
          </a:prstGeom>
          <a:noFill/>
          <a:ln/>
        </p:spPr>
        <p:txBody>
          <a:bodyPr wrap="square" lIns="508" tIns="508" rIns="508" bIns="508" rtlCol="0" anchor="ctr"/>
          <a:lstStyle/>
          <a:p>
            <a:pPr algn="ctr" indent="0" marL="0">
              <a:buNone/>
            </a:pPr>
            <a:r>
              <a:rPr lang="en-US" sz="1200" b="1" dirty="0">
                <a:solidFill>
                  <a:schemeClr val="bg1"/>
                </a:solidFill>
              </a:rPr>
              <a:t>CloudFront</a:t>
            </a:r>
            <a:endParaRPr lang="en-US" sz="1200" dirty="0"/>
          </a:p>
          <a:p>
            <a:pPr algn="ctr" indent="0" marL="0">
              <a:buNone/>
            </a:pPr>
            <a:r>
              <a:rPr lang="en-US" sz="1000" dirty="0">
                <a:solidFill>
                  <a:schemeClr val="bg1"/>
                </a:solidFill>
              </a:rPr>
              <a:t>CDN, HTTPS</a:t>
            </a:r>
            <a:endParaRPr lang="en-US" sz="1200" dirty="0"/>
          </a:p>
        </p:txBody>
      </p:sp>
      <p:sp>
        <p:nvSpPr>
          <p:cNvPr id="7" name="service-39"/>
          <p:cNvSpPr/>
          <p:nvPr/>
        </p:nvSpPr>
        <p:spPr>
          <a:xfrm>
            <a:off x="4352544" y="1417320"/>
            <a:ext cx="1600200" cy="749808"/>
          </a:xfrm>
          <a:prstGeom prst="roundRect">
            <a:avLst>
              <a:gd name="adj" fmla="val 9756"/>
            </a:avLst>
          </a:prstGeom>
          <a:solidFill>
            <a:schemeClr val="tx1"/>
          </a:solidFill>
          <a:ln w="15875">
            <a:solidFill>
              <a:schemeClr val="tx1"/>
            </a:solidFill>
            <a:prstDash val="solid"/>
          </a:ln>
        </p:spPr>
      </p:sp>
      <p:sp>
        <p:nvSpPr>
          <p:cNvPr id="8" name="service-texte-40"/>
          <p:cNvSpPr txBox="1"/>
          <p:nvPr/>
        </p:nvSpPr>
        <p:spPr>
          <a:xfrm>
            <a:off x="4352544" y="1417320"/>
            <a:ext cx="1600200" cy="749808"/>
          </a:xfrm>
          <a:prstGeom prst="rect">
            <a:avLst/>
          </a:prstGeom>
          <a:noFill/>
          <a:ln/>
        </p:spPr>
        <p:txBody>
          <a:bodyPr wrap="square" lIns="508" tIns="508" rIns="508" bIns="508" rtlCol="0" anchor="ctr"/>
          <a:lstStyle/>
          <a:p>
            <a:pPr algn="ctr" indent="0" marL="0">
              <a:buNone/>
            </a:pPr>
            <a:r>
              <a:rPr lang="en-US" sz="1200" b="1" dirty="0">
                <a:solidFill>
                  <a:schemeClr val="bg1"/>
                </a:solidFill>
              </a:rPr>
              <a:t>API Gateway</a:t>
            </a:r>
            <a:endParaRPr lang="en-US" sz="1200" dirty="0"/>
          </a:p>
          <a:p>
            <a:pPr algn="ctr" indent="0" marL="0">
              <a:buNone/>
            </a:pPr>
            <a:r>
              <a:rPr lang="en-US" sz="1000" dirty="0">
                <a:solidFill>
                  <a:schemeClr val="bg1"/>
                </a:solidFill>
              </a:rPr>
              <a:t>API HTTP</a:t>
            </a:r>
            <a:endParaRPr lang="en-US" sz="1200" dirty="0"/>
          </a:p>
        </p:txBody>
      </p:sp>
      <p:sp>
        <p:nvSpPr>
          <p:cNvPr id="9" name="service-41"/>
          <p:cNvSpPr/>
          <p:nvPr/>
        </p:nvSpPr>
        <p:spPr>
          <a:xfrm>
            <a:off x="6254496" y="1417320"/>
            <a:ext cx="1600200" cy="749808"/>
          </a:xfrm>
          <a:prstGeom prst="roundRect">
            <a:avLst>
              <a:gd name="adj" fmla="val 9756"/>
            </a:avLst>
          </a:prstGeom>
          <a:solidFill>
            <a:schemeClr val="accent5"/>
          </a:solidFill>
          <a:ln w="15875">
            <a:solidFill>
              <a:schemeClr val="accent1"/>
            </a:solidFill>
            <a:prstDash val="solid"/>
          </a:ln>
        </p:spPr>
      </p:sp>
      <p:sp>
        <p:nvSpPr>
          <p:cNvPr id="10" name="service-texte-42"/>
          <p:cNvSpPr txBox="1"/>
          <p:nvPr/>
        </p:nvSpPr>
        <p:spPr>
          <a:xfrm>
            <a:off x="6254496" y="1417320"/>
            <a:ext cx="1600200" cy="749808"/>
          </a:xfrm>
          <a:prstGeom prst="rect">
            <a:avLst/>
          </a:prstGeom>
          <a:noFill/>
          <a:ln/>
        </p:spPr>
        <p:txBody>
          <a:bodyPr wrap="square" lIns="508" tIns="508" rIns="508" bIns="508" rtlCol="0" anchor="ctr"/>
          <a:lstStyle/>
          <a:p>
            <a:pPr algn="ctr" indent="0" marL="0">
              <a:buNone/>
            </a:pPr>
            <a:r>
              <a:rPr lang="en-US" sz="1200" b="1" dirty="0">
                <a:solidFill>
                  <a:schemeClr val="tx1"/>
                </a:solidFill>
              </a:rPr>
              <a:t>λ commandes</a:t>
            </a:r>
            <a:endParaRPr lang="en-US" sz="1200" dirty="0"/>
          </a:p>
          <a:p>
            <a:pPr algn="ctr" indent="0" marL="0">
              <a:buNone/>
            </a:pPr>
            <a:r>
              <a:rPr lang="en-US" sz="1000" dirty="0">
                <a:solidFill>
                  <a:schemeClr val="tx1"/>
                </a:solidFill>
              </a:rPr>
              <a:t>Lambda</a:t>
            </a:r>
            <a:endParaRPr lang="en-US" sz="1200" dirty="0"/>
          </a:p>
        </p:txBody>
      </p:sp>
      <p:sp>
        <p:nvSpPr>
          <p:cNvPr id="11" name="service-43"/>
          <p:cNvSpPr/>
          <p:nvPr/>
        </p:nvSpPr>
        <p:spPr>
          <a:xfrm>
            <a:off x="8156448" y="1417320"/>
            <a:ext cx="1600200" cy="749808"/>
          </a:xfrm>
          <a:prstGeom prst="roundRect">
            <a:avLst>
              <a:gd name="adj" fmla="val 9756"/>
            </a:avLst>
          </a:prstGeom>
          <a:solidFill>
            <a:schemeClr val="bg1"/>
          </a:solidFill>
          <a:ln w="15875">
            <a:solidFill>
              <a:schemeClr val="tx1"/>
            </a:solidFill>
            <a:prstDash val="solid"/>
          </a:ln>
        </p:spPr>
      </p:sp>
      <p:sp>
        <p:nvSpPr>
          <p:cNvPr id="12" name="service-texte-44"/>
          <p:cNvSpPr txBox="1"/>
          <p:nvPr/>
        </p:nvSpPr>
        <p:spPr>
          <a:xfrm>
            <a:off x="8156448" y="1417320"/>
            <a:ext cx="1600200" cy="749808"/>
          </a:xfrm>
          <a:prstGeom prst="rect">
            <a:avLst/>
          </a:prstGeom>
          <a:noFill/>
          <a:ln/>
        </p:spPr>
        <p:txBody>
          <a:bodyPr wrap="square" lIns="508" tIns="508" rIns="508" bIns="508" rtlCol="0" anchor="ctr"/>
          <a:lstStyle/>
          <a:p>
            <a:pPr algn="ctr" indent="0" marL="0">
              <a:buNone/>
            </a:pPr>
            <a:r>
              <a:rPr lang="en-US" sz="1200" b="1" dirty="0">
                <a:solidFill>
                  <a:schemeClr val="tx1"/>
                </a:solidFill>
              </a:rPr>
              <a:t>DynamoDB</a:t>
            </a:r>
            <a:endParaRPr lang="en-US" sz="1200" dirty="0"/>
          </a:p>
          <a:p>
            <a:pPr algn="ctr" indent="0" marL="0">
              <a:buNone/>
            </a:pPr>
            <a:r>
              <a:rPr lang="en-US" sz="1000" dirty="0">
                <a:solidFill>
                  <a:schemeClr val="tx1"/>
                </a:solidFill>
              </a:rPr>
              <a:t>+ Streams</a:t>
            </a:r>
            <a:endParaRPr lang="en-US" sz="1200" dirty="0"/>
          </a:p>
        </p:txBody>
      </p:sp>
      <p:sp>
        <p:nvSpPr>
          <p:cNvPr id="13" name="service-45"/>
          <p:cNvSpPr/>
          <p:nvPr/>
        </p:nvSpPr>
        <p:spPr>
          <a:xfrm>
            <a:off x="10058400" y="1417320"/>
            <a:ext cx="1600200" cy="749808"/>
          </a:xfrm>
          <a:prstGeom prst="roundRect">
            <a:avLst>
              <a:gd name="adj" fmla="val 9756"/>
            </a:avLst>
          </a:prstGeom>
          <a:solidFill>
            <a:schemeClr val="accent5"/>
          </a:solidFill>
          <a:ln w="15875">
            <a:solidFill>
              <a:schemeClr val="accent1"/>
            </a:solidFill>
            <a:prstDash val="solid"/>
          </a:ln>
        </p:spPr>
      </p:sp>
      <p:sp>
        <p:nvSpPr>
          <p:cNvPr id="14" name="service-texte-46"/>
          <p:cNvSpPr txBox="1"/>
          <p:nvPr/>
        </p:nvSpPr>
        <p:spPr>
          <a:xfrm>
            <a:off x="10058400" y="1417320"/>
            <a:ext cx="1600200" cy="749808"/>
          </a:xfrm>
          <a:prstGeom prst="rect">
            <a:avLst/>
          </a:prstGeom>
          <a:noFill/>
          <a:ln/>
        </p:spPr>
        <p:txBody>
          <a:bodyPr wrap="square" lIns="508" tIns="508" rIns="508" bIns="508" rtlCol="0" anchor="ctr"/>
          <a:lstStyle/>
          <a:p>
            <a:pPr algn="ctr" indent="0" marL="0">
              <a:buNone/>
            </a:pPr>
            <a:r>
              <a:rPr lang="en-US" sz="1200" b="1" dirty="0">
                <a:solidFill>
                  <a:schemeClr val="tx1"/>
                </a:solidFill>
              </a:rPr>
              <a:t>λ publication</a:t>
            </a:r>
            <a:endParaRPr lang="en-US" sz="1200" dirty="0"/>
          </a:p>
          <a:p>
            <a:pPr algn="ctr" indent="0" marL="0">
              <a:buNone/>
            </a:pPr>
            <a:r>
              <a:rPr lang="en-US" sz="1000" dirty="0">
                <a:solidFill>
                  <a:schemeClr val="tx1"/>
                </a:solidFill>
              </a:rPr>
              <a:t>Lambda</a:t>
            </a:r>
            <a:endParaRPr lang="en-US" sz="1200" dirty="0"/>
          </a:p>
        </p:txBody>
      </p:sp>
      <p:sp>
        <p:nvSpPr>
          <p:cNvPr id="15" name="fleche-47"/>
          <p:cNvSpPr/>
          <p:nvPr/>
        </p:nvSpPr>
        <p:spPr>
          <a:xfrm>
            <a:off x="2148840" y="1792224"/>
            <a:ext cx="301752" cy="914"/>
          </a:xfrm>
          <a:prstGeom prst="line">
            <a:avLst/>
          </a:prstGeom>
          <a:noFill/>
          <a:ln w="19050">
            <a:solidFill>
              <a:schemeClr val="accent6"/>
            </a:solidFill>
            <a:prstDash val="solid"/>
            <a:tailEnd type="triangle"/>
          </a:ln>
        </p:spPr>
      </p:sp>
      <p:sp>
        <p:nvSpPr>
          <p:cNvPr id="16" name="fleche-48"/>
          <p:cNvSpPr/>
          <p:nvPr/>
        </p:nvSpPr>
        <p:spPr>
          <a:xfrm>
            <a:off x="4050792" y="1792224"/>
            <a:ext cx="301752" cy="914"/>
          </a:xfrm>
          <a:prstGeom prst="line">
            <a:avLst/>
          </a:prstGeom>
          <a:noFill/>
          <a:ln w="19050">
            <a:solidFill>
              <a:schemeClr val="accent6"/>
            </a:solidFill>
            <a:prstDash val="solid"/>
            <a:tailEnd type="triangle"/>
          </a:ln>
        </p:spPr>
      </p:sp>
      <p:sp>
        <p:nvSpPr>
          <p:cNvPr id="17" name="fleche-49"/>
          <p:cNvSpPr/>
          <p:nvPr/>
        </p:nvSpPr>
        <p:spPr>
          <a:xfrm>
            <a:off x="5952744" y="1792224"/>
            <a:ext cx="301752" cy="914"/>
          </a:xfrm>
          <a:prstGeom prst="line">
            <a:avLst/>
          </a:prstGeom>
          <a:noFill/>
          <a:ln w="19050">
            <a:solidFill>
              <a:schemeClr val="accent6"/>
            </a:solidFill>
            <a:prstDash val="solid"/>
            <a:tailEnd type="triangle"/>
          </a:ln>
        </p:spPr>
      </p:sp>
      <p:sp>
        <p:nvSpPr>
          <p:cNvPr id="18" name="fleche-50"/>
          <p:cNvSpPr/>
          <p:nvPr/>
        </p:nvSpPr>
        <p:spPr>
          <a:xfrm>
            <a:off x="7854696" y="1792224"/>
            <a:ext cx="301752" cy="914"/>
          </a:xfrm>
          <a:prstGeom prst="line">
            <a:avLst/>
          </a:prstGeom>
          <a:noFill/>
          <a:ln w="19050">
            <a:solidFill>
              <a:schemeClr val="accent6"/>
            </a:solidFill>
            <a:prstDash val="solid"/>
            <a:tailEnd type="triangle"/>
          </a:ln>
        </p:spPr>
      </p:sp>
      <p:sp>
        <p:nvSpPr>
          <p:cNvPr id="19" name="fleche-51"/>
          <p:cNvSpPr/>
          <p:nvPr/>
        </p:nvSpPr>
        <p:spPr>
          <a:xfrm>
            <a:off x="9756648" y="1792224"/>
            <a:ext cx="301752" cy="914"/>
          </a:xfrm>
          <a:prstGeom prst="line">
            <a:avLst/>
          </a:prstGeom>
          <a:noFill/>
          <a:ln w="19050">
            <a:solidFill>
              <a:schemeClr val="accent6"/>
            </a:solidFill>
            <a:prstDash val="solid"/>
            <a:tailEnd type="triangle"/>
          </a:ln>
        </p:spPr>
      </p:sp>
      <p:sp>
        <p:nvSpPr>
          <p:cNvPr id="20" name="service-52"/>
          <p:cNvSpPr/>
          <p:nvPr/>
        </p:nvSpPr>
        <p:spPr>
          <a:xfrm>
            <a:off x="2450592" y="2606040"/>
            <a:ext cx="1600200" cy="640080"/>
          </a:xfrm>
          <a:prstGeom prst="roundRect">
            <a:avLst>
              <a:gd name="adj" fmla="val 11429"/>
            </a:avLst>
          </a:prstGeom>
          <a:solidFill>
            <a:schemeClr val="bg1"/>
          </a:solidFill>
          <a:ln w="15875">
            <a:solidFill>
              <a:schemeClr val="tx1"/>
            </a:solidFill>
            <a:prstDash val="solid"/>
          </a:ln>
        </p:spPr>
      </p:sp>
      <p:sp>
        <p:nvSpPr>
          <p:cNvPr id="21" name="service-texte-53"/>
          <p:cNvSpPr txBox="1"/>
          <p:nvPr/>
        </p:nvSpPr>
        <p:spPr>
          <a:xfrm>
            <a:off x="2450592" y="2606040"/>
            <a:ext cx="1600200" cy="640080"/>
          </a:xfrm>
          <a:prstGeom prst="rect">
            <a:avLst/>
          </a:prstGeom>
          <a:noFill/>
          <a:ln/>
        </p:spPr>
        <p:txBody>
          <a:bodyPr wrap="square" lIns="508" tIns="508" rIns="508" bIns="508" rtlCol="0" anchor="ctr"/>
          <a:lstStyle/>
          <a:p>
            <a:pPr algn="ctr" indent="0" marL="0">
              <a:buNone/>
            </a:pPr>
            <a:r>
              <a:rPr lang="en-US" sz="1200" b="1" dirty="0">
                <a:solidFill>
                  <a:schemeClr val="tx1"/>
                </a:solidFill>
              </a:rPr>
              <a:t>S3</a:t>
            </a:r>
            <a:endParaRPr lang="en-US" sz="1200" dirty="0"/>
          </a:p>
          <a:p>
            <a:pPr algn="ctr" indent="0" marL="0">
              <a:buNone/>
            </a:pPr>
            <a:r>
              <a:rPr lang="en-US" sz="1000" dirty="0">
                <a:solidFill>
                  <a:schemeClr val="tx1"/>
                </a:solidFill>
              </a:rPr>
              <a:t>site statique</a:t>
            </a:r>
            <a:endParaRPr lang="en-US" sz="1200" dirty="0"/>
          </a:p>
        </p:txBody>
      </p:sp>
      <p:sp>
        <p:nvSpPr>
          <p:cNvPr id="22" name="fleche-54"/>
          <p:cNvSpPr/>
          <p:nvPr/>
        </p:nvSpPr>
        <p:spPr>
          <a:xfrm>
            <a:off x="3250692" y="2167128"/>
            <a:ext cx="914" cy="438912"/>
          </a:xfrm>
          <a:prstGeom prst="line">
            <a:avLst/>
          </a:prstGeom>
          <a:noFill/>
          <a:ln w="19050">
            <a:solidFill>
              <a:schemeClr val="accent6"/>
            </a:solidFill>
            <a:prstDash val="solid"/>
            <a:tailEnd type="triangle"/>
          </a:ln>
        </p:spPr>
      </p:sp>
      <p:sp>
        <p:nvSpPr>
          <p:cNvPr id="23" name="service-55"/>
          <p:cNvSpPr/>
          <p:nvPr/>
        </p:nvSpPr>
        <p:spPr>
          <a:xfrm>
            <a:off x="4352544" y="2606040"/>
            <a:ext cx="1600200" cy="640080"/>
          </a:xfrm>
          <a:prstGeom prst="roundRect">
            <a:avLst>
              <a:gd name="adj" fmla="val 11429"/>
            </a:avLst>
          </a:prstGeom>
          <a:solidFill>
            <a:schemeClr val="bg1"/>
          </a:solidFill>
          <a:ln w="15875">
            <a:solidFill>
              <a:schemeClr val="tx1"/>
            </a:solidFill>
            <a:prstDash val="solid"/>
          </a:ln>
        </p:spPr>
      </p:sp>
      <p:sp>
        <p:nvSpPr>
          <p:cNvPr id="24" name="service-texte-56"/>
          <p:cNvSpPr txBox="1"/>
          <p:nvPr/>
        </p:nvSpPr>
        <p:spPr>
          <a:xfrm>
            <a:off x="4352544" y="2606040"/>
            <a:ext cx="1600200" cy="640080"/>
          </a:xfrm>
          <a:prstGeom prst="rect">
            <a:avLst/>
          </a:prstGeom>
          <a:noFill/>
          <a:ln/>
        </p:spPr>
        <p:txBody>
          <a:bodyPr wrap="square" lIns="508" tIns="508" rIns="508" bIns="508" rtlCol="0" anchor="ctr"/>
          <a:lstStyle/>
          <a:p>
            <a:pPr algn="ctr" indent="0" marL="0">
              <a:buNone/>
            </a:pPr>
            <a:r>
              <a:rPr lang="en-US" sz="1200" b="1" dirty="0">
                <a:solidFill>
                  <a:schemeClr val="tx1"/>
                </a:solidFill>
              </a:rPr>
              <a:t>Cognito</a:t>
            </a:r>
            <a:endParaRPr lang="en-US" sz="1200" dirty="0"/>
          </a:p>
          <a:p>
            <a:pPr algn="ctr" indent="0" marL="0">
              <a:buNone/>
            </a:pPr>
            <a:r>
              <a:rPr lang="en-US" sz="1000" dirty="0">
                <a:solidFill>
                  <a:schemeClr val="tx1"/>
                </a:solidFill>
              </a:rPr>
              <a:t>comptes, jeton JWT</a:t>
            </a:r>
            <a:endParaRPr lang="en-US" sz="1200" dirty="0"/>
          </a:p>
        </p:txBody>
      </p:sp>
      <p:sp>
        <p:nvSpPr>
          <p:cNvPr id="25" name="fleche-57"/>
          <p:cNvSpPr/>
          <p:nvPr/>
        </p:nvSpPr>
        <p:spPr>
          <a:xfrm flipV="1">
            <a:off x="5152644" y="2167128"/>
            <a:ext cx="914" cy="438912"/>
          </a:xfrm>
          <a:prstGeom prst="line">
            <a:avLst/>
          </a:prstGeom>
          <a:noFill/>
          <a:ln w="19050">
            <a:solidFill>
              <a:schemeClr val="accent6"/>
            </a:solidFill>
            <a:prstDash val="solid"/>
            <a:tailEnd type="triangle"/>
          </a:ln>
        </p:spPr>
      </p:sp>
      <p:sp>
        <p:nvSpPr>
          <p:cNvPr id="26" name="trait-58"/>
          <p:cNvSpPr/>
          <p:nvPr/>
        </p:nvSpPr>
        <p:spPr>
          <a:xfrm>
            <a:off x="10858500" y="2167128"/>
            <a:ext cx="914" cy="1444752"/>
          </a:xfrm>
          <a:prstGeom prst="line">
            <a:avLst/>
          </a:prstGeom>
          <a:noFill/>
          <a:ln w="19050">
            <a:solidFill>
              <a:schemeClr val="accent6"/>
            </a:solidFill>
            <a:prstDash val="solid"/>
          </a:ln>
        </p:spPr>
      </p:sp>
      <p:sp>
        <p:nvSpPr>
          <p:cNvPr id="27" name="trait-59"/>
          <p:cNvSpPr/>
          <p:nvPr/>
        </p:nvSpPr>
        <p:spPr>
          <a:xfrm>
            <a:off x="1325880" y="3611880"/>
            <a:ext cx="9532620" cy="914"/>
          </a:xfrm>
          <a:prstGeom prst="line">
            <a:avLst/>
          </a:prstGeom>
          <a:noFill/>
          <a:ln w="19050">
            <a:solidFill>
              <a:schemeClr val="accent6"/>
            </a:solidFill>
            <a:prstDash val="solid"/>
          </a:ln>
        </p:spPr>
      </p:sp>
      <p:sp>
        <p:nvSpPr>
          <p:cNvPr id="28" name="fleche-60"/>
          <p:cNvSpPr/>
          <p:nvPr/>
        </p:nvSpPr>
        <p:spPr>
          <a:xfrm>
            <a:off x="1325880" y="3611880"/>
            <a:ext cx="914" cy="365760"/>
          </a:xfrm>
          <a:prstGeom prst="line">
            <a:avLst/>
          </a:prstGeom>
          <a:noFill/>
          <a:ln w="19050">
            <a:solidFill>
              <a:schemeClr val="accent6"/>
            </a:solidFill>
            <a:prstDash val="solid"/>
            <a:tailEnd type="triangle"/>
          </a:ln>
        </p:spPr>
      </p:sp>
      <p:sp>
        <p:nvSpPr>
          <p:cNvPr id="29" name="service-61"/>
          <p:cNvSpPr/>
          <p:nvPr/>
        </p:nvSpPr>
        <p:spPr>
          <a:xfrm>
            <a:off x="548640" y="3977640"/>
            <a:ext cx="1554480" cy="2148840"/>
          </a:xfrm>
          <a:prstGeom prst="roundRect">
            <a:avLst>
              <a:gd name="adj" fmla="val 4706"/>
            </a:avLst>
          </a:prstGeom>
          <a:solidFill>
            <a:schemeClr val="tx1"/>
          </a:solidFill>
          <a:ln w="15875">
            <a:solidFill>
              <a:schemeClr val="tx1"/>
            </a:solidFill>
            <a:prstDash val="solid"/>
          </a:ln>
        </p:spPr>
      </p:sp>
      <p:sp>
        <p:nvSpPr>
          <p:cNvPr id="30" name="service-texte-62"/>
          <p:cNvSpPr txBox="1"/>
          <p:nvPr/>
        </p:nvSpPr>
        <p:spPr>
          <a:xfrm>
            <a:off x="548640" y="3977640"/>
            <a:ext cx="1554480" cy="2148840"/>
          </a:xfrm>
          <a:prstGeom prst="rect">
            <a:avLst/>
          </a:prstGeom>
          <a:noFill/>
          <a:ln/>
        </p:spPr>
        <p:txBody>
          <a:bodyPr wrap="square" lIns="508" tIns="508" rIns="508" bIns="508" rtlCol="0" anchor="ctr"/>
          <a:lstStyle/>
          <a:p>
            <a:pPr algn="ctr" indent="0" marL="0">
              <a:buNone/>
            </a:pPr>
            <a:r>
              <a:rPr lang="en-US" sz="1200" b="1" dirty="0">
                <a:solidFill>
                  <a:schemeClr val="bg1"/>
                </a:solidFill>
              </a:rPr>
              <a:t>SNS</a:t>
            </a:r>
            <a:endParaRPr lang="en-US" sz="1200" dirty="0"/>
          </a:p>
          <a:p>
            <a:pPr algn="ctr" indent="0" marL="0">
              <a:buNone/>
            </a:pPr>
            <a:r>
              <a:rPr lang="en-US" sz="1000" dirty="0">
                <a:solidFill>
                  <a:schemeClr val="bg1"/>
                </a:solidFill>
              </a:rPr>
              <a:t>1 événement,</a:t>
            </a:r>
            <a:endParaRPr lang="en-US" sz="1200" dirty="0"/>
          </a:p>
          <a:p>
            <a:pPr algn="ctr" indent="0" marL="0">
              <a:buNone/>
            </a:pPr>
            <a:r>
              <a:rPr lang="en-US" sz="1000" dirty="0">
                <a:solidFill>
                  <a:schemeClr val="bg1"/>
                </a:solidFill>
              </a:rPr>
              <a:t>3 abonnés</a:t>
            </a:r>
            <a:endParaRPr lang="en-US" sz="1200" dirty="0"/>
          </a:p>
        </p:txBody>
      </p:sp>
      <p:sp>
        <p:nvSpPr>
          <p:cNvPr id="31" name="fleche-63"/>
          <p:cNvSpPr/>
          <p:nvPr/>
        </p:nvSpPr>
        <p:spPr>
          <a:xfrm>
            <a:off x="2103120" y="4325112"/>
            <a:ext cx="548640" cy="914"/>
          </a:xfrm>
          <a:prstGeom prst="line">
            <a:avLst/>
          </a:prstGeom>
          <a:noFill/>
          <a:ln w="19050">
            <a:solidFill>
              <a:schemeClr val="accent6"/>
            </a:solidFill>
            <a:prstDash val="solid"/>
            <a:tailEnd type="triangle"/>
          </a:ln>
        </p:spPr>
      </p:sp>
      <p:sp>
        <p:nvSpPr>
          <p:cNvPr id="32" name="service-64"/>
          <p:cNvSpPr/>
          <p:nvPr/>
        </p:nvSpPr>
        <p:spPr>
          <a:xfrm>
            <a:off x="2651760" y="4023360"/>
            <a:ext cx="1783080" cy="603504"/>
          </a:xfrm>
          <a:prstGeom prst="roundRect">
            <a:avLst>
              <a:gd name="adj" fmla="val 12121"/>
            </a:avLst>
          </a:prstGeom>
          <a:solidFill>
            <a:schemeClr val="bg1"/>
          </a:solidFill>
          <a:ln w="15875">
            <a:solidFill>
              <a:schemeClr val="tx1"/>
            </a:solidFill>
            <a:prstDash val="solid"/>
          </a:ln>
        </p:spPr>
      </p:sp>
      <p:sp>
        <p:nvSpPr>
          <p:cNvPr id="33" name="service-texte-65"/>
          <p:cNvSpPr txBox="1"/>
          <p:nvPr/>
        </p:nvSpPr>
        <p:spPr>
          <a:xfrm>
            <a:off x="2651760" y="4023360"/>
            <a:ext cx="1783080" cy="603504"/>
          </a:xfrm>
          <a:prstGeom prst="rect">
            <a:avLst/>
          </a:prstGeom>
          <a:noFill/>
          <a:ln/>
        </p:spPr>
        <p:txBody>
          <a:bodyPr wrap="square" lIns="508" tIns="508" rIns="508" bIns="508" rtlCol="0" anchor="ctr"/>
          <a:lstStyle/>
          <a:p>
            <a:pPr algn="ctr" indent="0" marL="0">
              <a:buNone/>
            </a:pPr>
            <a:r>
              <a:rPr lang="en-US" sz="1200" b="1" dirty="0">
                <a:solidFill>
                  <a:schemeClr val="tx1"/>
                </a:solidFill>
              </a:rPr>
              <a:t>SQS traitement</a:t>
            </a:r>
            <a:endParaRPr lang="en-US" sz="1200" dirty="0"/>
          </a:p>
          <a:p>
            <a:pPr algn="ctr" indent="0" marL="0">
              <a:buNone/>
            </a:pPr>
            <a:r>
              <a:rPr lang="en-US" sz="1000" dirty="0">
                <a:solidFill>
                  <a:schemeClr val="tx1"/>
                </a:solidFill>
              </a:rPr>
              <a:t>file</a:t>
            </a:r>
            <a:endParaRPr lang="en-US" sz="1200" dirty="0"/>
          </a:p>
        </p:txBody>
      </p:sp>
      <p:sp>
        <p:nvSpPr>
          <p:cNvPr id="34" name="service-66"/>
          <p:cNvSpPr/>
          <p:nvPr/>
        </p:nvSpPr>
        <p:spPr>
          <a:xfrm>
            <a:off x="4709160" y="4023360"/>
            <a:ext cx="1783080" cy="603504"/>
          </a:xfrm>
          <a:prstGeom prst="roundRect">
            <a:avLst>
              <a:gd name="adj" fmla="val 12121"/>
            </a:avLst>
          </a:prstGeom>
          <a:solidFill>
            <a:schemeClr val="accent5"/>
          </a:solidFill>
          <a:ln w="15875">
            <a:solidFill>
              <a:schemeClr val="accent1"/>
            </a:solidFill>
            <a:prstDash val="solid"/>
          </a:ln>
        </p:spPr>
      </p:sp>
      <p:sp>
        <p:nvSpPr>
          <p:cNvPr id="35" name="service-texte-67"/>
          <p:cNvSpPr txBox="1"/>
          <p:nvPr/>
        </p:nvSpPr>
        <p:spPr>
          <a:xfrm>
            <a:off x="4709160" y="4023360"/>
            <a:ext cx="1783080" cy="603504"/>
          </a:xfrm>
          <a:prstGeom prst="rect">
            <a:avLst/>
          </a:prstGeom>
          <a:noFill/>
          <a:ln/>
        </p:spPr>
        <p:txBody>
          <a:bodyPr wrap="square" lIns="508" tIns="508" rIns="508" bIns="508" rtlCol="0" anchor="ctr"/>
          <a:lstStyle/>
          <a:p>
            <a:pPr algn="ctr" indent="0" marL="0">
              <a:buNone/>
            </a:pPr>
            <a:r>
              <a:rPr lang="en-US" sz="1200" b="1" dirty="0">
                <a:solidFill>
                  <a:schemeClr val="tx1"/>
                </a:solidFill>
              </a:rPr>
              <a:t>λ traitement</a:t>
            </a:r>
            <a:endParaRPr lang="en-US" sz="1200" dirty="0"/>
          </a:p>
          <a:p>
            <a:pPr algn="ctr" indent="0" marL="0">
              <a:buNone/>
            </a:pPr>
            <a:r>
              <a:rPr lang="en-US" sz="1000" dirty="0">
                <a:solidFill>
                  <a:schemeClr val="tx1"/>
                </a:solidFill>
              </a:rPr>
              <a:t>Lambda</a:t>
            </a:r>
            <a:endParaRPr lang="en-US" sz="1200" dirty="0"/>
          </a:p>
        </p:txBody>
      </p:sp>
      <p:sp>
        <p:nvSpPr>
          <p:cNvPr id="36" name="fleche-68"/>
          <p:cNvSpPr/>
          <p:nvPr/>
        </p:nvSpPr>
        <p:spPr>
          <a:xfrm>
            <a:off x="4434840" y="4325112"/>
            <a:ext cx="274320" cy="914"/>
          </a:xfrm>
          <a:prstGeom prst="line">
            <a:avLst/>
          </a:prstGeom>
          <a:noFill/>
          <a:ln w="19050">
            <a:solidFill>
              <a:schemeClr val="accent6"/>
            </a:solidFill>
            <a:prstDash val="solid"/>
            <a:tailEnd type="triangle"/>
          </a:ln>
        </p:spPr>
      </p:sp>
      <p:sp>
        <p:nvSpPr>
          <p:cNvPr id="37" name="service-69"/>
          <p:cNvSpPr/>
          <p:nvPr/>
        </p:nvSpPr>
        <p:spPr>
          <a:xfrm>
            <a:off x="6766560" y="4023360"/>
            <a:ext cx="1783080" cy="603504"/>
          </a:xfrm>
          <a:prstGeom prst="roundRect">
            <a:avLst>
              <a:gd name="adj" fmla="val 12121"/>
            </a:avLst>
          </a:prstGeom>
          <a:solidFill>
            <a:schemeClr val="accent5"/>
          </a:solidFill>
          <a:ln w="15875">
            <a:solidFill>
              <a:schemeClr val="accent1"/>
            </a:solidFill>
            <a:prstDash val="solid"/>
          </a:ln>
        </p:spPr>
      </p:sp>
      <p:sp>
        <p:nvSpPr>
          <p:cNvPr id="38" name="service-texte-70"/>
          <p:cNvSpPr txBox="1"/>
          <p:nvPr/>
        </p:nvSpPr>
        <p:spPr>
          <a:xfrm>
            <a:off x="6766560" y="4023360"/>
            <a:ext cx="1783080" cy="603504"/>
          </a:xfrm>
          <a:prstGeom prst="rect">
            <a:avLst/>
          </a:prstGeom>
          <a:noFill/>
          <a:ln/>
        </p:spPr>
        <p:txBody>
          <a:bodyPr wrap="square" lIns="508" tIns="508" rIns="508" bIns="508" rtlCol="0" anchor="ctr"/>
          <a:lstStyle/>
          <a:p>
            <a:pPr algn="ctr" indent="0" marL="0">
              <a:buNone/>
            </a:pPr>
            <a:r>
              <a:rPr lang="en-US" sz="1200" b="1" dirty="0">
                <a:solidFill>
                  <a:schemeClr val="tx1"/>
                </a:solidFill>
              </a:rPr>
              <a:t>Step Functions</a:t>
            </a:r>
            <a:endParaRPr lang="en-US" sz="1200" dirty="0"/>
          </a:p>
          <a:p>
            <a:pPr algn="ctr" indent="0" marL="0">
              <a:buNone/>
            </a:pPr>
            <a:r>
              <a:rPr lang="en-US" sz="1000" dirty="0">
                <a:solidFill>
                  <a:schemeClr val="tx1"/>
                </a:solidFill>
              </a:rPr>
              <a:t>expédition simulée</a:t>
            </a:r>
            <a:endParaRPr lang="en-US" sz="1200" dirty="0"/>
          </a:p>
        </p:txBody>
      </p:sp>
      <p:sp>
        <p:nvSpPr>
          <p:cNvPr id="39" name="fleche-71"/>
          <p:cNvSpPr/>
          <p:nvPr/>
        </p:nvSpPr>
        <p:spPr>
          <a:xfrm>
            <a:off x="6492240" y="4325112"/>
            <a:ext cx="274320" cy="914"/>
          </a:xfrm>
          <a:prstGeom prst="line">
            <a:avLst/>
          </a:prstGeom>
          <a:noFill/>
          <a:ln w="19050">
            <a:solidFill>
              <a:schemeClr val="accent6"/>
            </a:solidFill>
            <a:prstDash val="solid"/>
            <a:tailEnd type="triangle"/>
          </a:ln>
        </p:spPr>
      </p:sp>
      <p:sp>
        <p:nvSpPr>
          <p:cNvPr id="40" name="texte-72"/>
          <p:cNvSpPr txBox="1"/>
          <p:nvPr/>
        </p:nvSpPr>
        <p:spPr>
          <a:xfrm>
            <a:off x="8823960" y="4133088"/>
            <a:ext cx="2788920" cy="411480"/>
          </a:xfrm>
          <a:prstGeom prst="rect">
            <a:avLst/>
          </a:prstGeom>
          <a:noFill/>
          <a:ln/>
        </p:spPr>
        <p:txBody>
          <a:bodyPr wrap="square" lIns="0" tIns="0" rIns="0" bIns="0" rtlCol="0" anchor="ctr"/>
          <a:lstStyle/>
          <a:p>
            <a:pPr indent="0" marL="0">
              <a:buNone/>
            </a:pPr>
            <a:r>
              <a:rPr lang="en-US" sz="1200" dirty="0">
                <a:solidFill>
                  <a:schemeClr val="accent6"/>
                </a:solidFill>
              </a:rPr>
              <a:t>Statuts en direct sur la page de suivi</a:t>
            </a:r>
            <a:endParaRPr lang="en-US" sz="1200" dirty="0"/>
          </a:p>
        </p:txBody>
      </p:sp>
      <p:sp>
        <p:nvSpPr>
          <p:cNvPr id="41" name="fleche-73"/>
          <p:cNvSpPr/>
          <p:nvPr/>
        </p:nvSpPr>
        <p:spPr>
          <a:xfrm>
            <a:off x="2103120" y="5074920"/>
            <a:ext cx="548640" cy="914"/>
          </a:xfrm>
          <a:prstGeom prst="line">
            <a:avLst/>
          </a:prstGeom>
          <a:noFill/>
          <a:ln w="19050">
            <a:solidFill>
              <a:schemeClr val="accent6"/>
            </a:solidFill>
            <a:prstDash val="solid"/>
            <a:tailEnd type="triangle"/>
          </a:ln>
        </p:spPr>
      </p:sp>
      <p:sp>
        <p:nvSpPr>
          <p:cNvPr id="42" name="service-74"/>
          <p:cNvSpPr/>
          <p:nvPr/>
        </p:nvSpPr>
        <p:spPr>
          <a:xfrm>
            <a:off x="2651760" y="4773168"/>
            <a:ext cx="1783080" cy="603504"/>
          </a:xfrm>
          <a:prstGeom prst="roundRect">
            <a:avLst>
              <a:gd name="adj" fmla="val 12121"/>
            </a:avLst>
          </a:prstGeom>
          <a:solidFill>
            <a:schemeClr val="bg1"/>
          </a:solidFill>
          <a:ln w="15875">
            <a:solidFill>
              <a:schemeClr val="tx1"/>
            </a:solidFill>
            <a:prstDash val="solid"/>
          </a:ln>
        </p:spPr>
      </p:sp>
      <p:sp>
        <p:nvSpPr>
          <p:cNvPr id="43" name="service-texte-75"/>
          <p:cNvSpPr txBox="1"/>
          <p:nvPr/>
        </p:nvSpPr>
        <p:spPr>
          <a:xfrm>
            <a:off x="2651760" y="4773168"/>
            <a:ext cx="1783080" cy="603504"/>
          </a:xfrm>
          <a:prstGeom prst="rect">
            <a:avLst/>
          </a:prstGeom>
          <a:noFill/>
          <a:ln/>
        </p:spPr>
        <p:txBody>
          <a:bodyPr wrap="square" lIns="508" tIns="508" rIns="508" bIns="508" rtlCol="0" anchor="ctr"/>
          <a:lstStyle/>
          <a:p>
            <a:pPr algn="ctr" indent="0" marL="0">
              <a:buNone/>
            </a:pPr>
            <a:r>
              <a:rPr lang="en-US" sz="1200" b="1" dirty="0">
                <a:solidFill>
                  <a:schemeClr val="tx1"/>
                </a:solidFill>
              </a:rPr>
              <a:t>SQS audit</a:t>
            </a:r>
            <a:endParaRPr lang="en-US" sz="1200" dirty="0"/>
          </a:p>
          <a:p>
            <a:pPr algn="ctr" indent="0" marL="0">
              <a:buNone/>
            </a:pPr>
            <a:r>
              <a:rPr lang="en-US" sz="1000" dirty="0">
                <a:solidFill>
                  <a:schemeClr val="tx1"/>
                </a:solidFill>
              </a:rPr>
              <a:t>file</a:t>
            </a:r>
            <a:endParaRPr lang="en-US" sz="1200" dirty="0"/>
          </a:p>
        </p:txBody>
      </p:sp>
      <p:sp>
        <p:nvSpPr>
          <p:cNvPr id="44" name="service-76"/>
          <p:cNvSpPr/>
          <p:nvPr/>
        </p:nvSpPr>
        <p:spPr>
          <a:xfrm>
            <a:off x="4709160" y="4773168"/>
            <a:ext cx="1783080" cy="603504"/>
          </a:xfrm>
          <a:prstGeom prst="roundRect">
            <a:avLst>
              <a:gd name="adj" fmla="val 12121"/>
            </a:avLst>
          </a:prstGeom>
          <a:solidFill>
            <a:schemeClr val="accent5"/>
          </a:solidFill>
          <a:ln w="15875">
            <a:solidFill>
              <a:schemeClr val="accent1"/>
            </a:solidFill>
            <a:prstDash val="solid"/>
          </a:ln>
        </p:spPr>
      </p:sp>
      <p:sp>
        <p:nvSpPr>
          <p:cNvPr id="45" name="service-texte-77"/>
          <p:cNvSpPr txBox="1"/>
          <p:nvPr/>
        </p:nvSpPr>
        <p:spPr>
          <a:xfrm>
            <a:off x="4709160" y="4773168"/>
            <a:ext cx="1783080" cy="603504"/>
          </a:xfrm>
          <a:prstGeom prst="rect">
            <a:avLst/>
          </a:prstGeom>
          <a:noFill/>
          <a:ln/>
        </p:spPr>
        <p:txBody>
          <a:bodyPr wrap="square" lIns="508" tIns="508" rIns="508" bIns="508" rtlCol="0" anchor="ctr"/>
          <a:lstStyle/>
          <a:p>
            <a:pPr algn="ctr" indent="0" marL="0">
              <a:buNone/>
            </a:pPr>
            <a:r>
              <a:rPr lang="en-US" sz="1200" b="1" dirty="0">
                <a:solidFill>
                  <a:schemeClr val="tx1"/>
                </a:solidFill>
              </a:rPr>
              <a:t>λ audit</a:t>
            </a:r>
            <a:endParaRPr lang="en-US" sz="1200" dirty="0"/>
          </a:p>
          <a:p>
            <a:pPr algn="ctr" indent="0" marL="0">
              <a:buNone/>
            </a:pPr>
            <a:r>
              <a:rPr lang="en-US" sz="1000" dirty="0">
                <a:solidFill>
                  <a:schemeClr val="tx1"/>
                </a:solidFill>
              </a:rPr>
              <a:t>Lambda</a:t>
            </a:r>
            <a:endParaRPr lang="en-US" sz="1200" dirty="0"/>
          </a:p>
        </p:txBody>
      </p:sp>
      <p:sp>
        <p:nvSpPr>
          <p:cNvPr id="46" name="fleche-78"/>
          <p:cNvSpPr/>
          <p:nvPr/>
        </p:nvSpPr>
        <p:spPr>
          <a:xfrm>
            <a:off x="4434840" y="5074920"/>
            <a:ext cx="274320" cy="914"/>
          </a:xfrm>
          <a:prstGeom prst="line">
            <a:avLst/>
          </a:prstGeom>
          <a:noFill/>
          <a:ln w="19050">
            <a:solidFill>
              <a:schemeClr val="accent6"/>
            </a:solidFill>
            <a:prstDash val="solid"/>
            <a:tailEnd type="triangle"/>
          </a:ln>
        </p:spPr>
      </p:sp>
      <p:sp>
        <p:nvSpPr>
          <p:cNvPr id="47" name="service-79"/>
          <p:cNvSpPr/>
          <p:nvPr/>
        </p:nvSpPr>
        <p:spPr>
          <a:xfrm>
            <a:off x="6766560" y="4773168"/>
            <a:ext cx="1783080" cy="603504"/>
          </a:xfrm>
          <a:prstGeom prst="roundRect">
            <a:avLst>
              <a:gd name="adj" fmla="val 12121"/>
            </a:avLst>
          </a:prstGeom>
          <a:solidFill>
            <a:schemeClr val="bg1"/>
          </a:solidFill>
          <a:ln w="15875">
            <a:solidFill>
              <a:schemeClr val="tx1"/>
            </a:solidFill>
            <a:prstDash val="solid"/>
          </a:ln>
        </p:spPr>
      </p:sp>
      <p:sp>
        <p:nvSpPr>
          <p:cNvPr id="48" name="service-texte-80"/>
          <p:cNvSpPr txBox="1"/>
          <p:nvPr/>
        </p:nvSpPr>
        <p:spPr>
          <a:xfrm>
            <a:off x="6766560" y="4773168"/>
            <a:ext cx="1783080" cy="603504"/>
          </a:xfrm>
          <a:prstGeom prst="rect">
            <a:avLst/>
          </a:prstGeom>
          <a:noFill/>
          <a:ln/>
        </p:spPr>
        <p:txBody>
          <a:bodyPr wrap="square" lIns="508" tIns="508" rIns="508" bIns="508" rtlCol="0" anchor="ctr"/>
          <a:lstStyle/>
          <a:p>
            <a:pPr algn="ctr" indent="0" marL="0">
              <a:buNone/>
            </a:pPr>
            <a:r>
              <a:rPr lang="en-US" sz="1200" b="1" dirty="0">
                <a:solidFill>
                  <a:schemeClr val="tx1"/>
                </a:solidFill>
              </a:rPr>
              <a:t>S3 audit</a:t>
            </a:r>
            <a:endParaRPr lang="en-US" sz="1200" dirty="0"/>
          </a:p>
          <a:p>
            <a:pPr algn="ctr" indent="0" marL="0">
              <a:buNone/>
            </a:pPr>
            <a:r>
              <a:rPr lang="en-US" sz="1000" dirty="0">
                <a:solidFill>
                  <a:schemeClr val="tx1"/>
                </a:solidFill>
              </a:rPr>
              <a:t>1 JSON par commande</a:t>
            </a:r>
            <a:endParaRPr lang="en-US" sz="1200" dirty="0"/>
          </a:p>
        </p:txBody>
      </p:sp>
      <p:sp>
        <p:nvSpPr>
          <p:cNvPr id="49" name="fleche-81"/>
          <p:cNvSpPr/>
          <p:nvPr/>
        </p:nvSpPr>
        <p:spPr>
          <a:xfrm>
            <a:off x="6492240" y="5074920"/>
            <a:ext cx="274320" cy="914"/>
          </a:xfrm>
          <a:prstGeom prst="line">
            <a:avLst/>
          </a:prstGeom>
          <a:noFill/>
          <a:ln w="19050">
            <a:solidFill>
              <a:schemeClr val="accent6"/>
            </a:solidFill>
            <a:prstDash val="solid"/>
            <a:tailEnd type="triangle"/>
          </a:ln>
        </p:spPr>
      </p:sp>
      <p:sp>
        <p:nvSpPr>
          <p:cNvPr id="50" name="texte-82"/>
          <p:cNvSpPr txBox="1"/>
          <p:nvPr/>
        </p:nvSpPr>
        <p:spPr>
          <a:xfrm>
            <a:off x="8823960" y="4882896"/>
            <a:ext cx="2788920" cy="411480"/>
          </a:xfrm>
          <a:prstGeom prst="rect">
            <a:avLst/>
          </a:prstGeom>
          <a:noFill/>
          <a:ln/>
        </p:spPr>
        <p:txBody>
          <a:bodyPr wrap="square" lIns="0" tIns="0" rIns="0" bIns="0" rtlCol="0" anchor="ctr"/>
          <a:lstStyle/>
          <a:p>
            <a:pPr indent="0" marL="0">
              <a:buNone/>
            </a:pPr>
            <a:r>
              <a:rPr lang="en-US" sz="1200" dirty="0">
                <a:solidFill>
                  <a:schemeClr val="accent6"/>
                </a:solidFill>
              </a:rPr>
              <a:t>Prêt pour Athena et le reporting</a:t>
            </a:r>
            <a:endParaRPr lang="en-US" sz="1200" dirty="0"/>
          </a:p>
        </p:txBody>
      </p:sp>
      <p:sp>
        <p:nvSpPr>
          <p:cNvPr id="51" name="fleche-83"/>
          <p:cNvSpPr/>
          <p:nvPr/>
        </p:nvSpPr>
        <p:spPr>
          <a:xfrm>
            <a:off x="2103120" y="5824728"/>
            <a:ext cx="548640" cy="914"/>
          </a:xfrm>
          <a:prstGeom prst="line">
            <a:avLst/>
          </a:prstGeom>
          <a:noFill/>
          <a:ln w="19050">
            <a:solidFill>
              <a:schemeClr val="accent6"/>
            </a:solidFill>
            <a:prstDash val="solid"/>
            <a:tailEnd type="triangle"/>
          </a:ln>
        </p:spPr>
      </p:sp>
      <p:sp>
        <p:nvSpPr>
          <p:cNvPr id="52" name="service-84"/>
          <p:cNvSpPr/>
          <p:nvPr/>
        </p:nvSpPr>
        <p:spPr>
          <a:xfrm>
            <a:off x="2651760" y="5522976"/>
            <a:ext cx="1783080" cy="603504"/>
          </a:xfrm>
          <a:prstGeom prst="roundRect">
            <a:avLst>
              <a:gd name="adj" fmla="val 12121"/>
            </a:avLst>
          </a:prstGeom>
          <a:solidFill>
            <a:schemeClr val="accent5"/>
          </a:solidFill>
          <a:ln w="15875">
            <a:solidFill>
              <a:schemeClr val="accent1"/>
            </a:solidFill>
            <a:prstDash val="solid"/>
          </a:ln>
        </p:spPr>
      </p:sp>
      <p:sp>
        <p:nvSpPr>
          <p:cNvPr id="53" name="service-texte-85"/>
          <p:cNvSpPr txBox="1"/>
          <p:nvPr/>
        </p:nvSpPr>
        <p:spPr>
          <a:xfrm>
            <a:off x="2651760" y="5522976"/>
            <a:ext cx="1783080" cy="603504"/>
          </a:xfrm>
          <a:prstGeom prst="rect">
            <a:avLst/>
          </a:prstGeom>
          <a:noFill/>
          <a:ln/>
        </p:spPr>
        <p:txBody>
          <a:bodyPr wrap="square" lIns="508" tIns="508" rIns="508" bIns="508" rtlCol="0" anchor="ctr"/>
          <a:lstStyle/>
          <a:p>
            <a:pPr algn="ctr" indent="0" marL="0">
              <a:buNone/>
            </a:pPr>
            <a:r>
              <a:rPr lang="en-US" sz="1200" b="1" dirty="0">
                <a:solidFill>
                  <a:schemeClr val="tx1"/>
                </a:solidFill>
              </a:rPr>
              <a:t>λ notification</a:t>
            </a:r>
            <a:endParaRPr lang="en-US" sz="1200" dirty="0"/>
          </a:p>
          <a:p>
            <a:pPr algn="ctr" indent="0" marL="0">
              <a:buNone/>
            </a:pPr>
            <a:r>
              <a:rPr lang="en-US" sz="1000" dirty="0">
                <a:solidFill>
                  <a:schemeClr val="tx1"/>
                </a:solidFill>
              </a:rPr>
              <a:t>Lambda</a:t>
            </a:r>
            <a:endParaRPr lang="en-US" sz="1200" dirty="0"/>
          </a:p>
        </p:txBody>
      </p:sp>
      <p:sp>
        <p:nvSpPr>
          <p:cNvPr id="54" name="service-86"/>
          <p:cNvSpPr/>
          <p:nvPr/>
        </p:nvSpPr>
        <p:spPr>
          <a:xfrm>
            <a:off x="4709160" y="5522976"/>
            <a:ext cx="1783080" cy="603504"/>
          </a:xfrm>
          <a:prstGeom prst="roundRect">
            <a:avLst>
              <a:gd name="adj" fmla="val 12121"/>
            </a:avLst>
          </a:prstGeom>
          <a:solidFill>
            <a:schemeClr val="bg1"/>
          </a:solidFill>
          <a:ln w="15875">
            <a:solidFill>
              <a:schemeClr val="tx1"/>
            </a:solidFill>
            <a:prstDash val="solid"/>
          </a:ln>
        </p:spPr>
      </p:sp>
      <p:sp>
        <p:nvSpPr>
          <p:cNvPr id="55" name="service-texte-87"/>
          <p:cNvSpPr txBox="1"/>
          <p:nvPr/>
        </p:nvSpPr>
        <p:spPr>
          <a:xfrm>
            <a:off x="4709160" y="5522976"/>
            <a:ext cx="1783080" cy="603504"/>
          </a:xfrm>
          <a:prstGeom prst="rect">
            <a:avLst/>
          </a:prstGeom>
          <a:noFill/>
          <a:ln/>
        </p:spPr>
        <p:txBody>
          <a:bodyPr wrap="square" lIns="508" tIns="508" rIns="508" bIns="508" rtlCol="0" anchor="ctr"/>
          <a:lstStyle/>
          <a:p>
            <a:pPr algn="ctr" indent="0" marL="0">
              <a:buNone/>
            </a:pPr>
            <a:r>
              <a:rPr lang="en-US" sz="1200" b="1" dirty="0">
                <a:solidFill>
                  <a:schemeClr val="tx1"/>
                </a:solidFill>
              </a:rPr>
              <a:t>Amazon SES</a:t>
            </a:r>
            <a:endParaRPr lang="en-US" sz="1200" dirty="0"/>
          </a:p>
          <a:p>
            <a:pPr algn="ctr" indent="0" marL="0">
              <a:buNone/>
            </a:pPr>
            <a:r>
              <a:rPr lang="en-US" sz="1000" dirty="0">
                <a:solidFill>
                  <a:schemeClr val="tx1"/>
                </a:solidFill>
              </a:rPr>
              <a:t>e-mail HTML</a:t>
            </a:r>
            <a:endParaRPr lang="en-US" sz="1200" dirty="0"/>
          </a:p>
        </p:txBody>
      </p:sp>
      <p:sp>
        <p:nvSpPr>
          <p:cNvPr id="56" name="fleche-88"/>
          <p:cNvSpPr/>
          <p:nvPr/>
        </p:nvSpPr>
        <p:spPr>
          <a:xfrm>
            <a:off x="4434840" y="5824728"/>
            <a:ext cx="274320" cy="914"/>
          </a:xfrm>
          <a:prstGeom prst="line">
            <a:avLst/>
          </a:prstGeom>
          <a:noFill/>
          <a:ln w="19050">
            <a:solidFill>
              <a:schemeClr val="accent6"/>
            </a:solidFill>
            <a:prstDash val="solid"/>
            <a:tailEnd type="triangle"/>
          </a:ln>
        </p:spPr>
      </p:sp>
      <p:sp>
        <p:nvSpPr>
          <p:cNvPr id="57" name="texte-89"/>
          <p:cNvSpPr txBox="1"/>
          <p:nvPr/>
        </p:nvSpPr>
        <p:spPr>
          <a:xfrm>
            <a:off x="8823960" y="5632704"/>
            <a:ext cx="2788920" cy="411480"/>
          </a:xfrm>
          <a:prstGeom prst="rect">
            <a:avLst/>
          </a:prstGeom>
          <a:noFill/>
          <a:ln/>
        </p:spPr>
        <p:txBody>
          <a:bodyPr wrap="square" lIns="0" tIns="0" rIns="0" bIns="0" rtlCol="0" anchor="ctr"/>
          <a:lstStyle/>
          <a:p>
            <a:pPr indent="0" marL="0">
              <a:buNone/>
            </a:pPr>
            <a:r>
              <a:rPr lang="en-US" sz="1200" dirty="0">
                <a:solidFill>
                  <a:schemeClr val="accent6"/>
                </a:solidFill>
              </a:rPr>
              <a:t>Photos des articles et lien de suivi</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Le suivi de commande, simulé de bout en bout</a:t>
            </a:r>
            <a:endParaRPr lang="en-US" sz="3000" dirty="0"/>
          </a:p>
        </p:txBody>
      </p:sp>
      <p:sp>
        <p:nvSpPr>
          <p:cNvPr id="3" name="carte-90"/>
          <p:cNvSpPr/>
          <p:nvPr/>
        </p:nvSpPr>
        <p:spPr>
          <a:xfrm>
            <a:off x="548640" y="1417320"/>
            <a:ext cx="3200400" cy="4480560"/>
          </a:xfrm>
          <a:prstGeom prst="roundRect">
            <a:avLst>
              <a:gd name="adj" fmla="val 3429"/>
            </a:avLst>
          </a:prstGeom>
          <a:solidFill>
            <a:schemeClr val="tx1"/>
          </a:solidFill>
          <a:ln w="12700">
            <a:solidFill>
              <a:schemeClr val="tx1"/>
            </a:solidFill>
            <a:prstDash val="solid"/>
          </a:ln>
        </p:spPr>
      </p:sp>
      <p:sp>
        <p:nvSpPr>
          <p:cNvPr id="4" name="texte-91"/>
          <p:cNvSpPr txBox="1"/>
          <p:nvPr/>
        </p:nvSpPr>
        <p:spPr>
          <a:xfrm>
            <a:off x="822960" y="1783080"/>
            <a:ext cx="2743200" cy="1097280"/>
          </a:xfrm>
          <a:prstGeom prst="rect">
            <a:avLst/>
          </a:prstGeom>
          <a:noFill/>
          <a:ln/>
        </p:spPr>
        <p:txBody>
          <a:bodyPr wrap="square" lIns="0" tIns="0" rIns="0" bIns="0" rtlCol="0" anchor="t"/>
          <a:lstStyle/>
          <a:p>
            <a:pPr indent="0" marL="0">
              <a:buNone/>
            </a:pPr>
            <a:r>
              <a:rPr lang="en-US" sz="6600" b="1" dirty="0">
                <a:solidFill>
                  <a:schemeClr val="accent1"/>
                </a:solidFill>
              </a:rPr>
              <a:t>32 s</a:t>
            </a:r>
            <a:endParaRPr lang="en-US" sz="6600" dirty="0"/>
          </a:p>
        </p:txBody>
      </p:sp>
      <p:sp>
        <p:nvSpPr>
          <p:cNvPr id="5" name="texte-92"/>
          <p:cNvSpPr txBox="1"/>
          <p:nvPr/>
        </p:nvSpPr>
        <p:spPr>
          <a:xfrm>
            <a:off x="822960" y="2971800"/>
            <a:ext cx="2651760" cy="1188720"/>
          </a:xfrm>
          <a:prstGeom prst="rect">
            <a:avLst/>
          </a:prstGeom>
          <a:noFill/>
          <a:ln/>
        </p:spPr>
        <p:txBody>
          <a:bodyPr wrap="square" lIns="0" tIns="0" rIns="0" bIns="0" rtlCol="0" anchor="t"/>
          <a:lstStyle/>
          <a:p>
            <a:pPr indent="0" marL="0">
              <a:buNone/>
            </a:pPr>
            <a:r>
              <a:rPr lang="en-US" sz="1500" dirty="0">
                <a:solidFill>
                  <a:schemeClr val="bg1"/>
                </a:solidFill>
              </a:rPr>
              <a:t>de la commande à la livraison lors de notre test réel, incident de transport compris</a:t>
            </a:r>
            <a:endParaRPr lang="en-US" sz="1500" dirty="0"/>
          </a:p>
        </p:txBody>
      </p:sp>
      <p:sp>
        <p:nvSpPr>
          <p:cNvPr id="6" name="texte-93"/>
          <p:cNvSpPr txBox="1"/>
          <p:nvPr/>
        </p:nvSpPr>
        <p:spPr>
          <a:xfrm>
            <a:off x="822960" y="4800600"/>
            <a:ext cx="2651760" cy="822960"/>
          </a:xfrm>
          <a:prstGeom prst="rect">
            <a:avLst/>
          </a:prstGeom>
          <a:noFill/>
          <a:ln/>
        </p:spPr>
        <p:txBody>
          <a:bodyPr wrap="square" lIns="0" tIns="0" rIns="0" bIns="0" rtlCol="0" anchor="t"/>
          <a:lstStyle/>
          <a:p>
            <a:pPr indent="0" marL="0">
              <a:buNone/>
            </a:pPr>
            <a:r>
              <a:rPr lang="en-US" sz="1200" dirty="0">
                <a:solidFill>
                  <a:schemeClr val="bg2"/>
                </a:solidFill>
              </a:rPr>
              <a:t>Délais et transporteur tirés au hasard à chaque commande</a:t>
            </a:r>
            <a:endParaRPr lang="en-US" sz="1200" dirty="0"/>
          </a:p>
        </p:txBody>
      </p:sp>
      <p:sp>
        <p:nvSpPr>
          <p:cNvPr id="7" name="trait-94"/>
          <p:cNvSpPr/>
          <p:nvPr/>
        </p:nvSpPr>
        <p:spPr>
          <a:xfrm>
            <a:off x="4389120" y="1645920"/>
            <a:ext cx="914" cy="3840480"/>
          </a:xfrm>
          <a:prstGeom prst="line">
            <a:avLst/>
          </a:prstGeom>
          <a:noFill/>
          <a:ln w="19050">
            <a:solidFill>
              <a:schemeClr val="accent6"/>
            </a:solidFill>
            <a:prstDash val="solid"/>
          </a:ln>
        </p:spPr>
      </p:sp>
      <p:sp>
        <p:nvSpPr>
          <p:cNvPr id="8" name="jalon-95"/>
          <p:cNvSpPr/>
          <p:nvPr/>
        </p:nvSpPr>
        <p:spPr>
          <a:xfrm>
            <a:off x="4206240" y="1463040"/>
            <a:ext cx="365760" cy="365760"/>
          </a:xfrm>
          <a:prstGeom prst="ellipse">
            <a:avLst/>
          </a:prstGeom>
          <a:solidFill>
            <a:schemeClr val="bg1"/>
          </a:solidFill>
          <a:ln w="38100">
            <a:solidFill>
              <a:schemeClr val="accent1"/>
            </a:solidFill>
            <a:prstDash val="solid"/>
          </a:ln>
        </p:spPr>
      </p:sp>
      <p:sp>
        <p:nvSpPr>
          <p:cNvPr id="9" name="texte-96"/>
          <p:cNvSpPr txBox="1"/>
          <p:nvPr/>
        </p:nvSpPr>
        <p:spPr>
          <a:xfrm>
            <a:off x="4800600" y="1481328"/>
            <a:ext cx="2377440" cy="347472"/>
          </a:xfrm>
          <a:prstGeom prst="rect">
            <a:avLst/>
          </a:prstGeom>
          <a:noFill/>
          <a:ln/>
        </p:spPr>
        <p:txBody>
          <a:bodyPr wrap="square" lIns="0" tIns="0" rIns="0" bIns="0" rtlCol="0" anchor="ctr"/>
          <a:lstStyle/>
          <a:p>
            <a:pPr indent="0" marL="0">
              <a:buNone/>
            </a:pPr>
            <a:r>
              <a:rPr lang="en-US" sz="1600" b="1" dirty="0">
                <a:solidFill>
                  <a:schemeClr val="tx1"/>
                </a:solidFill>
              </a:rPr>
              <a:t>Reçue</a:t>
            </a:r>
            <a:endParaRPr lang="en-US" sz="1600" dirty="0"/>
          </a:p>
        </p:txBody>
      </p:sp>
      <p:sp>
        <p:nvSpPr>
          <p:cNvPr id="10" name="texte-97"/>
          <p:cNvSpPr txBox="1"/>
          <p:nvPr/>
        </p:nvSpPr>
        <p:spPr>
          <a:xfrm>
            <a:off x="7086600" y="1481328"/>
            <a:ext cx="2377440" cy="347472"/>
          </a:xfrm>
          <a:prstGeom prst="rect">
            <a:avLst/>
          </a:prstGeom>
          <a:noFill/>
          <a:ln/>
        </p:spPr>
        <p:txBody>
          <a:bodyPr wrap="square" lIns="0" tIns="0" rIns="0" bIns="0" rtlCol="0" anchor="ctr"/>
          <a:lstStyle/>
          <a:p>
            <a:pPr indent="0" marL="0">
              <a:buNone/>
            </a:pPr>
            <a:r>
              <a:rPr lang="en-US" sz="1300" dirty="0">
                <a:solidFill>
                  <a:schemeClr val="accent6"/>
                </a:solidFill>
              </a:rPr>
              <a:t>Stock réservé</a:t>
            </a:r>
            <a:endParaRPr lang="en-US" sz="1300" dirty="0"/>
          </a:p>
        </p:txBody>
      </p:sp>
      <p:sp>
        <p:nvSpPr>
          <p:cNvPr id="11" name="jalon-98"/>
          <p:cNvSpPr/>
          <p:nvPr/>
        </p:nvSpPr>
        <p:spPr>
          <a:xfrm>
            <a:off x="4206240" y="2103120"/>
            <a:ext cx="365760" cy="365760"/>
          </a:xfrm>
          <a:prstGeom prst="ellipse">
            <a:avLst/>
          </a:prstGeom>
          <a:solidFill>
            <a:schemeClr val="bg1"/>
          </a:solidFill>
          <a:ln w="38100">
            <a:solidFill>
              <a:schemeClr val="accent1"/>
            </a:solidFill>
            <a:prstDash val="solid"/>
          </a:ln>
        </p:spPr>
      </p:sp>
      <p:sp>
        <p:nvSpPr>
          <p:cNvPr id="12" name="texte-99"/>
          <p:cNvSpPr txBox="1"/>
          <p:nvPr/>
        </p:nvSpPr>
        <p:spPr>
          <a:xfrm>
            <a:off x="4800600" y="2121408"/>
            <a:ext cx="2377440" cy="347472"/>
          </a:xfrm>
          <a:prstGeom prst="rect">
            <a:avLst/>
          </a:prstGeom>
          <a:noFill/>
          <a:ln/>
        </p:spPr>
        <p:txBody>
          <a:bodyPr wrap="square" lIns="0" tIns="0" rIns="0" bIns="0" rtlCol="0" anchor="ctr"/>
          <a:lstStyle/>
          <a:p>
            <a:pPr indent="0" marL="0">
              <a:buNone/>
            </a:pPr>
            <a:r>
              <a:rPr lang="en-US" sz="1600" b="1" dirty="0">
                <a:solidFill>
                  <a:schemeClr val="tx1"/>
                </a:solidFill>
              </a:rPr>
              <a:t>En préparation</a:t>
            </a:r>
            <a:endParaRPr lang="en-US" sz="1600" dirty="0"/>
          </a:p>
        </p:txBody>
      </p:sp>
      <p:sp>
        <p:nvSpPr>
          <p:cNvPr id="13" name="texte-100"/>
          <p:cNvSpPr txBox="1"/>
          <p:nvPr/>
        </p:nvSpPr>
        <p:spPr>
          <a:xfrm>
            <a:off x="7086600" y="2121408"/>
            <a:ext cx="2377440" cy="347472"/>
          </a:xfrm>
          <a:prstGeom prst="rect">
            <a:avLst/>
          </a:prstGeom>
          <a:noFill/>
          <a:ln/>
        </p:spPr>
        <p:txBody>
          <a:bodyPr wrap="square" lIns="0" tIns="0" rIns="0" bIns="0" rtlCol="0" anchor="ctr"/>
          <a:lstStyle/>
          <a:p>
            <a:pPr indent="0" marL="0">
              <a:buNone/>
            </a:pPr>
            <a:r>
              <a:rPr lang="en-US" sz="1300" dirty="0">
                <a:solidFill>
                  <a:schemeClr val="accent6"/>
                </a:solidFill>
              </a:rPr>
              <a:t>Entrepôt</a:t>
            </a:r>
            <a:endParaRPr lang="en-US" sz="1300" dirty="0"/>
          </a:p>
        </p:txBody>
      </p:sp>
      <p:sp>
        <p:nvSpPr>
          <p:cNvPr id="14" name="jalon-101"/>
          <p:cNvSpPr/>
          <p:nvPr/>
        </p:nvSpPr>
        <p:spPr>
          <a:xfrm>
            <a:off x="4206240" y="2743200"/>
            <a:ext cx="365760" cy="365760"/>
          </a:xfrm>
          <a:prstGeom prst="ellipse">
            <a:avLst/>
          </a:prstGeom>
          <a:solidFill>
            <a:schemeClr val="bg1"/>
          </a:solidFill>
          <a:ln w="38100">
            <a:solidFill>
              <a:schemeClr val="accent1"/>
            </a:solidFill>
            <a:prstDash val="solid"/>
          </a:ln>
        </p:spPr>
      </p:sp>
      <p:sp>
        <p:nvSpPr>
          <p:cNvPr id="15" name="texte-102"/>
          <p:cNvSpPr txBox="1"/>
          <p:nvPr/>
        </p:nvSpPr>
        <p:spPr>
          <a:xfrm>
            <a:off x="4800600" y="2761488"/>
            <a:ext cx="2377440" cy="347472"/>
          </a:xfrm>
          <a:prstGeom prst="rect">
            <a:avLst/>
          </a:prstGeom>
          <a:noFill/>
          <a:ln/>
        </p:spPr>
        <p:txBody>
          <a:bodyPr wrap="square" lIns="0" tIns="0" rIns="0" bIns="0" rtlCol="0" anchor="ctr"/>
          <a:lstStyle/>
          <a:p>
            <a:pPr indent="0" marL="0">
              <a:buNone/>
            </a:pPr>
            <a:r>
              <a:rPr lang="en-US" sz="1600" b="1" dirty="0">
                <a:solidFill>
                  <a:schemeClr val="tx1"/>
                </a:solidFill>
              </a:rPr>
              <a:t>Emballée</a:t>
            </a:r>
            <a:endParaRPr lang="en-US" sz="1600" dirty="0"/>
          </a:p>
        </p:txBody>
      </p:sp>
      <p:sp>
        <p:nvSpPr>
          <p:cNvPr id="16" name="texte-103"/>
          <p:cNvSpPr txBox="1"/>
          <p:nvPr/>
        </p:nvSpPr>
        <p:spPr>
          <a:xfrm>
            <a:off x="7086600" y="2761488"/>
            <a:ext cx="2377440" cy="347472"/>
          </a:xfrm>
          <a:prstGeom prst="rect">
            <a:avLst/>
          </a:prstGeom>
          <a:noFill/>
          <a:ln/>
        </p:spPr>
        <p:txBody>
          <a:bodyPr wrap="square" lIns="0" tIns="0" rIns="0" bIns="0" rtlCol="0" anchor="ctr"/>
          <a:lstStyle/>
          <a:p>
            <a:pPr indent="0" marL="0">
              <a:buNone/>
            </a:pPr>
            <a:r>
              <a:rPr lang="en-US" sz="1300" dirty="0">
                <a:solidFill>
                  <a:schemeClr val="accent6"/>
                </a:solidFill>
              </a:rPr>
              <a:t>Colis étiqueté</a:t>
            </a:r>
            <a:endParaRPr lang="en-US" sz="1300" dirty="0"/>
          </a:p>
        </p:txBody>
      </p:sp>
      <p:sp>
        <p:nvSpPr>
          <p:cNvPr id="17" name="jalon-104"/>
          <p:cNvSpPr/>
          <p:nvPr/>
        </p:nvSpPr>
        <p:spPr>
          <a:xfrm>
            <a:off x="4206240" y="3383280"/>
            <a:ext cx="365760" cy="365760"/>
          </a:xfrm>
          <a:prstGeom prst="ellipse">
            <a:avLst/>
          </a:prstGeom>
          <a:solidFill>
            <a:schemeClr val="bg1"/>
          </a:solidFill>
          <a:ln w="38100">
            <a:solidFill>
              <a:schemeClr val="accent1"/>
            </a:solidFill>
            <a:prstDash val="solid"/>
          </a:ln>
        </p:spPr>
      </p:sp>
      <p:sp>
        <p:nvSpPr>
          <p:cNvPr id="18" name="texte-105"/>
          <p:cNvSpPr txBox="1"/>
          <p:nvPr/>
        </p:nvSpPr>
        <p:spPr>
          <a:xfrm>
            <a:off x="4800600" y="3401568"/>
            <a:ext cx="2377440" cy="347472"/>
          </a:xfrm>
          <a:prstGeom prst="rect">
            <a:avLst/>
          </a:prstGeom>
          <a:noFill/>
          <a:ln/>
        </p:spPr>
        <p:txBody>
          <a:bodyPr wrap="square" lIns="0" tIns="0" rIns="0" bIns="0" rtlCol="0" anchor="ctr"/>
          <a:lstStyle/>
          <a:p>
            <a:pPr indent="0" marL="0">
              <a:buNone/>
            </a:pPr>
            <a:r>
              <a:rPr lang="en-US" sz="1600" b="1" dirty="0">
                <a:solidFill>
                  <a:schemeClr val="tx1"/>
                </a:solidFill>
              </a:rPr>
              <a:t>Expédiée</a:t>
            </a:r>
            <a:endParaRPr lang="en-US" sz="1600" dirty="0"/>
          </a:p>
        </p:txBody>
      </p:sp>
      <p:sp>
        <p:nvSpPr>
          <p:cNvPr id="19" name="texte-106"/>
          <p:cNvSpPr txBox="1"/>
          <p:nvPr/>
        </p:nvSpPr>
        <p:spPr>
          <a:xfrm>
            <a:off x="7086600" y="3401568"/>
            <a:ext cx="2377440" cy="347472"/>
          </a:xfrm>
          <a:prstGeom prst="rect">
            <a:avLst/>
          </a:prstGeom>
          <a:noFill/>
          <a:ln/>
        </p:spPr>
        <p:txBody>
          <a:bodyPr wrap="square" lIns="0" tIns="0" rIns="0" bIns="0" rtlCol="0" anchor="ctr"/>
          <a:lstStyle/>
          <a:p>
            <a:pPr indent="0" marL="0">
              <a:buNone/>
            </a:pPr>
            <a:r>
              <a:rPr lang="en-US" sz="1300" dirty="0">
                <a:solidFill>
                  <a:schemeClr val="accent6"/>
                </a:solidFill>
              </a:rPr>
              <a:t>Transporteur + n° de suivi</a:t>
            </a:r>
            <a:endParaRPr lang="en-US" sz="1300" dirty="0"/>
          </a:p>
        </p:txBody>
      </p:sp>
      <p:sp>
        <p:nvSpPr>
          <p:cNvPr id="20" name="jalon-107"/>
          <p:cNvSpPr/>
          <p:nvPr/>
        </p:nvSpPr>
        <p:spPr>
          <a:xfrm>
            <a:off x="4206240" y="4023360"/>
            <a:ext cx="365760" cy="365760"/>
          </a:xfrm>
          <a:prstGeom prst="ellipse">
            <a:avLst/>
          </a:prstGeom>
          <a:solidFill>
            <a:schemeClr val="bg1"/>
          </a:solidFill>
          <a:ln w="38100">
            <a:solidFill>
              <a:schemeClr val="accent4"/>
            </a:solidFill>
            <a:prstDash val="solid"/>
          </a:ln>
        </p:spPr>
      </p:sp>
      <p:sp>
        <p:nvSpPr>
          <p:cNvPr id="21" name="texte-108"/>
          <p:cNvSpPr txBox="1"/>
          <p:nvPr/>
        </p:nvSpPr>
        <p:spPr>
          <a:xfrm>
            <a:off x="4800600" y="4041648"/>
            <a:ext cx="2377440" cy="347472"/>
          </a:xfrm>
          <a:prstGeom prst="rect">
            <a:avLst/>
          </a:prstGeom>
          <a:noFill/>
          <a:ln/>
        </p:spPr>
        <p:txBody>
          <a:bodyPr wrap="square" lIns="0" tIns="0" rIns="0" bIns="0" rtlCol="0" anchor="ctr"/>
          <a:lstStyle/>
          <a:p>
            <a:pPr indent="0" marL="0">
              <a:buNone/>
            </a:pPr>
            <a:r>
              <a:rPr lang="en-US" sz="1600" b="1" dirty="0">
                <a:solidFill>
                  <a:schemeClr val="tx1"/>
                </a:solidFill>
              </a:rPr>
              <a:t>Incident</a:t>
            </a:r>
            <a:endParaRPr lang="en-US" sz="1600" dirty="0"/>
          </a:p>
        </p:txBody>
      </p:sp>
      <p:sp>
        <p:nvSpPr>
          <p:cNvPr id="22" name="texte-109"/>
          <p:cNvSpPr txBox="1"/>
          <p:nvPr/>
        </p:nvSpPr>
        <p:spPr>
          <a:xfrm>
            <a:off x="7086600" y="4041648"/>
            <a:ext cx="2377440" cy="347472"/>
          </a:xfrm>
          <a:prstGeom prst="rect">
            <a:avLst/>
          </a:prstGeom>
          <a:noFill/>
          <a:ln/>
        </p:spPr>
        <p:txBody>
          <a:bodyPr wrap="square" lIns="0" tIns="0" rIns="0" bIns="0" rtlCol="0" anchor="ctr"/>
          <a:lstStyle/>
          <a:p>
            <a:pPr indent="0" marL="0">
              <a:buNone/>
            </a:pPr>
            <a:r>
              <a:rPr lang="en-US" sz="1300" dirty="0">
                <a:solidFill>
                  <a:schemeClr val="accent6"/>
                </a:solidFill>
              </a:rPr>
              <a:t>1 fois sur 4 : retard</a:t>
            </a:r>
            <a:endParaRPr lang="en-US" sz="1300" dirty="0"/>
          </a:p>
        </p:txBody>
      </p:sp>
      <p:sp>
        <p:nvSpPr>
          <p:cNvPr id="23" name="jalon-110"/>
          <p:cNvSpPr/>
          <p:nvPr/>
        </p:nvSpPr>
        <p:spPr>
          <a:xfrm>
            <a:off x="4206240" y="4663440"/>
            <a:ext cx="365760" cy="365760"/>
          </a:xfrm>
          <a:prstGeom prst="ellipse">
            <a:avLst/>
          </a:prstGeom>
          <a:solidFill>
            <a:schemeClr val="bg1"/>
          </a:solidFill>
          <a:ln w="38100">
            <a:solidFill>
              <a:schemeClr val="accent1"/>
            </a:solidFill>
            <a:prstDash val="solid"/>
          </a:ln>
        </p:spPr>
      </p:sp>
      <p:sp>
        <p:nvSpPr>
          <p:cNvPr id="24" name="texte-111"/>
          <p:cNvSpPr txBox="1"/>
          <p:nvPr/>
        </p:nvSpPr>
        <p:spPr>
          <a:xfrm>
            <a:off x="4800600" y="4681728"/>
            <a:ext cx="2377440" cy="347472"/>
          </a:xfrm>
          <a:prstGeom prst="rect">
            <a:avLst/>
          </a:prstGeom>
          <a:noFill/>
          <a:ln/>
        </p:spPr>
        <p:txBody>
          <a:bodyPr wrap="square" lIns="0" tIns="0" rIns="0" bIns="0" rtlCol="0" anchor="ctr"/>
          <a:lstStyle/>
          <a:p>
            <a:pPr indent="0" marL="0">
              <a:buNone/>
            </a:pPr>
            <a:r>
              <a:rPr lang="en-US" sz="1600" b="1" dirty="0">
                <a:solidFill>
                  <a:schemeClr val="tx1"/>
                </a:solidFill>
              </a:rPr>
              <a:t>En livraison</a:t>
            </a:r>
            <a:endParaRPr lang="en-US" sz="1600" dirty="0"/>
          </a:p>
        </p:txBody>
      </p:sp>
      <p:sp>
        <p:nvSpPr>
          <p:cNvPr id="25" name="texte-112"/>
          <p:cNvSpPr txBox="1"/>
          <p:nvPr/>
        </p:nvSpPr>
        <p:spPr>
          <a:xfrm>
            <a:off x="7086600" y="4681728"/>
            <a:ext cx="2377440" cy="347472"/>
          </a:xfrm>
          <a:prstGeom prst="rect">
            <a:avLst/>
          </a:prstGeom>
          <a:noFill/>
          <a:ln/>
        </p:spPr>
        <p:txBody>
          <a:bodyPr wrap="square" lIns="0" tIns="0" rIns="0" bIns="0" rtlCol="0" anchor="ctr"/>
          <a:lstStyle/>
          <a:p>
            <a:pPr indent="0" marL="0">
              <a:buNone/>
            </a:pPr>
            <a:r>
              <a:rPr lang="en-US" sz="1300" dirty="0">
                <a:solidFill>
                  <a:schemeClr val="accent6"/>
                </a:solidFill>
              </a:rPr>
              <a:t>Dernier kilomètre</a:t>
            </a:r>
            <a:endParaRPr lang="en-US" sz="1300" dirty="0"/>
          </a:p>
        </p:txBody>
      </p:sp>
      <p:sp>
        <p:nvSpPr>
          <p:cNvPr id="26" name="jalon-113"/>
          <p:cNvSpPr/>
          <p:nvPr/>
        </p:nvSpPr>
        <p:spPr>
          <a:xfrm>
            <a:off x="4206240" y="5303520"/>
            <a:ext cx="365760" cy="365760"/>
          </a:xfrm>
          <a:prstGeom prst="ellipse">
            <a:avLst/>
          </a:prstGeom>
          <a:solidFill>
            <a:schemeClr val="bg1"/>
          </a:solidFill>
          <a:ln w="38100">
            <a:solidFill>
              <a:schemeClr val="accent3"/>
            </a:solidFill>
            <a:prstDash val="solid"/>
          </a:ln>
        </p:spPr>
      </p:sp>
      <p:sp>
        <p:nvSpPr>
          <p:cNvPr id="27" name="texte-114"/>
          <p:cNvSpPr txBox="1"/>
          <p:nvPr/>
        </p:nvSpPr>
        <p:spPr>
          <a:xfrm>
            <a:off x="4800600" y="5321808"/>
            <a:ext cx="2377440" cy="347472"/>
          </a:xfrm>
          <a:prstGeom prst="rect">
            <a:avLst/>
          </a:prstGeom>
          <a:noFill/>
          <a:ln/>
        </p:spPr>
        <p:txBody>
          <a:bodyPr wrap="square" lIns="0" tIns="0" rIns="0" bIns="0" rtlCol="0" anchor="ctr"/>
          <a:lstStyle/>
          <a:p>
            <a:pPr indent="0" marL="0">
              <a:buNone/>
            </a:pPr>
            <a:r>
              <a:rPr lang="en-US" sz="1600" b="1" dirty="0">
                <a:solidFill>
                  <a:schemeClr val="tx1"/>
                </a:solidFill>
              </a:rPr>
              <a:t>Livrée</a:t>
            </a:r>
            <a:endParaRPr lang="en-US" sz="1600" dirty="0"/>
          </a:p>
        </p:txBody>
      </p:sp>
      <p:sp>
        <p:nvSpPr>
          <p:cNvPr id="28" name="texte-115"/>
          <p:cNvSpPr txBox="1"/>
          <p:nvPr/>
        </p:nvSpPr>
        <p:spPr>
          <a:xfrm>
            <a:off x="7086600" y="5321808"/>
            <a:ext cx="2377440" cy="347472"/>
          </a:xfrm>
          <a:prstGeom prst="rect">
            <a:avLst/>
          </a:prstGeom>
          <a:noFill/>
          <a:ln/>
        </p:spPr>
        <p:txBody>
          <a:bodyPr wrap="square" lIns="0" tIns="0" rIns="0" bIns="0" rtlCol="0" anchor="ctr"/>
          <a:lstStyle/>
          <a:p>
            <a:pPr indent="0" marL="0">
              <a:buNone/>
            </a:pPr>
            <a:r>
              <a:rPr lang="en-US" sz="1300" dirty="0">
                <a:solidFill>
                  <a:schemeClr val="accent6"/>
                </a:solidFill>
              </a:rPr>
              <a:t>Fin du parcours</a:t>
            </a:r>
            <a:endParaRPr lang="en-US" sz="1300" dirty="0"/>
          </a:p>
        </p:txBody>
      </p:sp>
      <p:sp>
        <p:nvSpPr>
          <p:cNvPr id="29" name="carte-116"/>
          <p:cNvSpPr/>
          <p:nvPr/>
        </p:nvSpPr>
        <p:spPr>
          <a:xfrm>
            <a:off x="9326880" y="1417320"/>
            <a:ext cx="2286000" cy="4480560"/>
          </a:xfrm>
          <a:prstGeom prst="roundRect">
            <a:avLst>
              <a:gd name="adj" fmla="val 4800"/>
            </a:avLst>
          </a:prstGeom>
          <a:solidFill>
            <a:schemeClr val="bg2"/>
          </a:solidFill>
          <a:ln w="12700">
            <a:solidFill>
              <a:schemeClr val="bg2"/>
            </a:solidFill>
            <a:prstDash val="solid"/>
          </a:ln>
        </p:spPr>
      </p:sp>
      <p:sp>
        <p:nvSpPr>
          <p:cNvPr id="30" name="texte-117"/>
          <p:cNvSpPr txBox="1"/>
          <p:nvPr/>
        </p:nvSpPr>
        <p:spPr>
          <a:xfrm>
            <a:off x="9555480" y="1645920"/>
            <a:ext cx="1828800" cy="365760"/>
          </a:xfrm>
          <a:prstGeom prst="rect">
            <a:avLst/>
          </a:prstGeom>
          <a:noFill/>
          <a:ln/>
        </p:spPr>
        <p:txBody>
          <a:bodyPr wrap="square" lIns="0" tIns="0" rIns="0" bIns="0" rtlCol="0" anchor="t"/>
          <a:lstStyle/>
          <a:p>
            <a:pPr indent="0" marL="0">
              <a:buNone/>
            </a:pPr>
            <a:r>
              <a:rPr lang="en-US" sz="1600" b="1" dirty="0">
                <a:solidFill>
                  <a:schemeClr val="tx1"/>
                </a:solidFill>
              </a:rPr>
              <a:t>Comment ?</a:t>
            </a:r>
            <a:endParaRPr lang="en-US" sz="1600" dirty="0"/>
          </a:p>
        </p:txBody>
      </p:sp>
      <p:sp>
        <p:nvSpPr>
          <p:cNvPr id="31" name="texte-118"/>
          <p:cNvSpPr txBox="1"/>
          <p:nvPr/>
        </p:nvSpPr>
        <p:spPr>
          <a:xfrm>
            <a:off x="9555480" y="2103120"/>
            <a:ext cx="1874520" cy="35661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Step Functions enchaîne des états Wait</a:t>
            </a:r>
            <a:endParaRPr lang="en-US" sz="1300" dirty="0"/>
          </a:p>
          <a:p>
            <a:pPr marL="342900" indent="-342900">
              <a:spcAft>
                <a:spcPts val="800"/>
              </a:spcAft>
              <a:buSzPct val="100000"/>
              <a:buChar char="•"/>
            </a:pPr>
            <a:r>
              <a:rPr lang="en-US" sz="1300" dirty="0">
                <a:solidFill>
                  <a:schemeClr val="tx1"/>
                </a:solidFill>
              </a:rPr>
              <a:t>Chaque étape écrit le statut dans DynamoDB</a:t>
            </a:r>
            <a:endParaRPr lang="en-US" sz="1300" dirty="0"/>
          </a:p>
          <a:p>
            <a:pPr marL="342900" indent="-342900">
              <a:spcAft>
                <a:spcPts val="800"/>
              </a:spcAft>
              <a:buSzPct val="100000"/>
              <a:buChar char="•"/>
            </a:pPr>
            <a:r>
              <a:rPr lang="en-US" sz="1300" dirty="0">
                <a:solidFill>
                  <a:schemeClr val="tx1"/>
                </a:solidFill>
              </a:rPr>
              <a:t>La page de suivi lit ce statut en direct</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Côté client : site mobile, e-mail et compte</a:t>
            </a:r>
            <a:endParaRPr lang="en-US" sz="3000" dirty="0"/>
          </a:p>
        </p:txBody>
      </p:sp>
      <p:pic>
        <p:nvPicPr>
          <p:cNvPr id="3" name="Image 0" descr="Boutique sur iPhone">    </p:cNvPr>
          <p:cNvPicPr>
            <a:picLocks noChangeAspect="1"/>
          </p:cNvPicPr>
          <p:nvPr/>
        </p:nvPicPr>
        <p:blipFill>
          <a:blip r:embed="rId1"/>
          <a:stretch>
            <a:fillRect/>
          </a:stretch>
        </p:blipFill>
        <p:spPr>
          <a:xfrm>
            <a:off x="548640" y="1371600"/>
            <a:ext cx="2148289" cy="3657600"/>
          </a:xfrm>
          <a:prstGeom prst="rect">
            <a:avLst/>
          </a:prstGeom>
        </p:spPr>
      </p:pic>
      <p:sp>
        <p:nvSpPr>
          <p:cNvPr id="4" name="texte-119"/>
          <p:cNvSpPr txBox="1"/>
          <p:nvPr/>
        </p:nvSpPr>
        <p:spPr>
          <a:xfrm>
            <a:off x="548640" y="5212080"/>
            <a:ext cx="2148289" cy="274320"/>
          </a:xfrm>
          <a:prstGeom prst="rect">
            <a:avLst/>
          </a:prstGeom>
          <a:noFill/>
          <a:ln/>
        </p:spPr>
        <p:txBody>
          <a:bodyPr wrap="square" lIns="0" tIns="0" rIns="0" bIns="0" rtlCol="0" anchor="t"/>
          <a:lstStyle/>
          <a:p>
            <a:pPr indent="0" marL="0">
              <a:buNone/>
            </a:pPr>
            <a:r>
              <a:rPr lang="en-US" sz="1400" b="1" dirty="0">
                <a:solidFill>
                  <a:schemeClr val="tx1"/>
                </a:solidFill>
              </a:rPr>
              <a:t>Boutique sur iPhone</a:t>
            </a:r>
            <a:endParaRPr lang="en-US" sz="1400" dirty="0"/>
          </a:p>
        </p:txBody>
      </p:sp>
      <p:sp>
        <p:nvSpPr>
          <p:cNvPr id="5" name="texte-120"/>
          <p:cNvSpPr txBox="1"/>
          <p:nvPr/>
        </p:nvSpPr>
        <p:spPr>
          <a:xfrm>
            <a:off x="548640" y="5486400"/>
            <a:ext cx="2148289" cy="274320"/>
          </a:xfrm>
          <a:prstGeom prst="rect">
            <a:avLst/>
          </a:prstGeom>
          <a:noFill/>
          <a:ln/>
        </p:spPr>
        <p:txBody>
          <a:bodyPr wrap="square" lIns="0" tIns="0" rIns="0" bIns="0" rtlCol="0" anchor="t"/>
          <a:lstStyle/>
          <a:p>
            <a:pPr indent="0" marL="0">
              <a:buNone/>
            </a:pPr>
            <a:r>
              <a:rPr lang="en-US" sz="1200" dirty="0">
                <a:solidFill>
                  <a:schemeClr val="accent6"/>
                </a:solidFill>
              </a:rPr>
              <a:t>Panier flottant, barre d'onglets</a:t>
            </a:r>
            <a:endParaRPr lang="en-US" sz="1200" dirty="0"/>
          </a:p>
        </p:txBody>
      </p:sp>
      <p:pic>
        <p:nvPicPr>
          <p:cNvPr id="6" name="Image 1" descr="Suivi en direct">    </p:cNvPr>
          <p:cNvPicPr>
            <a:picLocks noChangeAspect="1"/>
          </p:cNvPicPr>
          <p:nvPr/>
        </p:nvPicPr>
        <p:blipFill>
          <a:blip r:embed="rId2"/>
          <a:stretch>
            <a:fillRect/>
          </a:stretch>
        </p:blipFill>
        <p:spPr>
          <a:xfrm>
            <a:off x="3108409" y="1371600"/>
            <a:ext cx="2148289" cy="3657600"/>
          </a:xfrm>
          <a:prstGeom prst="rect">
            <a:avLst/>
          </a:prstGeom>
        </p:spPr>
      </p:pic>
      <p:sp>
        <p:nvSpPr>
          <p:cNvPr id="7" name="texte-121"/>
          <p:cNvSpPr txBox="1"/>
          <p:nvPr/>
        </p:nvSpPr>
        <p:spPr>
          <a:xfrm>
            <a:off x="3108409" y="5212080"/>
            <a:ext cx="2148289" cy="274320"/>
          </a:xfrm>
          <a:prstGeom prst="rect">
            <a:avLst/>
          </a:prstGeom>
          <a:noFill/>
          <a:ln/>
        </p:spPr>
        <p:txBody>
          <a:bodyPr wrap="square" lIns="0" tIns="0" rIns="0" bIns="0" rtlCol="0" anchor="t"/>
          <a:lstStyle/>
          <a:p>
            <a:pPr indent="0" marL="0">
              <a:buNone/>
            </a:pPr>
            <a:r>
              <a:rPr lang="en-US" sz="1400" b="1" dirty="0">
                <a:solidFill>
                  <a:schemeClr val="tx1"/>
                </a:solidFill>
              </a:rPr>
              <a:t>Suivi en direct</a:t>
            </a:r>
            <a:endParaRPr lang="en-US" sz="1400" dirty="0"/>
          </a:p>
        </p:txBody>
      </p:sp>
      <p:sp>
        <p:nvSpPr>
          <p:cNvPr id="8" name="texte-122"/>
          <p:cNvSpPr txBox="1"/>
          <p:nvPr/>
        </p:nvSpPr>
        <p:spPr>
          <a:xfrm>
            <a:off x="3108409" y="5486400"/>
            <a:ext cx="2148289" cy="274320"/>
          </a:xfrm>
          <a:prstGeom prst="rect">
            <a:avLst/>
          </a:prstGeom>
          <a:noFill/>
          <a:ln/>
        </p:spPr>
        <p:txBody>
          <a:bodyPr wrap="square" lIns="0" tIns="0" rIns="0" bIns="0" rtlCol="0" anchor="t"/>
          <a:lstStyle/>
          <a:p>
            <a:pPr indent="0" marL="0">
              <a:buNone/>
            </a:pPr>
            <a:r>
              <a:rPr lang="en-US" sz="1200" dirty="0">
                <a:solidFill>
                  <a:schemeClr val="accent6"/>
                </a:solidFill>
              </a:rPr>
              <a:t>Lien reçu dans l'e-mail</a:t>
            </a:r>
            <a:endParaRPr lang="en-US" sz="1200" dirty="0"/>
          </a:p>
        </p:txBody>
      </p:sp>
      <p:pic>
        <p:nvPicPr>
          <p:cNvPr id="9" name="Image 2" descr="E-mail de confirmation">    </p:cNvPr>
          <p:cNvPicPr>
            <a:picLocks noChangeAspect="1"/>
          </p:cNvPicPr>
          <p:nvPr/>
        </p:nvPicPr>
        <p:blipFill>
          <a:blip r:embed="rId3"/>
          <a:stretch>
            <a:fillRect/>
          </a:stretch>
        </p:blipFill>
        <p:spPr>
          <a:xfrm>
            <a:off x="5668178" y="1371600"/>
            <a:ext cx="2578369" cy="3657600"/>
          </a:xfrm>
          <a:prstGeom prst="rect">
            <a:avLst/>
          </a:prstGeom>
        </p:spPr>
      </p:pic>
      <p:sp>
        <p:nvSpPr>
          <p:cNvPr id="10" name="texte-123"/>
          <p:cNvSpPr txBox="1"/>
          <p:nvPr/>
        </p:nvSpPr>
        <p:spPr>
          <a:xfrm>
            <a:off x="5668178" y="5212080"/>
            <a:ext cx="2578369" cy="274320"/>
          </a:xfrm>
          <a:prstGeom prst="rect">
            <a:avLst/>
          </a:prstGeom>
          <a:noFill/>
          <a:ln/>
        </p:spPr>
        <p:txBody>
          <a:bodyPr wrap="square" lIns="0" tIns="0" rIns="0" bIns="0" rtlCol="0" anchor="t"/>
          <a:lstStyle/>
          <a:p>
            <a:pPr indent="0" marL="0">
              <a:buNone/>
            </a:pPr>
            <a:r>
              <a:rPr lang="en-US" sz="1400" b="1" dirty="0">
                <a:solidFill>
                  <a:schemeClr val="tx1"/>
                </a:solidFill>
              </a:rPr>
              <a:t>E-mail de confirmation</a:t>
            </a:r>
            <a:endParaRPr lang="en-US" sz="1400" dirty="0"/>
          </a:p>
        </p:txBody>
      </p:sp>
      <p:sp>
        <p:nvSpPr>
          <p:cNvPr id="11" name="texte-124"/>
          <p:cNvSpPr txBox="1"/>
          <p:nvPr/>
        </p:nvSpPr>
        <p:spPr>
          <a:xfrm>
            <a:off x="5668178" y="5486400"/>
            <a:ext cx="2578369" cy="274320"/>
          </a:xfrm>
          <a:prstGeom prst="rect">
            <a:avLst/>
          </a:prstGeom>
          <a:noFill/>
          <a:ln/>
        </p:spPr>
        <p:txBody>
          <a:bodyPr wrap="square" lIns="0" tIns="0" rIns="0" bIns="0" rtlCol="0" anchor="t"/>
          <a:lstStyle/>
          <a:p>
            <a:pPr indent="0" marL="0">
              <a:buNone/>
            </a:pPr>
            <a:r>
              <a:rPr lang="en-US" sz="1200" dirty="0">
                <a:solidFill>
                  <a:schemeClr val="accent6"/>
                </a:solidFill>
              </a:rPr>
              <a:t>Amazon SES, HTML avec photos</a:t>
            </a:r>
            <a:endParaRPr lang="en-US" sz="1200" dirty="0"/>
          </a:p>
        </p:txBody>
      </p:sp>
      <p:sp>
        <p:nvSpPr>
          <p:cNvPr id="12" name="carte-125"/>
          <p:cNvSpPr/>
          <p:nvPr/>
        </p:nvSpPr>
        <p:spPr>
          <a:xfrm>
            <a:off x="8658027" y="1371600"/>
            <a:ext cx="2982285" cy="3657600"/>
          </a:xfrm>
          <a:prstGeom prst="roundRect">
            <a:avLst>
              <a:gd name="adj" fmla="val 3679"/>
            </a:avLst>
          </a:prstGeom>
          <a:solidFill>
            <a:schemeClr val="accent5"/>
          </a:solidFill>
          <a:ln w="12700">
            <a:solidFill>
              <a:schemeClr val="accent5"/>
            </a:solidFill>
            <a:prstDash val="solid"/>
          </a:ln>
        </p:spPr>
      </p:sp>
      <p:sp>
        <p:nvSpPr>
          <p:cNvPr id="13" name="pastille-126"/>
          <p:cNvSpPr/>
          <p:nvPr/>
        </p:nvSpPr>
        <p:spPr>
          <a:xfrm>
            <a:off x="8932347" y="1645920"/>
            <a:ext cx="457200" cy="457200"/>
          </a:xfrm>
          <a:prstGeom prst="ellipse">
            <a:avLst/>
          </a:prstGeom>
          <a:solidFill>
            <a:schemeClr val="accent1"/>
          </a:solidFill>
          <a:ln w="12700">
            <a:solidFill>
              <a:schemeClr val="accent1"/>
            </a:solidFill>
            <a:prstDash val="solid"/>
          </a:ln>
        </p:spPr>
      </p:sp>
      <p:sp>
        <p:nvSpPr>
          <p:cNvPr id="14" name="pastille-texte-127"/>
          <p:cNvSpPr txBox="1"/>
          <p:nvPr/>
        </p:nvSpPr>
        <p:spPr>
          <a:xfrm>
            <a:off x="8932347" y="1645920"/>
            <a:ext cx="457200" cy="457200"/>
          </a:xfrm>
          <a:prstGeom prst="rect">
            <a:avLst/>
          </a:prstGeom>
          <a:noFill/>
          <a:ln/>
        </p:spPr>
        <p:txBody>
          <a:bodyPr wrap="square" lIns="0" tIns="0" rIns="0" bIns="0" rtlCol="0" anchor="ctr"/>
          <a:lstStyle/>
          <a:p>
            <a:pPr algn="ctr" indent="0" marL="0">
              <a:buNone/>
            </a:pPr>
            <a:r>
              <a:rPr lang="en-US" sz="1400" b="1" dirty="0">
                <a:solidFill>
                  <a:schemeClr val="tx1"/>
                </a:solidFill>
              </a:rPr>
              <a:t>✓</a:t>
            </a:r>
            <a:endParaRPr lang="en-US" sz="1400" dirty="0"/>
          </a:p>
        </p:txBody>
      </p:sp>
      <p:sp>
        <p:nvSpPr>
          <p:cNvPr id="15" name="texte-128"/>
          <p:cNvSpPr txBox="1"/>
          <p:nvPr/>
        </p:nvSpPr>
        <p:spPr>
          <a:xfrm>
            <a:off x="8932347" y="2286000"/>
            <a:ext cx="2433645" cy="365760"/>
          </a:xfrm>
          <a:prstGeom prst="rect">
            <a:avLst/>
          </a:prstGeom>
          <a:noFill/>
          <a:ln/>
        </p:spPr>
        <p:txBody>
          <a:bodyPr wrap="square" lIns="0" tIns="0" rIns="0" bIns="0" rtlCol="0" anchor="t"/>
          <a:lstStyle/>
          <a:p>
            <a:pPr indent="0" marL="0">
              <a:buNone/>
            </a:pPr>
            <a:r>
              <a:rPr lang="en-US" sz="1800" b="1" dirty="0">
                <a:solidFill>
                  <a:schemeClr val="tx1"/>
                </a:solidFill>
              </a:rPr>
              <a:t>Comptes clients</a:t>
            </a:r>
            <a:endParaRPr lang="en-US" sz="1800" dirty="0"/>
          </a:p>
        </p:txBody>
      </p:sp>
      <p:sp>
        <p:nvSpPr>
          <p:cNvPr id="16" name="texte-129"/>
          <p:cNvSpPr txBox="1"/>
          <p:nvPr/>
        </p:nvSpPr>
        <p:spPr>
          <a:xfrm>
            <a:off x="8932347" y="2788920"/>
            <a:ext cx="2433645" cy="25603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Inscription avec code par e-mail (Cognito)</a:t>
            </a:r>
            <a:endParaRPr lang="en-US" sz="1400" dirty="0"/>
          </a:p>
          <a:p>
            <a:pPr marL="342900" indent="-342900">
              <a:spcAft>
                <a:spcPts val="800"/>
              </a:spcAft>
              <a:buSzPct val="100000"/>
              <a:buChar char="•"/>
            </a:pPr>
            <a:r>
              <a:rPr lang="en-US" sz="1400" dirty="0">
                <a:solidFill>
                  <a:schemeClr val="tx1"/>
                </a:solidFill>
              </a:rPr>
              <a:t>« Mes commandes » : historique et statut</a:t>
            </a:r>
            <a:endParaRPr lang="en-US" sz="1400" dirty="0"/>
          </a:p>
          <a:p>
            <a:pPr marL="342900" indent="-342900">
              <a:spcAft>
                <a:spcPts val="800"/>
              </a:spcAft>
              <a:buSzPct val="100000"/>
              <a:buChar char="•"/>
            </a:pPr>
            <a:r>
              <a:rPr lang="en-US" sz="1400" dirty="0">
                <a:solidFill>
                  <a:schemeClr val="tx1"/>
                </a:solidFill>
              </a:rPr>
              <a:t>Sans jeton valide, l'API répond 401</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Pensé pour ne perdre aucune commande</a:t>
            </a:r>
            <a:endParaRPr lang="en-US" sz="3000" dirty="0"/>
          </a:p>
        </p:txBody>
      </p:sp>
      <p:sp>
        <p:nvSpPr>
          <p:cNvPr id="3" name="carte-130"/>
          <p:cNvSpPr/>
          <p:nvPr/>
        </p:nvSpPr>
        <p:spPr>
          <a:xfrm>
            <a:off x="548640" y="1417320"/>
            <a:ext cx="5440680" cy="4663440"/>
          </a:xfrm>
          <a:prstGeom prst="roundRect">
            <a:avLst>
              <a:gd name="adj" fmla="val 2353"/>
            </a:avLst>
          </a:prstGeom>
          <a:solidFill>
            <a:schemeClr val="bg2"/>
          </a:solidFill>
          <a:ln w="12700">
            <a:solidFill>
              <a:schemeClr val="bg2"/>
            </a:solidFill>
            <a:prstDash val="solid"/>
          </a:ln>
        </p:spPr>
      </p:sp>
      <p:sp>
        <p:nvSpPr>
          <p:cNvPr id="4" name="texte-131"/>
          <p:cNvSpPr txBox="1"/>
          <p:nvPr/>
        </p:nvSpPr>
        <p:spPr>
          <a:xfrm>
            <a:off x="868680" y="1645920"/>
            <a:ext cx="4754880" cy="411480"/>
          </a:xfrm>
          <a:prstGeom prst="rect">
            <a:avLst/>
          </a:prstGeom>
          <a:noFill/>
          <a:ln/>
        </p:spPr>
        <p:txBody>
          <a:bodyPr wrap="square" lIns="0" tIns="0" rIns="0" bIns="0" rtlCol="0" anchor="t"/>
          <a:lstStyle/>
          <a:p>
            <a:pPr indent="0" marL="0">
              <a:buNone/>
            </a:pPr>
            <a:r>
              <a:rPr lang="en-US" sz="2000" b="1" dirty="0">
                <a:solidFill>
                  <a:schemeClr val="tx1"/>
                </a:solidFill>
              </a:rPr>
              <a:t>Résilience</a:t>
            </a:r>
            <a:endParaRPr lang="en-US" sz="2000" dirty="0"/>
          </a:p>
        </p:txBody>
      </p:sp>
      <p:sp>
        <p:nvSpPr>
          <p:cNvPr id="5" name="pastille-132"/>
          <p:cNvSpPr/>
          <p:nvPr/>
        </p:nvSpPr>
        <p:spPr>
          <a:xfrm>
            <a:off x="868680" y="2359152"/>
            <a:ext cx="365760" cy="365760"/>
          </a:xfrm>
          <a:prstGeom prst="ellipse">
            <a:avLst/>
          </a:prstGeom>
          <a:solidFill>
            <a:schemeClr val="accent1"/>
          </a:solidFill>
          <a:ln w="12700">
            <a:solidFill>
              <a:schemeClr val="accent1"/>
            </a:solidFill>
            <a:prstDash val="solid"/>
          </a:ln>
        </p:spPr>
      </p:sp>
      <p:sp>
        <p:nvSpPr>
          <p:cNvPr id="6" name="pastille-texte-133"/>
          <p:cNvSpPr txBox="1"/>
          <p:nvPr/>
        </p:nvSpPr>
        <p:spPr>
          <a:xfrm>
            <a:off x="868680" y="2359152"/>
            <a:ext cx="365760" cy="365760"/>
          </a:xfrm>
          <a:prstGeom prst="rect">
            <a:avLst/>
          </a:prstGeom>
          <a:noFill/>
          <a:ln/>
        </p:spPr>
        <p:txBody>
          <a:bodyPr wrap="square" lIns="0" tIns="0" rIns="0" bIns="0" rtlCol="0" anchor="ctr"/>
          <a:lstStyle/>
          <a:p>
            <a:pPr algn="ctr" indent="0" marL="0">
              <a:buNone/>
            </a:pPr>
            <a:r>
              <a:rPr lang="en-US" sz="1100" b="1" dirty="0">
                <a:solidFill>
                  <a:schemeClr val="tx1"/>
                </a:solidFill>
              </a:rPr>
              <a:t>1</a:t>
            </a:r>
            <a:endParaRPr lang="en-US" sz="1100" dirty="0"/>
          </a:p>
        </p:txBody>
      </p:sp>
      <p:sp>
        <p:nvSpPr>
          <p:cNvPr id="7" name="texte-134"/>
          <p:cNvSpPr txBox="1"/>
          <p:nvPr/>
        </p:nvSpPr>
        <p:spPr>
          <a:xfrm>
            <a:off x="1417320" y="2286000"/>
            <a:ext cx="4343400" cy="320040"/>
          </a:xfrm>
          <a:prstGeom prst="rect">
            <a:avLst/>
          </a:prstGeom>
          <a:noFill/>
          <a:ln/>
        </p:spPr>
        <p:txBody>
          <a:bodyPr wrap="square" lIns="0" tIns="0" rIns="0" bIns="0" rtlCol="0" anchor="t"/>
          <a:lstStyle/>
          <a:p>
            <a:pPr indent="0" marL="0">
              <a:buNone/>
            </a:pPr>
            <a:r>
              <a:rPr lang="en-US" sz="1500" b="1" dirty="0">
                <a:solidFill>
                  <a:schemeClr val="tx1"/>
                </a:solidFill>
              </a:rPr>
              <a:t>Outbox par DynamoDB Streams</a:t>
            </a:r>
            <a:endParaRPr lang="en-US" sz="1500" dirty="0"/>
          </a:p>
        </p:txBody>
      </p:sp>
      <p:sp>
        <p:nvSpPr>
          <p:cNvPr id="8" name="texte-135"/>
          <p:cNvSpPr txBox="1"/>
          <p:nvPr/>
        </p:nvSpPr>
        <p:spPr>
          <a:xfrm>
            <a:off x="1417320" y="2624328"/>
            <a:ext cx="4343400" cy="457200"/>
          </a:xfrm>
          <a:prstGeom prst="rect">
            <a:avLst/>
          </a:prstGeom>
          <a:noFill/>
          <a:ln/>
        </p:spPr>
        <p:txBody>
          <a:bodyPr wrap="square" lIns="0" tIns="0" rIns="0" bIns="0" rtlCol="0" anchor="t"/>
          <a:lstStyle/>
          <a:p>
            <a:pPr indent="0" marL="0">
              <a:buNone/>
            </a:pPr>
            <a:r>
              <a:rPr lang="en-US" sz="1300" dirty="0">
                <a:solidFill>
                  <a:schemeClr val="accent6"/>
                </a:solidFill>
              </a:rPr>
              <a:t>la commande et son événement ne peuvent pas diverger</a:t>
            </a:r>
            <a:endParaRPr lang="en-US" sz="1300" dirty="0"/>
          </a:p>
        </p:txBody>
      </p:sp>
      <p:sp>
        <p:nvSpPr>
          <p:cNvPr id="9" name="pastille-136"/>
          <p:cNvSpPr/>
          <p:nvPr/>
        </p:nvSpPr>
        <p:spPr>
          <a:xfrm>
            <a:off x="868680" y="3273552"/>
            <a:ext cx="365760" cy="365760"/>
          </a:xfrm>
          <a:prstGeom prst="ellipse">
            <a:avLst/>
          </a:prstGeom>
          <a:solidFill>
            <a:schemeClr val="accent1"/>
          </a:solidFill>
          <a:ln w="12700">
            <a:solidFill>
              <a:schemeClr val="accent1"/>
            </a:solidFill>
            <a:prstDash val="solid"/>
          </a:ln>
        </p:spPr>
      </p:sp>
      <p:sp>
        <p:nvSpPr>
          <p:cNvPr id="10" name="pastille-texte-137"/>
          <p:cNvSpPr txBox="1"/>
          <p:nvPr/>
        </p:nvSpPr>
        <p:spPr>
          <a:xfrm>
            <a:off x="868680" y="3273552"/>
            <a:ext cx="365760" cy="365760"/>
          </a:xfrm>
          <a:prstGeom prst="rect">
            <a:avLst/>
          </a:prstGeom>
          <a:noFill/>
          <a:ln/>
        </p:spPr>
        <p:txBody>
          <a:bodyPr wrap="square" lIns="0" tIns="0" rIns="0" bIns="0" rtlCol="0" anchor="ctr"/>
          <a:lstStyle/>
          <a:p>
            <a:pPr algn="ctr" indent="0" marL="0">
              <a:buNone/>
            </a:pPr>
            <a:r>
              <a:rPr lang="en-US" sz="1100" b="1" dirty="0">
                <a:solidFill>
                  <a:schemeClr val="tx1"/>
                </a:solidFill>
              </a:rPr>
              <a:t>2</a:t>
            </a:r>
            <a:endParaRPr lang="en-US" sz="1100" dirty="0"/>
          </a:p>
        </p:txBody>
      </p:sp>
      <p:sp>
        <p:nvSpPr>
          <p:cNvPr id="11" name="texte-138"/>
          <p:cNvSpPr txBox="1"/>
          <p:nvPr/>
        </p:nvSpPr>
        <p:spPr>
          <a:xfrm>
            <a:off x="1417320" y="3200400"/>
            <a:ext cx="4343400" cy="320040"/>
          </a:xfrm>
          <a:prstGeom prst="rect">
            <a:avLst/>
          </a:prstGeom>
          <a:noFill/>
          <a:ln/>
        </p:spPr>
        <p:txBody>
          <a:bodyPr wrap="square" lIns="0" tIns="0" rIns="0" bIns="0" rtlCol="0" anchor="t"/>
          <a:lstStyle/>
          <a:p>
            <a:pPr indent="0" marL="0">
              <a:buNone/>
            </a:pPr>
            <a:r>
              <a:rPr lang="en-US" sz="1500" b="1" dirty="0">
                <a:solidFill>
                  <a:schemeClr val="tx1"/>
                </a:solidFill>
              </a:rPr>
              <a:t>Relances automatiques</a:t>
            </a:r>
            <a:endParaRPr lang="en-US" sz="1500" dirty="0"/>
          </a:p>
        </p:txBody>
      </p:sp>
      <p:sp>
        <p:nvSpPr>
          <p:cNvPr id="12" name="texte-139"/>
          <p:cNvSpPr txBox="1"/>
          <p:nvPr/>
        </p:nvSpPr>
        <p:spPr>
          <a:xfrm>
            <a:off x="1417320" y="3538728"/>
            <a:ext cx="4343400" cy="457200"/>
          </a:xfrm>
          <a:prstGeom prst="rect">
            <a:avLst/>
          </a:prstGeom>
          <a:noFill/>
          <a:ln/>
        </p:spPr>
        <p:txBody>
          <a:bodyPr wrap="square" lIns="0" tIns="0" rIns="0" bIns="0" rtlCol="0" anchor="t"/>
          <a:lstStyle/>
          <a:p>
            <a:pPr indent="0" marL="0">
              <a:buNone/>
            </a:pPr>
            <a:r>
              <a:rPr lang="en-US" sz="1300" dirty="0">
                <a:solidFill>
                  <a:schemeClr val="accent6"/>
                </a:solidFill>
              </a:rPr>
              <a:t>SQS et Streams rejouent un message en échec</a:t>
            </a:r>
            <a:endParaRPr lang="en-US" sz="1300" dirty="0"/>
          </a:p>
        </p:txBody>
      </p:sp>
      <p:sp>
        <p:nvSpPr>
          <p:cNvPr id="13" name="pastille-140"/>
          <p:cNvSpPr/>
          <p:nvPr/>
        </p:nvSpPr>
        <p:spPr>
          <a:xfrm>
            <a:off x="868680" y="4187952"/>
            <a:ext cx="365760" cy="365760"/>
          </a:xfrm>
          <a:prstGeom prst="ellipse">
            <a:avLst/>
          </a:prstGeom>
          <a:solidFill>
            <a:schemeClr val="accent1"/>
          </a:solidFill>
          <a:ln w="12700">
            <a:solidFill>
              <a:schemeClr val="accent1"/>
            </a:solidFill>
            <a:prstDash val="solid"/>
          </a:ln>
        </p:spPr>
      </p:sp>
      <p:sp>
        <p:nvSpPr>
          <p:cNvPr id="14" name="pastille-texte-141"/>
          <p:cNvSpPr txBox="1"/>
          <p:nvPr/>
        </p:nvSpPr>
        <p:spPr>
          <a:xfrm>
            <a:off x="868680" y="4187952"/>
            <a:ext cx="365760" cy="365760"/>
          </a:xfrm>
          <a:prstGeom prst="rect">
            <a:avLst/>
          </a:prstGeom>
          <a:noFill/>
          <a:ln/>
        </p:spPr>
        <p:txBody>
          <a:bodyPr wrap="square" lIns="0" tIns="0" rIns="0" bIns="0" rtlCol="0" anchor="ctr"/>
          <a:lstStyle/>
          <a:p>
            <a:pPr algn="ctr" indent="0" marL="0">
              <a:buNone/>
            </a:pPr>
            <a:r>
              <a:rPr lang="en-US" sz="1100" b="1" dirty="0">
                <a:solidFill>
                  <a:schemeClr val="tx1"/>
                </a:solidFill>
              </a:rPr>
              <a:t>3</a:t>
            </a:r>
            <a:endParaRPr lang="en-US" sz="1100" dirty="0"/>
          </a:p>
        </p:txBody>
      </p:sp>
      <p:sp>
        <p:nvSpPr>
          <p:cNvPr id="15" name="texte-142"/>
          <p:cNvSpPr txBox="1"/>
          <p:nvPr/>
        </p:nvSpPr>
        <p:spPr>
          <a:xfrm>
            <a:off x="1417320" y="4114800"/>
            <a:ext cx="4343400" cy="320040"/>
          </a:xfrm>
          <a:prstGeom prst="rect">
            <a:avLst/>
          </a:prstGeom>
          <a:noFill/>
          <a:ln/>
        </p:spPr>
        <p:txBody>
          <a:bodyPr wrap="square" lIns="0" tIns="0" rIns="0" bIns="0" rtlCol="0" anchor="t"/>
          <a:lstStyle/>
          <a:p>
            <a:pPr indent="0" marL="0">
              <a:buNone/>
            </a:pPr>
            <a:r>
              <a:rPr lang="en-US" sz="1500" b="1" dirty="0">
                <a:solidFill>
                  <a:schemeClr val="tx1"/>
                </a:solidFill>
              </a:rPr>
              <a:t>File d'erreurs + alarme</a:t>
            </a:r>
            <a:endParaRPr lang="en-US" sz="1500" dirty="0"/>
          </a:p>
        </p:txBody>
      </p:sp>
      <p:sp>
        <p:nvSpPr>
          <p:cNvPr id="16" name="texte-143"/>
          <p:cNvSpPr txBox="1"/>
          <p:nvPr/>
        </p:nvSpPr>
        <p:spPr>
          <a:xfrm>
            <a:off x="1417320" y="4453128"/>
            <a:ext cx="4343400" cy="457200"/>
          </a:xfrm>
          <a:prstGeom prst="rect">
            <a:avLst/>
          </a:prstGeom>
          <a:noFill/>
          <a:ln/>
        </p:spPr>
        <p:txBody>
          <a:bodyPr wrap="square" lIns="0" tIns="0" rIns="0" bIns="0" rtlCol="0" anchor="t"/>
          <a:lstStyle/>
          <a:p>
            <a:pPr indent="0" marL="0">
              <a:buNone/>
            </a:pPr>
            <a:r>
              <a:rPr lang="en-US" sz="1300" dirty="0">
                <a:solidFill>
                  <a:schemeClr val="accent6"/>
                </a:solidFill>
              </a:rPr>
              <a:t>un message bloqué part en DLQ et déclenche CloudWatch</a:t>
            </a:r>
            <a:endParaRPr lang="en-US" sz="1300" dirty="0"/>
          </a:p>
        </p:txBody>
      </p:sp>
      <p:sp>
        <p:nvSpPr>
          <p:cNvPr id="17" name="pastille-144"/>
          <p:cNvSpPr/>
          <p:nvPr/>
        </p:nvSpPr>
        <p:spPr>
          <a:xfrm>
            <a:off x="868680" y="5102352"/>
            <a:ext cx="365760" cy="365760"/>
          </a:xfrm>
          <a:prstGeom prst="ellipse">
            <a:avLst/>
          </a:prstGeom>
          <a:solidFill>
            <a:schemeClr val="accent1"/>
          </a:solidFill>
          <a:ln w="12700">
            <a:solidFill>
              <a:schemeClr val="accent1"/>
            </a:solidFill>
            <a:prstDash val="solid"/>
          </a:ln>
        </p:spPr>
      </p:sp>
      <p:sp>
        <p:nvSpPr>
          <p:cNvPr id="18" name="pastille-texte-145"/>
          <p:cNvSpPr txBox="1"/>
          <p:nvPr/>
        </p:nvSpPr>
        <p:spPr>
          <a:xfrm>
            <a:off x="868680" y="5102352"/>
            <a:ext cx="365760" cy="365760"/>
          </a:xfrm>
          <a:prstGeom prst="rect">
            <a:avLst/>
          </a:prstGeom>
          <a:noFill/>
          <a:ln/>
        </p:spPr>
        <p:txBody>
          <a:bodyPr wrap="square" lIns="0" tIns="0" rIns="0" bIns="0" rtlCol="0" anchor="ctr"/>
          <a:lstStyle/>
          <a:p>
            <a:pPr algn="ctr" indent="0" marL="0">
              <a:buNone/>
            </a:pPr>
            <a:r>
              <a:rPr lang="en-US" sz="1100" b="1" dirty="0">
                <a:solidFill>
                  <a:schemeClr val="tx1"/>
                </a:solidFill>
              </a:rPr>
              <a:t>4</a:t>
            </a:r>
            <a:endParaRPr lang="en-US" sz="1100" dirty="0"/>
          </a:p>
        </p:txBody>
      </p:sp>
      <p:sp>
        <p:nvSpPr>
          <p:cNvPr id="19" name="texte-146"/>
          <p:cNvSpPr txBox="1"/>
          <p:nvPr/>
        </p:nvSpPr>
        <p:spPr>
          <a:xfrm>
            <a:off x="1417320" y="5029200"/>
            <a:ext cx="4343400" cy="320040"/>
          </a:xfrm>
          <a:prstGeom prst="rect">
            <a:avLst/>
          </a:prstGeom>
          <a:noFill/>
          <a:ln/>
        </p:spPr>
        <p:txBody>
          <a:bodyPr wrap="square" lIns="0" tIns="0" rIns="0" bIns="0" rtlCol="0" anchor="t"/>
          <a:lstStyle/>
          <a:p>
            <a:pPr indent="0" marL="0">
              <a:buNone/>
            </a:pPr>
            <a:r>
              <a:rPr lang="en-US" sz="1500" b="1" dirty="0">
                <a:solidFill>
                  <a:schemeClr val="tx1"/>
                </a:solidFill>
              </a:rPr>
              <a:t>Traitements idempotents</a:t>
            </a:r>
            <a:endParaRPr lang="en-US" sz="1500" dirty="0"/>
          </a:p>
        </p:txBody>
      </p:sp>
      <p:sp>
        <p:nvSpPr>
          <p:cNvPr id="20" name="texte-147"/>
          <p:cNvSpPr txBox="1"/>
          <p:nvPr/>
        </p:nvSpPr>
        <p:spPr>
          <a:xfrm>
            <a:off x="1417320" y="5367528"/>
            <a:ext cx="4343400" cy="457200"/>
          </a:xfrm>
          <a:prstGeom prst="rect">
            <a:avLst/>
          </a:prstGeom>
          <a:noFill/>
          <a:ln/>
        </p:spPr>
        <p:txBody>
          <a:bodyPr wrap="square" lIns="0" tIns="0" rIns="0" bIns="0" rtlCol="0" anchor="t"/>
          <a:lstStyle/>
          <a:p>
            <a:pPr indent="0" marL="0">
              <a:buNone/>
            </a:pPr>
            <a:r>
              <a:rPr lang="en-US" sz="1300" dirty="0">
                <a:solidFill>
                  <a:schemeClr val="accent6"/>
                </a:solidFill>
              </a:rPr>
              <a:t>rejouer un message ne crée pas de doublon</a:t>
            </a:r>
            <a:endParaRPr lang="en-US" sz="1300" dirty="0"/>
          </a:p>
        </p:txBody>
      </p:sp>
      <p:sp>
        <p:nvSpPr>
          <p:cNvPr id="21" name="carte-148"/>
          <p:cNvSpPr/>
          <p:nvPr/>
        </p:nvSpPr>
        <p:spPr>
          <a:xfrm>
            <a:off x="6172200" y="1417320"/>
            <a:ext cx="5440680" cy="4663440"/>
          </a:xfrm>
          <a:prstGeom prst="roundRect">
            <a:avLst>
              <a:gd name="adj" fmla="val 2353"/>
            </a:avLst>
          </a:prstGeom>
          <a:solidFill>
            <a:schemeClr val="accent5"/>
          </a:solidFill>
          <a:ln w="12700">
            <a:solidFill>
              <a:schemeClr val="accent5"/>
            </a:solidFill>
            <a:prstDash val="solid"/>
          </a:ln>
        </p:spPr>
      </p:sp>
      <p:sp>
        <p:nvSpPr>
          <p:cNvPr id="22" name="texte-149"/>
          <p:cNvSpPr txBox="1"/>
          <p:nvPr/>
        </p:nvSpPr>
        <p:spPr>
          <a:xfrm>
            <a:off x="6492240" y="1645920"/>
            <a:ext cx="4754880" cy="411480"/>
          </a:xfrm>
          <a:prstGeom prst="rect">
            <a:avLst/>
          </a:prstGeom>
          <a:noFill/>
          <a:ln/>
        </p:spPr>
        <p:txBody>
          <a:bodyPr wrap="square" lIns="0" tIns="0" rIns="0" bIns="0" rtlCol="0" anchor="t"/>
          <a:lstStyle/>
          <a:p>
            <a:pPr indent="0" marL="0">
              <a:buNone/>
            </a:pPr>
            <a:r>
              <a:rPr lang="en-US" sz="2000" b="1" dirty="0">
                <a:solidFill>
                  <a:schemeClr val="tx1"/>
                </a:solidFill>
              </a:rPr>
              <a:t>Sécurité</a:t>
            </a:r>
            <a:endParaRPr lang="en-US" sz="2000" dirty="0"/>
          </a:p>
        </p:txBody>
      </p:sp>
      <p:sp>
        <p:nvSpPr>
          <p:cNvPr id="23" name="pastille-150"/>
          <p:cNvSpPr/>
          <p:nvPr/>
        </p:nvSpPr>
        <p:spPr>
          <a:xfrm>
            <a:off x="6492240" y="2359152"/>
            <a:ext cx="365760" cy="365760"/>
          </a:xfrm>
          <a:prstGeom prst="ellipse">
            <a:avLst/>
          </a:prstGeom>
          <a:solidFill>
            <a:schemeClr val="tx1"/>
          </a:solidFill>
          <a:ln w="12700">
            <a:solidFill>
              <a:schemeClr val="tx1"/>
            </a:solidFill>
            <a:prstDash val="solid"/>
          </a:ln>
        </p:spPr>
      </p:sp>
      <p:sp>
        <p:nvSpPr>
          <p:cNvPr id="24" name="pastille-texte-151"/>
          <p:cNvSpPr txBox="1"/>
          <p:nvPr/>
        </p:nvSpPr>
        <p:spPr>
          <a:xfrm>
            <a:off x="6492240" y="2359152"/>
            <a:ext cx="365760" cy="365760"/>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25" name="texte-152"/>
          <p:cNvSpPr txBox="1"/>
          <p:nvPr/>
        </p:nvSpPr>
        <p:spPr>
          <a:xfrm>
            <a:off x="7040880" y="2286000"/>
            <a:ext cx="4343400" cy="320040"/>
          </a:xfrm>
          <a:prstGeom prst="rect">
            <a:avLst/>
          </a:prstGeom>
          <a:noFill/>
          <a:ln/>
        </p:spPr>
        <p:txBody>
          <a:bodyPr wrap="square" lIns="0" tIns="0" rIns="0" bIns="0" rtlCol="0" anchor="t"/>
          <a:lstStyle/>
          <a:p>
            <a:pPr indent="0" marL="0">
              <a:buNone/>
            </a:pPr>
            <a:r>
              <a:rPr lang="en-US" sz="1500" b="1" dirty="0">
                <a:solidFill>
                  <a:schemeClr val="tx1"/>
                </a:solidFill>
              </a:rPr>
              <a:t>Bucket S3 privé</a:t>
            </a:r>
            <a:endParaRPr lang="en-US" sz="1500" dirty="0"/>
          </a:p>
        </p:txBody>
      </p:sp>
      <p:sp>
        <p:nvSpPr>
          <p:cNvPr id="26" name="texte-153"/>
          <p:cNvSpPr txBox="1"/>
          <p:nvPr/>
        </p:nvSpPr>
        <p:spPr>
          <a:xfrm>
            <a:off x="7040880" y="2624328"/>
            <a:ext cx="4343400" cy="457200"/>
          </a:xfrm>
          <a:prstGeom prst="rect">
            <a:avLst/>
          </a:prstGeom>
          <a:noFill/>
          <a:ln/>
        </p:spPr>
        <p:txBody>
          <a:bodyPr wrap="square" lIns="0" tIns="0" rIns="0" bIns="0" rtlCol="0" anchor="t"/>
          <a:lstStyle/>
          <a:p>
            <a:pPr indent="0" marL="0">
              <a:buNone/>
            </a:pPr>
            <a:r>
              <a:rPr lang="en-US" sz="1300" dirty="0">
                <a:solidFill>
                  <a:schemeClr val="accent6"/>
                </a:solidFill>
              </a:rPr>
              <a:t>seul CloudFront le lit (Origin Access Control)</a:t>
            </a:r>
            <a:endParaRPr lang="en-US" sz="1300" dirty="0"/>
          </a:p>
        </p:txBody>
      </p:sp>
      <p:sp>
        <p:nvSpPr>
          <p:cNvPr id="27" name="pastille-154"/>
          <p:cNvSpPr/>
          <p:nvPr/>
        </p:nvSpPr>
        <p:spPr>
          <a:xfrm>
            <a:off x="6492240" y="3273552"/>
            <a:ext cx="365760" cy="365760"/>
          </a:xfrm>
          <a:prstGeom prst="ellipse">
            <a:avLst/>
          </a:prstGeom>
          <a:solidFill>
            <a:schemeClr val="tx1"/>
          </a:solidFill>
          <a:ln w="12700">
            <a:solidFill>
              <a:schemeClr val="tx1"/>
            </a:solidFill>
            <a:prstDash val="solid"/>
          </a:ln>
        </p:spPr>
      </p:sp>
      <p:sp>
        <p:nvSpPr>
          <p:cNvPr id="28" name="pastille-texte-155"/>
          <p:cNvSpPr txBox="1"/>
          <p:nvPr/>
        </p:nvSpPr>
        <p:spPr>
          <a:xfrm>
            <a:off x="6492240" y="3273552"/>
            <a:ext cx="365760" cy="365760"/>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29" name="texte-156"/>
          <p:cNvSpPr txBox="1"/>
          <p:nvPr/>
        </p:nvSpPr>
        <p:spPr>
          <a:xfrm>
            <a:off x="7040880" y="3200400"/>
            <a:ext cx="4343400" cy="320040"/>
          </a:xfrm>
          <a:prstGeom prst="rect">
            <a:avLst/>
          </a:prstGeom>
          <a:noFill/>
          <a:ln/>
        </p:spPr>
        <p:txBody>
          <a:bodyPr wrap="square" lIns="0" tIns="0" rIns="0" bIns="0" rtlCol="0" anchor="t"/>
          <a:lstStyle/>
          <a:p>
            <a:pPr indent="0" marL="0">
              <a:buNone/>
            </a:pPr>
            <a:r>
              <a:rPr lang="en-US" sz="1500" b="1" dirty="0">
                <a:solidFill>
                  <a:schemeClr val="tx1"/>
                </a:solidFill>
              </a:rPr>
              <a:t>Un rôle IAM par Lambda</a:t>
            </a:r>
            <a:endParaRPr lang="en-US" sz="1500" dirty="0"/>
          </a:p>
        </p:txBody>
      </p:sp>
      <p:sp>
        <p:nvSpPr>
          <p:cNvPr id="30" name="texte-157"/>
          <p:cNvSpPr txBox="1"/>
          <p:nvPr/>
        </p:nvSpPr>
        <p:spPr>
          <a:xfrm>
            <a:off x="7040880" y="3538728"/>
            <a:ext cx="4343400" cy="457200"/>
          </a:xfrm>
          <a:prstGeom prst="rect">
            <a:avLst/>
          </a:prstGeom>
          <a:noFill/>
          <a:ln/>
        </p:spPr>
        <p:txBody>
          <a:bodyPr wrap="square" lIns="0" tIns="0" rIns="0" bIns="0" rtlCol="0" anchor="t"/>
          <a:lstStyle/>
          <a:p>
            <a:pPr indent="0" marL="0">
              <a:buNone/>
            </a:pPr>
            <a:r>
              <a:rPr lang="en-US" sz="1300" dirty="0">
                <a:solidFill>
                  <a:schemeClr val="accent6"/>
                </a:solidFill>
              </a:rPr>
              <a:t>chaque fonction n'a que les droits dont elle a besoin</a:t>
            </a:r>
            <a:endParaRPr lang="en-US" sz="1300" dirty="0"/>
          </a:p>
        </p:txBody>
      </p:sp>
      <p:sp>
        <p:nvSpPr>
          <p:cNvPr id="31" name="pastille-158"/>
          <p:cNvSpPr/>
          <p:nvPr/>
        </p:nvSpPr>
        <p:spPr>
          <a:xfrm>
            <a:off x="6492240" y="4187952"/>
            <a:ext cx="365760" cy="365760"/>
          </a:xfrm>
          <a:prstGeom prst="ellipse">
            <a:avLst/>
          </a:prstGeom>
          <a:solidFill>
            <a:schemeClr val="tx1"/>
          </a:solidFill>
          <a:ln w="12700">
            <a:solidFill>
              <a:schemeClr val="tx1"/>
            </a:solidFill>
            <a:prstDash val="solid"/>
          </a:ln>
        </p:spPr>
      </p:sp>
      <p:sp>
        <p:nvSpPr>
          <p:cNvPr id="32" name="pastille-texte-159"/>
          <p:cNvSpPr txBox="1"/>
          <p:nvPr/>
        </p:nvSpPr>
        <p:spPr>
          <a:xfrm>
            <a:off x="6492240" y="4187952"/>
            <a:ext cx="365760" cy="365760"/>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33" name="texte-160"/>
          <p:cNvSpPr txBox="1"/>
          <p:nvPr/>
        </p:nvSpPr>
        <p:spPr>
          <a:xfrm>
            <a:off x="7040880" y="4114800"/>
            <a:ext cx="4343400" cy="320040"/>
          </a:xfrm>
          <a:prstGeom prst="rect">
            <a:avLst/>
          </a:prstGeom>
          <a:noFill/>
          <a:ln/>
        </p:spPr>
        <p:txBody>
          <a:bodyPr wrap="square" lIns="0" tIns="0" rIns="0" bIns="0" rtlCol="0" anchor="t"/>
          <a:lstStyle/>
          <a:p>
            <a:pPr indent="0" marL="0">
              <a:buNone/>
            </a:pPr>
            <a:r>
              <a:rPr lang="en-US" sz="1500" b="1" dirty="0">
                <a:solidFill>
                  <a:schemeClr val="tx1"/>
                </a:solidFill>
              </a:rPr>
              <a:t>Prix calculés côté serveur</a:t>
            </a:r>
            <a:endParaRPr lang="en-US" sz="1500" dirty="0"/>
          </a:p>
        </p:txBody>
      </p:sp>
      <p:sp>
        <p:nvSpPr>
          <p:cNvPr id="34" name="texte-161"/>
          <p:cNvSpPr txBox="1"/>
          <p:nvPr/>
        </p:nvSpPr>
        <p:spPr>
          <a:xfrm>
            <a:off x="7040880" y="4453128"/>
            <a:ext cx="4343400" cy="457200"/>
          </a:xfrm>
          <a:prstGeom prst="rect">
            <a:avLst/>
          </a:prstGeom>
          <a:noFill/>
          <a:ln/>
        </p:spPr>
        <p:txBody>
          <a:bodyPr wrap="square" lIns="0" tIns="0" rIns="0" bIns="0" rtlCol="0" anchor="t"/>
          <a:lstStyle/>
          <a:p>
            <a:pPr indent="0" marL="0">
              <a:buNone/>
            </a:pPr>
            <a:r>
              <a:rPr lang="en-US" sz="1300" dirty="0">
                <a:solidFill>
                  <a:schemeClr val="accent6"/>
                </a:solidFill>
              </a:rPr>
              <a:t>le navigateur n'envoie que des identifiants et des quantités</a:t>
            </a:r>
            <a:endParaRPr lang="en-US" sz="1300" dirty="0"/>
          </a:p>
        </p:txBody>
      </p:sp>
      <p:sp>
        <p:nvSpPr>
          <p:cNvPr id="35" name="pastille-162"/>
          <p:cNvSpPr/>
          <p:nvPr/>
        </p:nvSpPr>
        <p:spPr>
          <a:xfrm>
            <a:off x="6492240" y="5102352"/>
            <a:ext cx="365760" cy="365760"/>
          </a:xfrm>
          <a:prstGeom prst="ellipse">
            <a:avLst/>
          </a:prstGeom>
          <a:solidFill>
            <a:schemeClr val="tx1"/>
          </a:solidFill>
          <a:ln w="12700">
            <a:solidFill>
              <a:schemeClr val="tx1"/>
            </a:solidFill>
            <a:prstDash val="solid"/>
          </a:ln>
        </p:spPr>
      </p:sp>
      <p:sp>
        <p:nvSpPr>
          <p:cNvPr id="36" name="pastille-texte-163"/>
          <p:cNvSpPr txBox="1"/>
          <p:nvPr/>
        </p:nvSpPr>
        <p:spPr>
          <a:xfrm>
            <a:off x="6492240" y="5102352"/>
            <a:ext cx="365760" cy="365760"/>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37" name="texte-164"/>
          <p:cNvSpPr txBox="1"/>
          <p:nvPr/>
        </p:nvSpPr>
        <p:spPr>
          <a:xfrm>
            <a:off x="7040880" y="5029200"/>
            <a:ext cx="4343400" cy="320040"/>
          </a:xfrm>
          <a:prstGeom prst="rect">
            <a:avLst/>
          </a:prstGeom>
          <a:noFill/>
          <a:ln/>
        </p:spPr>
        <p:txBody>
          <a:bodyPr wrap="square" lIns="0" tIns="0" rIns="0" bIns="0" rtlCol="0" anchor="t"/>
          <a:lstStyle/>
          <a:p>
            <a:pPr indent="0" marL="0">
              <a:buNone/>
            </a:pPr>
            <a:r>
              <a:rPr lang="en-US" sz="1500" b="1" dirty="0">
                <a:solidFill>
                  <a:schemeClr val="tx1"/>
                </a:solidFill>
              </a:rPr>
              <a:t>Jeton Cognito vérifié</a:t>
            </a:r>
            <a:endParaRPr lang="en-US" sz="1500" dirty="0"/>
          </a:p>
        </p:txBody>
      </p:sp>
      <p:sp>
        <p:nvSpPr>
          <p:cNvPr id="38" name="texte-165"/>
          <p:cNvSpPr txBox="1"/>
          <p:nvPr/>
        </p:nvSpPr>
        <p:spPr>
          <a:xfrm>
            <a:off x="7040880" y="5367528"/>
            <a:ext cx="4343400" cy="457200"/>
          </a:xfrm>
          <a:prstGeom prst="rect">
            <a:avLst/>
          </a:prstGeom>
          <a:noFill/>
          <a:ln/>
        </p:spPr>
        <p:txBody>
          <a:bodyPr wrap="square" lIns="0" tIns="0" rIns="0" bIns="0" rtlCol="0" anchor="t"/>
          <a:lstStyle/>
          <a:p>
            <a:pPr indent="0" marL="0">
              <a:buNone/>
            </a:pPr>
            <a:r>
              <a:rPr lang="en-US" sz="1300" dirty="0">
                <a:solidFill>
                  <a:schemeClr val="accent6"/>
                </a:solidFill>
              </a:rPr>
              <a:t>par API Gateway, avant notre code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77240"/>
          </a:xfrm>
          <a:prstGeom prst="rect">
            <a:avLst/>
          </a:prstGeom>
          <a:noFill/>
          <a:ln/>
        </p:spPr>
        <p:txBody>
          <a:bodyPr wrap="square" lIns="0" tIns="0" rIns="0" bIns="0" rtlCol="0" anchor="ctr"/>
          <a:lstStyle/>
          <a:p>
            <a:pPr algn="l" indent="0" marL="0">
              <a:buNone/>
            </a:pPr>
            <a:r>
              <a:rPr lang="en-US" sz="3000" b="1" dirty="0">
                <a:solidFill>
                  <a:schemeClr val="tx1"/>
                </a:solidFill>
              </a:rPr>
              <a:t>0 € par mois, grâce à des choix précis</a:t>
            </a:r>
            <a:endParaRPr lang="en-US" sz="3000" dirty="0"/>
          </a:p>
        </p:txBody>
      </p:sp>
      <p:sp>
        <p:nvSpPr>
          <p:cNvPr id="3" name="carte-166"/>
          <p:cNvSpPr/>
          <p:nvPr/>
        </p:nvSpPr>
        <p:spPr>
          <a:xfrm>
            <a:off x="548640" y="1417320"/>
            <a:ext cx="3291840" cy="4663440"/>
          </a:xfrm>
          <a:prstGeom prst="roundRect">
            <a:avLst>
              <a:gd name="adj" fmla="val 3333"/>
            </a:avLst>
          </a:prstGeom>
          <a:solidFill>
            <a:schemeClr val="tx1"/>
          </a:solidFill>
          <a:ln w="12700">
            <a:solidFill>
              <a:schemeClr val="tx1"/>
            </a:solidFill>
            <a:prstDash val="solid"/>
          </a:ln>
        </p:spPr>
      </p:sp>
      <p:sp>
        <p:nvSpPr>
          <p:cNvPr id="4" name="texte-167"/>
          <p:cNvSpPr txBox="1"/>
          <p:nvPr/>
        </p:nvSpPr>
        <p:spPr>
          <a:xfrm>
            <a:off x="868680" y="1737360"/>
            <a:ext cx="2743200" cy="1188720"/>
          </a:xfrm>
          <a:prstGeom prst="rect">
            <a:avLst/>
          </a:prstGeom>
          <a:noFill/>
          <a:ln/>
        </p:spPr>
        <p:txBody>
          <a:bodyPr wrap="square" lIns="0" tIns="0" rIns="0" bIns="0" rtlCol="0" anchor="t"/>
          <a:lstStyle/>
          <a:p>
            <a:pPr indent="0" marL="0">
              <a:buNone/>
            </a:pPr>
            <a:r>
              <a:rPr lang="en-US" sz="7200" b="1" dirty="0">
                <a:solidFill>
                  <a:schemeClr val="accent1"/>
                </a:solidFill>
              </a:rPr>
              <a:t>0 €</a:t>
            </a:r>
            <a:endParaRPr lang="en-US" sz="7200" dirty="0"/>
          </a:p>
        </p:txBody>
      </p:sp>
      <p:sp>
        <p:nvSpPr>
          <p:cNvPr id="5" name="texte-168"/>
          <p:cNvSpPr txBox="1"/>
          <p:nvPr/>
        </p:nvSpPr>
        <p:spPr>
          <a:xfrm>
            <a:off x="868680" y="3017520"/>
            <a:ext cx="2697480" cy="914400"/>
          </a:xfrm>
          <a:prstGeom prst="rect">
            <a:avLst/>
          </a:prstGeom>
          <a:noFill/>
          <a:ln/>
        </p:spPr>
        <p:txBody>
          <a:bodyPr wrap="square" lIns="0" tIns="0" rIns="0" bIns="0" rtlCol="0" anchor="t"/>
          <a:lstStyle/>
          <a:p>
            <a:pPr indent="0" marL="0">
              <a:buNone/>
            </a:pPr>
            <a:r>
              <a:rPr lang="en-US" sz="1600" dirty="0">
                <a:solidFill>
                  <a:schemeClr val="bg1"/>
                </a:solidFill>
              </a:rPr>
              <a:t>Tous les services restent dans l'offre gratuite AWS</a:t>
            </a:r>
            <a:endParaRPr lang="en-US" sz="1600" dirty="0"/>
          </a:p>
        </p:txBody>
      </p:sp>
      <p:sp>
        <p:nvSpPr>
          <p:cNvPr id="6" name="texte-169"/>
          <p:cNvSpPr txBox="1"/>
          <p:nvPr/>
        </p:nvSpPr>
        <p:spPr>
          <a:xfrm>
            <a:off x="868680" y="5074920"/>
            <a:ext cx="2697480" cy="731520"/>
          </a:xfrm>
          <a:prstGeom prst="rect">
            <a:avLst/>
          </a:prstGeom>
          <a:noFill/>
          <a:ln/>
        </p:spPr>
        <p:txBody>
          <a:bodyPr wrap="square" lIns="0" tIns="0" rIns="0" bIns="0" rtlCol="0" anchor="t"/>
          <a:lstStyle/>
          <a:p>
            <a:pPr indent="0" marL="0">
              <a:buNone/>
            </a:pPr>
            <a:r>
              <a:rPr lang="en-US" sz="1200" dirty="0">
                <a:solidFill>
                  <a:schemeClr val="bg2"/>
                </a:solidFill>
              </a:rPr>
              <a:t>Budget AWS avec alerte à 1 $ sur le compte</a:t>
            </a:r>
            <a:endParaRPr lang="en-US" sz="1200" dirty="0"/>
          </a:p>
        </p:txBody>
      </p:sp>
      <p:graphicFrame>
        <p:nvGraphicFramePr>
          <p:cNvPr id="8" name="tableau-couts"/>
          <p:cNvGraphicFramePr>
            <a:graphicFrameLocks noGrp="1"/>
          </p:cNvGraphicFramePr>
          <p:nvPr>
            <p:extLst>
              <p:ext uri="{D42A27DB-BD31-4B8C-83A1-F6EECF244321}">
                <p14:modId xmlns:p14="http://schemas.microsoft.com/office/powerpoint/2010/main" val="1579011935"/>
              </p:ext>
            </p:extLst>
          </p:nvPr>
        </p:nvGraphicFramePr>
        <p:xfrm>
          <a:off x="4206240" y="1417320"/>
          <a:ext cx="7406640" cy="914400"/>
        </p:xfrm>
        <a:graphic>
          <a:graphicData uri="http://schemas.openxmlformats.org/drawingml/2006/table">
            <a:tbl>
              <a:tblPr/>
              <a:tblGrid>
                <a:gridCol w="1737360"/>
                <a:gridCol w="2651760"/>
                <a:gridCol w="3017520"/>
              </a:tblGrid>
              <a:tr h="548640">
                <a:tc>
                  <a:txBody>
                    <a:bodyPr/>
                    <a:lstStyle/>
                    <a:p>
                      <a:pPr indent="0" marL="0">
                        <a:buNone/>
                      </a:pPr>
                      <a:r>
                        <a:rPr lang="en-US" sz="1300" b="1" dirty="0">
                          <a:solidFill>
                            <a:schemeClr val="bg1"/>
                          </a:solidFill>
                        </a:rPr>
                        <a:t>Service</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300" b="1" dirty="0">
                          <a:solidFill>
                            <a:schemeClr val="bg1"/>
                          </a:solidFill>
                        </a:rPr>
                        <a:t>Notre choix</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300" b="1" dirty="0">
                          <a:solidFill>
                            <a:schemeClr val="bg1"/>
                          </a:solidFill>
                        </a:rPr>
                        <a:t>Pourquoi c'est gratuit</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tx1"/>
                    </a:solidFill>
                  </a:tcPr>
                </a:tc>
              </a:tr>
              <a:tr h="548640">
                <a:tc>
                  <a:txBody>
                    <a:bodyPr/>
                    <a:lstStyle/>
                    <a:p>
                      <a:pPr indent="0" marL="0">
                        <a:buNone/>
                      </a:pPr>
                      <a:r>
                        <a:rPr lang="en-US" sz="1300" dirty="0">
                          <a:solidFill>
                            <a:schemeClr val="tx1"/>
                          </a:solidFill>
                        </a:rPr>
                        <a:t>Lambda</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128 Mo, arm64</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1 M d'appels / mois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548640">
                <a:tc>
                  <a:txBody>
                    <a:bodyPr/>
                    <a:lstStyle/>
                    <a:p>
                      <a:pPr indent="0" marL="0">
                        <a:buNone/>
                      </a:pPr>
                      <a:r>
                        <a:rPr lang="en-US" sz="1300" dirty="0">
                          <a:solidFill>
                            <a:schemeClr val="tx1"/>
                          </a:solidFill>
                        </a:rPr>
                        <a:t>DynamoDB</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Provisionné 5/5</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25 lectures / écritures par seconde</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548640">
                <a:tc>
                  <a:txBody>
                    <a:bodyPr/>
                    <a:lstStyle/>
                    <a:p>
                      <a:pPr indent="0" marL="0">
                        <a:buNone/>
                      </a:pPr>
                      <a:r>
                        <a:rPr lang="en-US" sz="1300" dirty="0">
                          <a:solidFill>
                            <a:schemeClr val="tx1"/>
                          </a:solidFill>
                        </a:rPr>
                        <a:t>Step Functions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États Wait</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4 000 transitions / mois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548640">
                <a:tc>
                  <a:txBody>
                    <a:bodyPr/>
                    <a:lstStyle/>
                    <a:p>
                      <a:pPr indent="0" marL="0">
                        <a:buNone/>
                      </a:pPr>
                      <a:r>
                        <a:rPr lang="en-US" sz="1300" dirty="0">
                          <a:solidFill>
                            <a:schemeClr val="tx1"/>
                          </a:solidFill>
                        </a:rPr>
                        <a:t>SNS / SQS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Standard</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1 M de requêtes / mois chacun</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548640">
                <a:tc>
                  <a:txBody>
                    <a:bodyPr/>
                    <a:lstStyle/>
                    <a:p>
                      <a:pPr indent="0" marL="0">
                        <a:buNone/>
                      </a:pPr>
                      <a:r>
                        <a:rPr lang="en-US" sz="1300" dirty="0">
                          <a:solidFill>
                            <a:schemeClr val="tx1"/>
                          </a:solidFill>
                        </a:rPr>
                        <a:t>Amazon SES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Sandbox</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rPr>
                        <a:t>3 000 e-mails / mois (12 mois)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548640">
                <a:tc>
                  <a:txBody>
                    <a:bodyPr/>
                    <a:lstStyle/>
                    <a:p>
                      <a:pPr indent="0" marL="0">
                        <a:buNone/>
                      </a:pPr>
                      <a:r>
                        <a:rPr lang="en-US" sz="1300" dirty="0">
                          <a:solidFill>
                            <a:schemeClr val="tx1"/>
                          </a:solidFill>
                        </a:rPr>
                        <a:t>Cognito</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User pool</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rPr>
                        <a:t>10 000 utilisateurs actifs / mois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548640">
                <a:tc>
                  <a:txBody>
                    <a:bodyPr/>
                    <a:lstStyle/>
                    <a:p>
                      <a:pPr indent="0" marL="0">
                        <a:buNone/>
                      </a:pPr>
                      <a:r>
                        <a:rPr lang="en-US" sz="1300" b="1" dirty="0">
                          <a:solidFill>
                            <a:schemeClr val="tx1"/>
                          </a:solidFill>
                        </a:rPr>
                        <a:t>Kafka (MSK)</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accent5"/>
                    </a:solidFill>
                  </a:tcPr>
                </a:tc>
                <a:tc>
                  <a:txBody>
                    <a:bodyPr/>
                    <a:lstStyle/>
                    <a:p>
                      <a:pPr indent="0" marL="0">
                        <a:buNone/>
                      </a:pPr>
                      <a:r>
                        <a:rPr lang="en-US" sz="1300" dirty="0">
                          <a:solidFill>
                            <a:schemeClr val="tx1"/>
                          </a:solidFill>
                        </a:rPr>
                        <a:t>Remplacé par DynamoDB Streams</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accent5"/>
                    </a:solidFill>
                  </a:tcPr>
                </a:tc>
                <a:tc>
                  <a:txBody>
                    <a:bodyPr/>
                    <a:lstStyle/>
                    <a:p>
                      <a:pPr indent="0" marL="0">
                        <a:buNone/>
                      </a:pPr>
                      <a:r>
                        <a:rPr lang="en-US" sz="1300" dirty="0">
                          <a:solidFill>
                            <a:schemeClr val="tx1"/>
                          </a:solidFill>
                        </a:rPr>
                        <a:t>MSK n'a pas d'offre gratuite</a:t>
                      </a:r>
                      <a:endParaRPr lang="en-US" sz="1300" dirty="0"/>
                    </a:p>
                  </a:txBody>
                  <a:tcPr marL="109728" marR="109728" marT="0" marB="0" anchor="ctr">
                    <a:lnL w="0" cap="flat" cmpd="sng" algn="ctr">
                      <a:noFill/>
                    </a:lnL>
                    <a:lnR w="0" cap="flat" cmpd="sng" algn="ctr">
                      <a:noFill/>
                    </a:lnR>
                    <a:lnT w="0" cap="flat" cmpd="sng" algn="ctr">
                      <a:noFill/>
                    </a:lnT>
                    <a:lnB w="0" cap="flat" cmpd="sng" algn="ctr">
                      <a:noFill/>
                    </a:lnB>
                    <a:solidFill>
                      <a:schemeClr val="accent5"/>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e-170"/>
          <p:cNvSpPr txBox="1"/>
          <p:nvPr/>
        </p:nvSpPr>
        <p:spPr>
          <a:xfrm>
            <a:off x="640080" y="731520"/>
            <a:ext cx="10058400" cy="822960"/>
          </a:xfrm>
          <a:prstGeom prst="rect">
            <a:avLst/>
          </a:prstGeom>
          <a:noFill/>
          <a:ln/>
        </p:spPr>
        <p:txBody>
          <a:bodyPr wrap="square" lIns="0" tIns="0" rIns="0" bIns="0" rtlCol="0" anchor="t"/>
          <a:lstStyle/>
          <a:p>
            <a:pPr indent="0" marL="0">
              <a:buNone/>
            </a:pPr>
            <a:r>
              <a:rPr lang="en-US" sz="4000" b="1" dirty="0">
                <a:solidFill>
                  <a:schemeClr val="bg1"/>
                </a:solidFill>
              </a:rPr>
              <a:t>Ce qu'on retient</a:t>
            </a:r>
            <a:endParaRPr lang="en-US" sz="4000" dirty="0"/>
          </a:p>
        </p:txBody>
      </p:sp>
      <p:sp>
        <p:nvSpPr>
          <p:cNvPr id="3" name="texte-171"/>
          <p:cNvSpPr txBox="1"/>
          <p:nvPr/>
        </p:nvSpPr>
        <p:spPr>
          <a:xfrm>
            <a:off x="640080" y="2103120"/>
            <a:ext cx="3383280" cy="1005840"/>
          </a:xfrm>
          <a:prstGeom prst="rect">
            <a:avLst/>
          </a:prstGeom>
          <a:noFill/>
          <a:ln/>
        </p:spPr>
        <p:txBody>
          <a:bodyPr wrap="square" lIns="0" tIns="0" rIns="0" bIns="0" rtlCol="0" anchor="t"/>
          <a:lstStyle/>
          <a:p>
            <a:pPr indent="0" marL="0">
              <a:buNone/>
            </a:pPr>
            <a:r>
              <a:rPr lang="en-US" sz="5400" b="1" dirty="0">
                <a:solidFill>
                  <a:schemeClr val="accent1"/>
                </a:solidFill>
              </a:rPr>
              <a:t>11</a:t>
            </a:r>
            <a:endParaRPr lang="en-US" sz="5400" dirty="0"/>
          </a:p>
        </p:txBody>
      </p:sp>
      <p:sp>
        <p:nvSpPr>
          <p:cNvPr id="4" name="texte-172"/>
          <p:cNvSpPr txBox="1"/>
          <p:nvPr/>
        </p:nvSpPr>
        <p:spPr>
          <a:xfrm>
            <a:off x="640080" y="3154680"/>
            <a:ext cx="3383280" cy="411480"/>
          </a:xfrm>
          <a:prstGeom prst="rect">
            <a:avLst/>
          </a:prstGeom>
          <a:noFill/>
          <a:ln/>
        </p:spPr>
        <p:txBody>
          <a:bodyPr wrap="square" lIns="0" tIns="0" rIns="0" bIns="0" rtlCol="0" anchor="t"/>
          <a:lstStyle/>
          <a:p>
            <a:pPr indent="0" marL="0">
              <a:buNone/>
            </a:pPr>
            <a:r>
              <a:rPr lang="en-US" sz="2000" b="1" dirty="0">
                <a:solidFill>
                  <a:schemeClr val="bg1"/>
                </a:solidFill>
              </a:rPr>
              <a:t>services AWS</a:t>
            </a:r>
            <a:endParaRPr lang="en-US" sz="2000" dirty="0"/>
          </a:p>
        </p:txBody>
      </p:sp>
      <p:sp>
        <p:nvSpPr>
          <p:cNvPr id="5" name="texte-173"/>
          <p:cNvSpPr txBox="1"/>
          <p:nvPr/>
        </p:nvSpPr>
        <p:spPr>
          <a:xfrm>
            <a:off x="640080" y="3566160"/>
            <a:ext cx="3383280" cy="365760"/>
          </a:xfrm>
          <a:prstGeom prst="rect">
            <a:avLst/>
          </a:prstGeom>
          <a:noFill/>
          <a:ln/>
        </p:spPr>
        <p:txBody>
          <a:bodyPr wrap="square" lIns="0" tIns="0" rIns="0" bIns="0" rtlCol="0" anchor="t"/>
          <a:lstStyle/>
          <a:p>
            <a:pPr indent="0" marL="0">
              <a:buNone/>
            </a:pPr>
            <a:r>
              <a:rPr lang="en-US" sz="1400" dirty="0">
                <a:solidFill>
                  <a:schemeClr val="bg2"/>
                </a:solidFill>
              </a:rPr>
              <a:t>intégrés et déployés</a:t>
            </a:r>
            <a:endParaRPr lang="en-US" sz="1400" dirty="0"/>
          </a:p>
        </p:txBody>
      </p:sp>
      <p:sp>
        <p:nvSpPr>
          <p:cNvPr id="6" name="texte-174"/>
          <p:cNvSpPr txBox="1"/>
          <p:nvPr/>
        </p:nvSpPr>
        <p:spPr>
          <a:xfrm>
            <a:off x="4389120" y="2103120"/>
            <a:ext cx="3383280" cy="1005840"/>
          </a:xfrm>
          <a:prstGeom prst="rect">
            <a:avLst/>
          </a:prstGeom>
          <a:noFill/>
          <a:ln/>
        </p:spPr>
        <p:txBody>
          <a:bodyPr wrap="square" lIns="0" tIns="0" rIns="0" bIns="0" rtlCol="0" anchor="t"/>
          <a:lstStyle/>
          <a:p>
            <a:pPr indent="0" marL="0">
              <a:buNone/>
            </a:pPr>
            <a:r>
              <a:rPr lang="en-US" sz="5400" b="1" dirty="0">
                <a:solidFill>
                  <a:schemeClr val="accent1"/>
                </a:solidFill>
              </a:rPr>
              <a:t>100 %</a:t>
            </a:r>
            <a:endParaRPr lang="en-US" sz="5400" dirty="0"/>
          </a:p>
        </p:txBody>
      </p:sp>
      <p:sp>
        <p:nvSpPr>
          <p:cNvPr id="7" name="texte-175"/>
          <p:cNvSpPr txBox="1"/>
          <p:nvPr/>
        </p:nvSpPr>
        <p:spPr>
          <a:xfrm>
            <a:off x="4389120" y="3154680"/>
            <a:ext cx="3383280" cy="411480"/>
          </a:xfrm>
          <a:prstGeom prst="rect">
            <a:avLst/>
          </a:prstGeom>
          <a:noFill/>
          <a:ln/>
        </p:spPr>
        <p:txBody>
          <a:bodyPr wrap="square" lIns="0" tIns="0" rIns="0" bIns="0" rtlCol="0" anchor="t"/>
          <a:lstStyle/>
          <a:p>
            <a:pPr indent="0" marL="0">
              <a:buNone/>
            </a:pPr>
            <a:r>
              <a:rPr lang="en-US" sz="2000" b="1" dirty="0">
                <a:solidFill>
                  <a:schemeClr val="bg1"/>
                </a:solidFill>
              </a:rPr>
              <a:t>Terraform</a:t>
            </a:r>
            <a:endParaRPr lang="en-US" sz="2000" dirty="0"/>
          </a:p>
        </p:txBody>
      </p:sp>
      <p:sp>
        <p:nvSpPr>
          <p:cNvPr id="8" name="texte-176"/>
          <p:cNvSpPr txBox="1"/>
          <p:nvPr/>
        </p:nvSpPr>
        <p:spPr>
          <a:xfrm>
            <a:off x="4389120" y="3566160"/>
            <a:ext cx="3383280" cy="365760"/>
          </a:xfrm>
          <a:prstGeom prst="rect">
            <a:avLst/>
          </a:prstGeom>
          <a:noFill/>
          <a:ln/>
        </p:spPr>
        <p:txBody>
          <a:bodyPr wrap="square" lIns="0" tIns="0" rIns="0" bIns="0" rtlCol="0" anchor="t"/>
          <a:lstStyle/>
          <a:p>
            <a:pPr indent="0" marL="0">
              <a:buNone/>
            </a:pPr>
            <a:r>
              <a:rPr lang="en-US" sz="1400" dirty="0">
                <a:solidFill>
                  <a:schemeClr val="bg2"/>
                </a:solidFill>
              </a:rPr>
              <a:t>un seul terraform apply</a:t>
            </a:r>
            <a:endParaRPr lang="en-US" sz="1400" dirty="0"/>
          </a:p>
        </p:txBody>
      </p:sp>
      <p:sp>
        <p:nvSpPr>
          <p:cNvPr id="9" name="texte-177"/>
          <p:cNvSpPr txBox="1"/>
          <p:nvPr/>
        </p:nvSpPr>
        <p:spPr>
          <a:xfrm>
            <a:off x="8138160" y="2103120"/>
            <a:ext cx="3383280" cy="1005840"/>
          </a:xfrm>
          <a:prstGeom prst="rect">
            <a:avLst/>
          </a:prstGeom>
          <a:noFill/>
          <a:ln/>
        </p:spPr>
        <p:txBody>
          <a:bodyPr wrap="square" lIns="0" tIns="0" rIns="0" bIns="0" rtlCol="0" anchor="t"/>
          <a:lstStyle/>
          <a:p>
            <a:pPr indent="0" marL="0">
              <a:buNone/>
            </a:pPr>
            <a:r>
              <a:rPr lang="en-US" sz="5400" b="1" dirty="0">
                <a:solidFill>
                  <a:schemeClr val="accent1"/>
                </a:solidFill>
              </a:rPr>
              <a:t>0 €</a:t>
            </a:r>
            <a:endParaRPr lang="en-US" sz="5400" dirty="0"/>
          </a:p>
        </p:txBody>
      </p:sp>
      <p:sp>
        <p:nvSpPr>
          <p:cNvPr id="10" name="texte-178"/>
          <p:cNvSpPr txBox="1"/>
          <p:nvPr/>
        </p:nvSpPr>
        <p:spPr>
          <a:xfrm>
            <a:off x="8138160" y="3154680"/>
            <a:ext cx="3383280" cy="411480"/>
          </a:xfrm>
          <a:prstGeom prst="rect">
            <a:avLst/>
          </a:prstGeom>
          <a:noFill/>
          <a:ln/>
        </p:spPr>
        <p:txBody>
          <a:bodyPr wrap="square" lIns="0" tIns="0" rIns="0" bIns="0" rtlCol="0" anchor="t"/>
          <a:lstStyle/>
          <a:p>
            <a:pPr indent="0" marL="0">
              <a:buNone/>
            </a:pPr>
            <a:r>
              <a:rPr lang="en-US" sz="2000" b="1" dirty="0">
                <a:solidFill>
                  <a:schemeClr val="bg1"/>
                </a:solidFill>
              </a:rPr>
              <a:t>par mois</a:t>
            </a:r>
            <a:endParaRPr lang="en-US" sz="2000" dirty="0"/>
          </a:p>
        </p:txBody>
      </p:sp>
      <p:sp>
        <p:nvSpPr>
          <p:cNvPr id="11" name="texte-179"/>
          <p:cNvSpPr txBox="1"/>
          <p:nvPr/>
        </p:nvSpPr>
        <p:spPr>
          <a:xfrm>
            <a:off x="8138160" y="3566160"/>
            <a:ext cx="3383280" cy="365760"/>
          </a:xfrm>
          <a:prstGeom prst="rect">
            <a:avLst/>
          </a:prstGeom>
          <a:noFill/>
          <a:ln/>
        </p:spPr>
        <p:txBody>
          <a:bodyPr wrap="square" lIns="0" tIns="0" rIns="0" bIns="0" rtlCol="0" anchor="t"/>
          <a:lstStyle/>
          <a:p>
            <a:pPr indent="0" marL="0">
              <a:buNone/>
            </a:pPr>
            <a:r>
              <a:rPr lang="en-US" sz="1400" dirty="0">
                <a:solidFill>
                  <a:schemeClr val="bg2"/>
                </a:solidFill>
              </a:rPr>
              <a:t>offre gratuite respectée</a:t>
            </a:r>
            <a:endParaRPr lang="en-US" sz="1400" dirty="0"/>
          </a:p>
        </p:txBody>
      </p:sp>
      <p:sp>
        <p:nvSpPr>
          <p:cNvPr id="12" name="carte-180"/>
          <p:cNvSpPr/>
          <p:nvPr/>
        </p:nvSpPr>
        <p:spPr>
          <a:xfrm>
            <a:off x="640080" y="4572000"/>
            <a:ext cx="10881360" cy="1371600"/>
          </a:xfrm>
          <a:prstGeom prst="roundRect">
            <a:avLst>
              <a:gd name="adj" fmla="val 8000"/>
            </a:avLst>
          </a:prstGeom>
          <a:solidFill>
            <a:schemeClr val="tx2"/>
          </a:solidFill>
          <a:ln w="12700">
            <a:solidFill>
              <a:schemeClr val="tx2"/>
            </a:solidFill>
            <a:prstDash val="solid"/>
          </a:ln>
        </p:spPr>
      </p:sp>
      <p:sp>
        <p:nvSpPr>
          <p:cNvPr id="13" name="texte-181"/>
          <p:cNvSpPr txBox="1"/>
          <p:nvPr/>
        </p:nvSpPr>
        <p:spPr>
          <a:xfrm>
            <a:off x="960120" y="4754880"/>
            <a:ext cx="10241280" cy="411480"/>
          </a:xfrm>
          <a:prstGeom prst="rect">
            <a:avLst/>
          </a:prstGeom>
          <a:noFill/>
          <a:ln/>
        </p:spPr>
        <p:txBody>
          <a:bodyPr wrap="square" lIns="0" tIns="0" rIns="0" bIns="0" rtlCol="0" anchor="t"/>
          <a:lstStyle/>
          <a:p>
            <a:pPr indent="0" marL="0">
              <a:buNone/>
            </a:pPr>
            <a:r>
              <a:rPr lang="en-US" sz="1800" b="1" dirty="0">
                <a:solidFill>
                  <a:schemeClr val="bg1"/>
                </a:solidFill>
              </a:rPr>
              <a:t>Suite : la solution 2 sur EC2</a:t>
            </a:r>
            <a:endParaRPr lang="en-US" sz="1800" dirty="0"/>
          </a:p>
        </p:txBody>
      </p:sp>
      <p:sp>
        <p:nvSpPr>
          <p:cNvPr id="14" name="texte-182"/>
          <p:cNvSpPr txBox="1"/>
          <p:nvPr/>
        </p:nvSpPr>
        <p:spPr>
          <a:xfrm>
            <a:off x="960120" y="5193792"/>
            <a:ext cx="10241280" cy="594360"/>
          </a:xfrm>
          <a:prstGeom prst="rect">
            <a:avLst/>
          </a:prstGeom>
          <a:noFill/>
          <a:ln/>
        </p:spPr>
        <p:txBody>
          <a:bodyPr wrap="square" lIns="0" tIns="0" rIns="0" bIns="0" rtlCol="0" anchor="t"/>
          <a:lstStyle/>
          <a:p>
            <a:pPr indent="0" marL="0">
              <a:buNone/>
            </a:pPr>
            <a:r>
              <a:rPr lang="en-US" sz="1400" dirty="0">
                <a:solidFill>
                  <a:schemeClr val="bg2"/>
                </a:solidFill>
              </a:rPr>
              <a:t>Même boutique sur une machine virtuelle, avec le même cœur SNS → SQS et un Kafka mono-nœud, pour comparer les deux approches.</a:t>
            </a:r>
            <a:endParaRPr lang="en-US" sz="1400" dirty="0"/>
          </a:p>
        </p:txBody>
      </p:sp>
      <p:sp>
        <p:nvSpPr>
          <p:cNvPr id="16" name="Text 0"/>
          <p:cNvSpPr/>
          <p:nvPr>
            <p:ph idx="100" type="title" hasCustomPrompt="1"/>
          </p:nvPr>
        </p:nvSpPr>
        <p:spPr>
          <a:xfrm>
            <a:off x="640080" y="2148840"/>
            <a:ext cx="6035040" cy="1737360"/>
          </a:xfrm>
          <a:prstGeom prst="rect">
            <a:avLst/>
          </a:prstGeom>
          <a:noFill/>
          <a:ln/>
        </p:spPr>
        <p:txBody>
          <a:bodyPr wrap="square" lIns="0" tIns="0" rIns="0" bIns="0" rtlCol="0" anchor="t"/>
          <a:lstStyle/>
          <a:p>
            <a:pPr algn="l" indent="0" marL="0">
              <a:buNone/>
            </a:pPr>
            <a:endParaRPr lang="en-US" sz="4000" dirty="0"/>
          </a:p>
        </p:txBody>
      </p:sp>
      <p:sp>
        <p:nvSpPr>
          <p:cNvPr id="17" name="Text 0"/>
          <p:cNvSpPr/>
          <p:nvPr>
            <p:ph idx="101" type="body" hasCustomPrompt="1"/>
          </p:nvPr>
        </p:nvSpPr>
        <p:spPr>
          <a:xfrm>
            <a:off x="640080" y="4069080"/>
            <a:ext cx="5852160" cy="914400"/>
          </a:xfrm>
          <a:prstGeom prst="rect">
            <a:avLst/>
          </a:prstGeom>
          <a:noFill/>
          <a:ln/>
        </p:spPr>
        <p:txBody>
          <a:bodyPr wrap="square" lIns="0" tIns="0" rIns="0" bIns="0" rtlCol="0" anchor="t"/>
          <a:lstStyle/>
          <a:p>
            <a:pPr algn="l" indent="0" marL="0">
              <a:buNone/>
            </a:pPr>
            <a:endParaRPr lang="en-US" sz="1800" dirty="0"/>
          </a:p>
        </p:txBody>
      </p:sp>
    </p:spTree>
  </p:cSld>
  <p:clrMapOvr>
    <a:masterClrMapping/>
  </p:clrMapOvr>
</p:sld>
</file>

<file path=ppt/theme/theme1.xml><?xml version="1.0" encoding="utf-8"?>
<a:theme xmlns:a="http://schemas.openxmlformats.org/drawingml/2006/main" name="Charte IMT">
  <a:themeElements>
    <a:clrScheme name="Charte IMT">
      <a:dk1>
        <a:srgbClr val="14223C"/>
      </a:dk1>
      <a:lt1>
        <a:srgbClr val="FFFFFF"/>
      </a:lt1>
      <a:dk2>
        <a:srgbClr val="0E1930"/>
      </a:dk2>
      <a:lt2>
        <a:srgbClr val="EDF3F4"/>
      </a:lt2>
      <a:accent1>
        <a:srgbClr val="00B8DE"/>
      </a:accent1>
      <a:accent2>
        <a:srgbClr val="14223C"/>
      </a:accent2>
      <a:accent3>
        <a:srgbClr val="1F8A4C"/>
      </a:accent3>
      <a:accent4>
        <a:srgbClr val="C76A00"/>
      </a:accent4>
      <a:accent5>
        <a:srgbClr val="E0F6FB"/>
      </a:accent5>
      <a:accent6>
        <a:srgbClr val="5B6B7C"/>
      </a:accent6>
      <a:hlink>
        <a:srgbClr val="007A94"/>
      </a:hlink>
      <a:folHlink>
        <a:srgbClr val="5B6B7C"/>
      </a:folHlink>
    </a:clrScheme>
    <a:fontScheme name="Charte IM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SHOP'IMT : une boutique en ligne serverless sur AWS</dc:title>
  <dc:subject>PptxGenJS Presentation</dc:subject>
  <dc:creator>Projet AWS FISA 2026</dc:creator>
  <cp:lastModifiedBy>Projet AWS FISA 2026</cp:lastModifiedBy>
  <cp:revision>1</cp:revision>
  <dcterms:created xsi:type="dcterms:W3CDTF">2026-10-27T10:30:13Z</dcterms:created>
  <dcterms:modified xsi:type="dcterms:W3CDTF">2026-10-27T10:30:13Z</dcterms:modified>
</cp:coreProperties>
</file>