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Gabin)" id="{579e7e39-731f-d59f-6bb4-a8aed7fc6cea}">
          <p14:sldIdLst>
            <p14:sldId id="256"/>
            <p14:sldId id="257"/>
            <p14:sldId id="258"/>
          </p14:sldIdLst>
        </p14:section>
        <p14:section name="Le moteur (Louison)" id="{bfd8478e-21e8-6c2f-17eb-da709ce0373d}">
          <p14:sldIdLst>
            <p14:sldId id="259"/>
            <p14:sldId id="260"/>
            <p14:sldId id="261"/>
          </p14:sldIdLst>
        </p14:section>
        <p14:section name="La vitrine et l'usine (Félix)" id="{e55c9390-6b59-21ce-69af-36f6ca15583d}">
          <p14:sldIdLst>
            <p14:sldId id="262"/>
            <p14:sldId id="263"/>
            <p14:sldId id="264"/>
            <p14:sldId id="265"/>
          </p14:sldIdLst>
        </p14:section>
        <p14:section name="Conclusion (Gabin et tous)" id="{1a2a6f3f-ca4b-320a-5180-cb72d422cf1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Entrer sans rien dire. Laisser « 23 h 47 » à l'écran trois secondes, regarder le jury.
« 23 h 47. Le sweat de la promo sort enfin. Trois cents étudiants cliquent sur Commander à la même seconde. » (pause)
« Levez la main si vous avez déjà commandé quelque chose en ligne ce mois-ci. » (attendre les mains)
« Gardez-la levée si vous savez ce qui se passe entre votre clic et le colis devant votre porte. » (les mains tombent, sourire)
« C'est exactement ce qu'on va vous montrer. Mais pas avec des schémas : avec votre commande. Sortez votre téléphone, scannez ce code, et commandez ce que vous voulez. C'est gratuit, c'est réel, et vous allez recevoir un vrai e-mail. »
Laisser 20 secondes pour scanner. Si quelqu'un commande : « Merci ! Votre commande vient de partir. Pendant que vous nous écoutez, elle traverse dix-sept services AWS. On la retrouve à la fin. »
Astuce : la première fois, AWS envoie un e-mail de vérification (SES est en mode test). Cliquer le lien, et la confirmation suit. Si personne ne scanne, Gabin commande lui-même sur son téléphone, projeté.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 Voici SHOP'IMT, la boutique des étudiants de l'IMT Nord Europe. »
« Trois promesses : aucun serveur à gérer, aucune commande perdue, zéro euro par mois. Tout est décrit en Terraform et tourne en deux environnements, dev et prod. »
Présenter l'équipe en une phrase : « Louison va vous montrer le moteur, Félix la vitrine et l'usine, et moi je vous ramène votre commande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Le sujet demandait un catalogue web, la commande, une confirmation en temps réel, l'audit et un traitement interne, plus du streaming type Kafka.
Pour chacune, un service AWS managé. Point clé : les prix sont recalculés côté serveur et le stock est réservé dans une transaction, donc on ne peut ni tricher sur le prix ni vendre un article épuisé.
Pour Kafka, DynamoDB Streams : même principe de journal d'événements ordonné, mais gratuit.
Transition : « Louison, qu'est-ce qui arrive à la commande du jury, là, maintenant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 Suivons la commande du jury, de gauche à droite. »
CloudFront sert le site, stocké dans S3, et l'API. API Gateway appelle la Lambda commandes, qui écrit la commande dans DynamoDB.
On ne publie pas directement sur SNS : DynamoDB Streams déclenche la Lambda publication. C'est le motif outbox : si la commande est enregistrée, l'événement partira forcément.
SNS diffuse l'événement à trois abonnés indépendants : le traitement avec Step Functions, l'audit dans S3, et l'e-mail via SES. EventBridge Scheduler programme le rappel la veille de la livraison et le récapitulatif de 21 h.
Cognito gère les comptes et les rôles ; Amazon Translate traduit le nom des produits pour la version anglaise.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Le traitement interne : un vrai parcours logistique simulé avec Step Functions.
À chaque commande, la machine à états tire un transporteur et des délais au hasard ; une fois sur quatre, un incident de transport.
Chaque étape écrit le statut directement dans DynamoDB, sans Lambda intermédiaire. La page de suivi, accessible depuis l'e-mail, l'affiche en direct.
« Lors de notre test, une commande est passée de reçue à livrée en 32 secondes. Celle du jury est sans doute déjà en préparation.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Une boutique a besoin de gérants, mais pas tous avec les mêmes droits.
Sur le site, trois groupes Cognito : admins, ventes, stock. Le jeton de connexion porte le groupe ; API Gateway vérifie le jeton (401), puis la Lambda vérifie le rôle route par route (403). Le front n'affiche que les onglets permis.
Le même principe dans AWS : Gabin n'est plus administrateur du compte. Son groupe IAM lui permet de lire le catalogue dans DynamoDB et de modifier uniquement l'attribut stock. Le simulateur de politiques IAM le confirme : changer le stock, autorisé ; changer le prix, refusé.
Clin d'œil possible : « Gabin peut remplir les rayons, mais pas brader les sweats.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La vitrine. Le front est en Vue 3 avec TypeScript, compilé puis servi par CloudFront depuis S3.
Le site parle français et anglais : une CloudFront Function lit la langue du navigateur à la première visite, Amazon Translate traduit le nom des produits une seule fois puis le garde dans DynamoDB, et les e-mails SES partent dans la langue de la commande.
Sur téléphone, la navigation passe en bas de l'écran. Avec Cognito, on crée un compte et on retrouve toutes ses commandes.
Précision honnête : la mise en page mobile, c'est du CSS, pas un service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Retour au scénario de Gabin : 300 commandes à la même seconde. À gauche, ce qui garantit qu'aucune ne se perd : l'événement est dérivé de l'écriture en base, SQS et Streams relancent en cas d'erreur, un message bloqué part en file d'erreurs et déclenche une alarme CloudWatch. Rejouer un message ne crée jamais de doublon.
À droite, la sécurité : bucket privé, un rôle IAM par Lambda, le prix n'est jamais fourni par le navigateur, et CloudTrail garde la trace de chaque action sur le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L'usine. Tout est en Terraform, dans un seul module réutilisé par deux environnements : dev et prod.
À chaque pull request, GitHub Actions lance les tests, le lint, le build et un terraform plan de dev et de prod, affiché dans la PR. Au merge, terraform apply déploie.
GitHub ne stocke aucune clé AWS : il présente un jeton OIDC à IAM et reçoit des identifiants valables une heure, limités à ce dépôt.
L'état Terraform vit dans S3, versionné et verrouillé ; les réglages personnels comme les adresses e-mail sont dans SSM Parameter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Contrainte : coût zéro, tenue avec deux environnements.
DynamoDB est en mode provisionné, seul mode avec une offre gratuite permanente : 5 unités en prod, 1 en dev, soit 24 des 25 gratuites. Les Lambdas tournent sur ARM. Translate ne traduit chaque nom qu'une fois.
Pour Kafka : Amazon MSK est facturé dès la première heure. DynamoDB Streams donne le même modèle de flux ordonné et rejouable, gratuitement ; MSK reste la cible pour un vrai volume.
Transition : « Gabin, et la commande du jury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puis tous]
Gabin boucle la boucle : se tourner vers le membre du jury qui a commandé. « Au début, vous avez commandé. Ouvrez votre boîte mail. » Montrer sur l'écran la page de suivi : livrée (ou en livraison). « Pendant dix minutes, votre commande a traversé dix-sept services AWS, et personne n'a touché un serveur. »
Puis chacun une phrase : Louison sur le moteur événementiel et les rôles, Félix sur Terraform et le zéro euro, Gabin sur la suite EC2.
Gabin conclut : « 23 h 47, trois cents commandes : on est prêts. Merci. Vos questions ? »
Services : CloudFront, S3, API Gateway, Lambda, DynamoDB, SNS, SQS, Step Functions, SES, Cognito, Translate, EventBridge Scheduler, CloudWatch, CloudTrail, IAM, SSM Parameter Store,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48840"/>
            <a:ext cx="60350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4069080"/>
            <a:ext cx="5852160" cy="914400"/>
          </a:xfrm>
          <a:prstGeom prst="rect">
            <a:avLst/>
          </a:prstGeom>
          <a:noFill/>
          <a:ln/>
        </p:spPr>
        <p:txBody>
          <a:bodyPr wrap="square" rtlCol="0"/>
          <a:lstStyle>
            <a:lvl1pPr algn="l" indent="0" marL="0">
              <a:buNone/>
              <a:defRPr lang="en-US" sz="1800" dirty="0">
                <a:solidFill>
                  <a:schemeClr val="accent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SHOP'IMT · Projet AWS FISA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rateur-1"/>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e-3"/>
          <p:cNvSpPr txBox="1"/>
          <p:nvPr/>
        </p:nvSpPr>
        <p:spPr>
          <a:xfrm>
            <a:off x="640080" y="822960"/>
            <a:ext cx="7315200" cy="1280160"/>
          </a:xfrm>
          <a:prstGeom prst="rect">
            <a:avLst/>
          </a:prstGeom>
          <a:noFill/>
          <a:ln/>
        </p:spPr>
        <p:txBody>
          <a:bodyPr wrap="square" lIns="0" tIns="0" rIns="0" bIns="0" rtlCol="0" anchor="t"/>
          <a:lstStyle/>
          <a:p>
            <a:pPr indent="0" marL="0">
              <a:buNone/>
            </a:pPr>
            <a:r>
              <a:rPr lang="en-US" sz="8000" b="1" dirty="0">
                <a:solidFill>
                  <a:schemeClr val="bg1"/>
                </a:solidFill>
              </a:rPr>
              <a:t>23 h 47.</a:t>
            </a:r>
            <a:endParaRPr lang="en-US" sz="8000" dirty="0"/>
          </a:p>
        </p:txBody>
      </p:sp>
      <p:sp>
        <p:nvSpPr>
          <p:cNvPr id="5" name="texte-4"/>
          <p:cNvSpPr txBox="1"/>
          <p:nvPr/>
        </p:nvSpPr>
        <p:spPr>
          <a:xfrm>
            <a:off x="640080" y="2331720"/>
            <a:ext cx="6949440" cy="1097280"/>
          </a:xfrm>
          <a:prstGeom prst="rect">
            <a:avLst/>
          </a:prstGeom>
          <a:noFill/>
          <a:ln/>
        </p:spPr>
        <p:txBody>
          <a:bodyPr wrap="square" lIns="0" tIns="0" rIns="0" bIns="0" rtlCol="0" anchor="t"/>
          <a:lstStyle/>
          <a:p>
            <a:pPr indent="0" marL="0">
              <a:buNone/>
            </a:pPr>
            <a:r>
              <a:rPr lang="en-US" sz="2200" dirty="0">
                <a:solidFill>
                  <a:schemeClr val="bg2"/>
                </a:solidFill>
              </a:rPr>
              <a:t>Le sweat de la promo sort enfin.</a:t>
            </a:r>
            <a:endParaRPr lang="en-US" sz="2200" dirty="0"/>
          </a:p>
          <a:p>
            <a:pPr indent="0" marL="0">
              <a:buNone/>
            </a:pPr>
            <a:r>
              <a:rPr lang="en-US" sz="2200" dirty="0">
                <a:solidFill>
                  <a:schemeClr val="bg2"/>
                </a:solidFill>
              </a:rPr>
              <a:t>300 étudiants cliquent sur « Commander » à la même seconde.</a:t>
            </a:r>
            <a:endParaRPr lang="en-US" sz="2200" dirty="0"/>
          </a:p>
        </p:txBody>
      </p:sp>
      <p:sp>
        <p:nvSpPr>
          <p:cNvPr id="6" name="texte-5"/>
          <p:cNvSpPr txBox="1"/>
          <p:nvPr/>
        </p:nvSpPr>
        <p:spPr>
          <a:xfrm>
            <a:off x="640080" y="3840480"/>
            <a:ext cx="6949440" cy="731520"/>
          </a:xfrm>
          <a:prstGeom prst="rect">
            <a:avLst/>
          </a:prstGeom>
          <a:noFill/>
          <a:ln/>
        </p:spPr>
        <p:txBody>
          <a:bodyPr wrap="square" lIns="0" tIns="0" rIns="0" bIns="0" rtlCol="0" anchor="t"/>
          <a:lstStyle/>
          <a:p>
            <a:pPr indent="0" marL="0">
              <a:buNone/>
            </a:pPr>
            <a:r>
              <a:rPr lang="en-US" sz="3200" b="1" dirty="0">
                <a:solidFill>
                  <a:schemeClr val="accent1"/>
                </a:solidFill>
              </a:rPr>
              <a:t>Qui tient le choc ?</a:t>
            </a:r>
            <a:endParaRPr lang="en-US" sz="3200" dirty="0"/>
          </a:p>
        </p:txBody>
      </p:sp>
      <p:sp>
        <p:nvSpPr>
          <p:cNvPr id="7" name="texte-6"/>
          <p:cNvSpPr txBox="1"/>
          <p:nvPr/>
        </p:nvSpPr>
        <p:spPr>
          <a:xfrm>
            <a:off x="640080" y="4663440"/>
            <a:ext cx="6949440" cy="548640"/>
          </a:xfrm>
          <a:prstGeom prst="rect">
            <a:avLst/>
          </a:prstGeom>
          <a:noFill/>
          <a:ln/>
        </p:spPr>
        <p:txBody>
          <a:bodyPr wrap="square" lIns="0" tIns="0" rIns="0" bIns="0" rtlCol="0" anchor="t"/>
          <a:lstStyle/>
          <a:p>
            <a:pPr indent="0" marL="0">
              <a:buNone/>
            </a:pPr>
            <a:r>
              <a:rPr lang="en-US" sz="1600" dirty="0">
                <a:solidFill>
                  <a:schemeClr val="bg2"/>
                </a:solidFill>
              </a:rPr>
              <a:t>Personne ne gère de serveur. Aucune commande n'est perdue. Coût : 0 €.</a:t>
            </a:r>
            <a:endParaRPr lang="en-US" sz="1600" dirty="0"/>
          </a:p>
        </p:txBody>
      </p:sp>
      <p:sp>
        <p:nvSpPr>
          <p:cNvPr id="8" name="carte-7"/>
          <p:cNvSpPr/>
          <p:nvPr/>
        </p:nvSpPr>
        <p:spPr>
          <a:xfrm>
            <a:off x="8229600" y="914400"/>
            <a:ext cx="3291840" cy="4526280"/>
          </a:xfrm>
          <a:prstGeom prst="roundRect">
            <a:avLst>
              <a:gd name="adj" fmla="val 3333"/>
            </a:avLst>
          </a:prstGeom>
          <a:solidFill>
            <a:schemeClr val="bg1"/>
          </a:solidFill>
          <a:ln w="12700">
            <a:solidFill>
              <a:schemeClr val="bg1"/>
            </a:solidFill>
            <a:prstDash val="solid"/>
          </a:ln>
        </p:spPr>
      </p:sp>
      <p:pic>
        <p:nvPicPr>
          <p:cNvPr id="9" name="Image 0" descr="QR code vers le site SHOP'IMT">    </p:cNvPr>
          <p:cNvPicPr>
            <a:picLocks noChangeAspect="1"/>
          </p:cNvPicPr>
          <p:nvPr/>
        </p:nvPicPr>
        <p:blipFill>
          <a:blip r:embed="rId1"/>
          <a:stretch>
            <a:fillRect/>
          </a:stretch>
        </p:blipFill>
        <p:spPr>
          <a:xfrm>
            <a:off x="8503920" y="1188720"/>
            <a:ext cx="2743200" cy="2743200"/>
          </a:xfrm>
          <a:prstGeom prst="rect">
            <a:avLst/>
          </a:prstGeom>
        </p:spPr>
      </p:pic>
      <p:sp>
        <p:nvSpPr>
          <p:cNvPr id="10" name="texte-8"/>
          <p:cNvSpPr txBox="1"/>
          <p:nvPr/>
        </p:nvSpPr>
        <p:spPr>
          <a:xfrm>
            <a:off x="8503920" y="4114800"/>
            <a:ext cx="2743200" cy="365760"/>
          </a:xfrm>
          <a:prstGeom prst="rect">
            <a:avLst/>
          </a:prstGeom>
          <a:noFill/>
          <a:ln/>
        </p:spPr>
        <p:txBody>
          <a:bodyPr wrap="square" lIns="0" tIns="0" rIns="0" bIns="0" rtlCol="0" anchor="t"/>
          <a:lstStyle/>
          <a:p>
            <a:pPr algn="ctr" indent="0" marL="0">
              <a:buNone/>
            </a:pPr>
            <a:r>
              <a:rPr lang="en-US" sz="1800" b="1" dirty="0">
                <a:solidFill>
                  <a:schemeClr val="tx1"/>
                </a:solidFill>
              </a:rPr>
              <a:t>Scannez. Commandez.</a:t>
            </a:r>
            <a:endParaRPr lang="en-US" sz="1800" dirty="0"/>
          </a:p>
        </p:txBody>
      </p:sp>
      <p:sp>
        <p:nvSpPr>
          <p:cNvPr id="11" name="texte-9"/>
          <p:cNvSpPr txBox="1"/>
          <p:nvPr/>
        </p:nvSpPr>
        <p:spPr>
          <a:xfrm>
            <a:off x="8503920" y="452628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Vraiment. Maintenant.</a:t>
            </a:r>
            <a:endParaRPr lang="en-US" sz="1400" dirty="0"/>
          </a:p>
        </p:txBody>
      </p:sp>
      <p:sp>
        <p:nvSpPr>
          <p:cNvPr id="13"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14"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rateur-10"/>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pic>
        <p:nvPicPr>
          <p:cNvPr id="4" name="Image 0" descr="Logo SHOP'IMT">    </p:cNvPr>
          <p:cNvPicPr>
            <a:picLocks noChangeAspect="1"/>
          </p:cNvPicPr>
          <p:nvPr/>
        </p:nvPicPr>
        <p:blipFill>
          <a:blip r:embed="rId1"/>
          <a:stretch>
            <a:fillRect/>
          </a:stretch>
        </p:blipFill>
        <p:spPr>
          <a:xfrm>
            <a:off x="640080" y="685800"/>
            <a:ext cx="3291840" cy="811987"/>
          </a:xfrm>
          <a:prstGeom prst="rect">
            <a:avLst/>
          </a:prstGeom>
        </p:spPr>
      </p:pic>
      <p:sp>
        <p:nvSpPr>
          <p:cNvPr id="5"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r>
              <a:rPr lang="en-US" sz="4000" b="1" dirty="0">
                <a:solidFill>
                  <a:schemeClr val="bg1"/>
                </a:solidFill>
              </a:rPr>
              <a:t>Une boutique en ligne 100 % serverless sur AWS</a:t>
            </a:r>
            <a:endParaRPr lang="en-US" sz="4000" dirty="0"/>
          </a:p>
        </p:txBody>
      </p:sp>
      <p:sp>
        <p:nvSpPr>
          <p:cNvPr id="6"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r>
              <a:rPr lang="en-US" sz="1800" dirty="0">
                <a:solidFill>
                  <a:schemeClr val="accent1"/>
                </a:solidFill>
              </a:rPr>
              <a:t>Louison · Gabin · Félix  —  Projet AWS FISA 2026</a:t>
            </a:r>
            <a:endParaRPr lang="en-US" sz="1800" dirty="0"/>
          </a:p>
        </p:txBody>
      </p:sp>
      <p:sp>
        <p:nvSpPr>
          <p:cNvPr id="7" name="carte-12"/>
          <p:cNvSpPr/>
          <p:nvPr/>
        </p:nvSpPr>
        <p:spPr>
          <a:xfrm>
            <a:off x="7223760" y="822960"/>
            <a:ext cx="2103120" cy="2468880"/>
          </a:xfrm>
          <a:prstGeom prst="roundRect">
            <a:avLst>
              <a:gd name="adj" fmla="val 5217"/>
            </a:avLst>
          </a:prstGeom>
          <a:solidFill>
            <a:schemeClr val="bg2"/>
          </a:solidFill>
          <a:ln w="12700">
            <a:solidFill>
              <a:schemeClr val="bg2"/>
            </a:solidFill>
            <a:prstDash val="solid"/>
          </a:ln>
        </p:spPr>
      </p:sp>
      <p:pic>
        <p:nvPicPr>
          <p:cNvPr id="8" name="Image 1" descr="Visuel produit p001">    </p:cNvPr>
          <p:cNvPicPr>
            <a:picLocks noChangeAspect="1"/>
          </p:cNvPicPr>
          <p:nvPr/>
        </p:nvPicPr>
        <p:blipFill>
          <a:blip r:embed="rId2"/>
          <a:stretch>
            <a:fillRect/>
          </a:stretch>
        </p:blipFill>
        <p:spPr>
          <a:xfrm>
            <a:off x="7315200" y="1280160"/>
            <a:ext cx="1920240" cy="1440180"/>
          </a:xfrm>
          <a:prstGeom prst="rect">
            <a:avLst/>
          </a:prstGeom>
        </p:spPr>
      </p:pic>
      <p:sp>
        <p:nvSpPr>
          <p:cNvPr id="9" name="carte-13"/>
          <p:cNvSpPr/>
          <p:nvPr/>
        </p:nvSpPr>
        <p:spPr>
          <a:xfrm>
            <a:off x="9509760" y="822960"/>
            <a:ext cx="2103120" cy="2468880"/>
          </a:xfrm>
          <a:prstGeom prst="roundRect">
            <a:avLst>
              <a:gd name="adj" fmla="val 5217"/>
            </a:avLst>
          </a:prstGeom>
          <a:solidFill>
            <a:schemeClr val="bg2"/>
          </a:solidFill>
          <a:ln w="12700">
            <a:solidFill>
              <a:schemeClr val="bg2"/>
            </a:solidFill>
            <a:prstDash val="solid"/>
          </a:ln>
        </p:spPr>
      </p:sp>
      <p:pic>
        <p:nvPicPr>
          <p:cNvPr id="10" name="Image 2" descr="Visuel produit p003">    </p:cNvPr>
          <p:cNvPicPr>
            <a:picLocks noChangeAspect="1"/>
          </p:cNvPicPr>
          <p:nvPr/>
        </p:nvPicPr>
        <p:blipFill>
          <a:blip r:embed="rId3"/>
          <a:stretch>
            <a:fillRect/>
          </a:stretch>
        </p:blipFill>
        <p:spPr>
          <a:xfrm>
            <a:off x="9601200" y="1280160"/>
            <a:ext cx="1920240" cy="1440180"/>
          </a:xfrm>
          <a:prstGeom prst="rect">
            <a:avLst/>
          </a:prstGeom>
        </p:spPr>
      </p:pic>
      <p:sp>
        <p:nvSpPr>
          <p:cNvPr id="11" name="carte-14"/>
          <p:cNvSpPr/>
          <p:nvPr/>
        </p:nvSpPr>
        <p:spPr>
          <a:xfrm>
            <a:off x="7223760" y="3611880"/>
            <a:ext cx="2103120" cy="2468880"/>
          </a:xfrm>
          <a:prstGeom prst="roundRect">
            <a:avLst>
              <a:gd name="adj" fmla="val 5217"/>
            </a:avLst>
          </a:prstGeom>
          <a:solidFill>
            <a:schemeClr val="bg2"/>
          </a:solidFill>
          <a:ln w="12700">
            <a:solidFill>
              <a:schemeClr val="bg2"/>
            </a:solidFill>
            <a:prstDash val="solid"/>
          </a:ln>
        </p:spPr>
      </p:sp>
      <p:pic>
        <p:nvPicPr>
          <p:cNvPr id="12" name="Image 3" descr="Visuel produit p002">    </p:cNvPr>
          <p:cNvPicPr>
            <a:picLocks noChangeAspect="1"/>
          </p:cNvPicPr>
          <p:nvPr/>
        </p:nvPicPr>
        <p:blipFill>
          <a:blip r:embed="rId4"/>
          <a:stretch>
            <a:fillRect/>
          </a:stretch>
        </p:blipFill>
        <p:spPr>
          <a:xfrm>
            <a:off x="7315200" y="4069080"/>
            <a:ext cx="1920240" cy="1440180"/>
          </a:xfrm>
          <a:prstGeom prst="rect">
            <a:avLst/>
          </a:prstGeom>
        </p:spPr>
      </p:pic>
      <p:sp>
        <p:nvSpPr>
          <p:cNvPr id="13" name="carte-15"/>
          <p:cNvSpPr/>
          <p:nvPr/>
        </p:nvSpPr>
        <p:spPr>
          <a:xfrm>
            <a:off x="9509760" y="3611880"/>
            <a:ext cx="2103120" cy="2468880"/>
          </a:xfrm>
          <a:prstGeom prst="roundRect">
            <a:avLst>
              <a:gd name="adj" fmla="val 5217"/>
            </a:avLst>
          </a:prstGeom>
          <a:solidFill>
            <a:schemeClr val="bg2"/>
          </a:solidFill>
          <a:ln w="12700">
            <a:solidFill>
              <a:schemeClr val="bg2"/>
            </a:solidFill>
            <a:prstDash val="solid"/>
          </a:ln>
        </p:spPr>
      </p:sp>
      <p:pic>
        <p:nvPicPr>
          <p:cNvPr id="14" name="Image 4" descr="Visuel produit p006">    </p:cNvPr>
          <p:cNvPicPr>
            <a:picLocks noChangeAspect="1"/>
          </p:cNvPicPr>
          <p:nvPr/>
        </p:nvPicPr>
        <p:blipFill>
          <a:blip r:embed="rId5"/>
          <a:stretch>
            <a:fillRect/>
          </a:stretch>
        </p:blipFill>
        <p:spPr>
          <a:xfrm>
            <a:off x="9601200" y="4069080"/>
            <a:ext cx="1920240" cy="14401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rateur-16"/>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7"/>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Chaque exigence du sujet a sa réponse AWS</a:t>
            </a:r>
            <a:endParaRPr lang="en-US" sz="3000" dirty="0"/>
          </a:p>
        </p:txBody>
      </p:sp>
      <p:sp>
        <p:nvSpPr>
          <p:cNvPr id="5" name="carte-18"/>
          <p:cNvSpPr/>
          <p:nvPr/>
        </p:nvSpPr>
        <p:spPr>
          <a:xfrm>
            <a:off x="548640" y="1417320"/>
            <a:ext cx="5440680" cy="1371600"/>
          </a:xfrm>
          <a:prstGeom prst="roundRect">
            <a:avLst>
              <a:gd name="adj" fmla="val 8000"/>
            </a:avLst>
          </a:prstGeom>
          <a:solidFill>
            <a:schemeClr val="bg2"/>
          </a:solidFill>
          <a:ln w="12700">
            <a:solidFill>
              <a:schemeClr val="bg2"/>
            </a:solidFill>
            <a:prstDash val="solid"/>
          </a:ln>
        </p:spPr>
      </p:sp>
      <p:sp>
        <p:nvSpPr>
          <p:cNvPr id="6" name="pastille-19"/>
          <p:cNvSpPr/>
          <p:nvPr/>
        </p:nvSpPr>
        <p:spPr>
          <a:xfrm>
            <a:off x="822960" y="1691640"/>
            <a:ext cx="457200" cy="457200"/>
          </a:xfrm>
          <a:prstGeom prst="ellipse">
            <a:avLst/>
          </a:prstGeom>
          <a:solidFill>
            <a:schemeClr val="accent1"/>
          </a:solidFill>
          <a:ln w="12700">
            <a:solidFill>
              <a:schemeClr val="accent1"/>
            </a:solidFill>
            <a:prstDash val="solid"/>
          </a:ln>
        </p:spPr>
      </p:sp>
      <p:sp>
        <p:nvSpPr>
          <p:cNvPr id="7" name="pastille-texte-20"/>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8" name="texte-21"/>
          <p:cNvSpPr txBox="1"/>
          <p:nvPr/>
        </p:nvSpPr>
        <p:spPr>
          <a:xfrm>
            <a:off x="146304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Parcourir le catalogue</a:t>
            </a:r>
            <a:endParaRPr lang="en-US" sz="1800" dirty="0"/>
          </a:p>
        </p:txBody>
      </p:sp>
      <p:sp>
        <p:nvSpPr>
          <p:cNvPr id="9" name="texte-22"/>
          <p:cNvSpPr txBox="1"/>
          <p:nvPr/>
        </p:nvSpPr>
        <p:spPr>
          <a:xfrm>
            <a:off x="146304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CloudFront + S3 pour le site, API Gateway + Lambda + DynamoDB pour les produits</a:t>
            </a:r>
            <a:endParaRPr lang="en-US" sz="1400" dirty="0"/>
          </a:p>
        </p:txBody>
      </p:sp>
      <p:sp>
        <p:nvSpPr>
          <p:cNvPr id="10" name="carte-23"/>
          <p:cNvSpPr/>
          <p:nvPr/>
        </p:nvSpPr>
        <p:spPr>
          <a:xfrm>
            <a:off x="6172200" y="1417320"/>
            <a:ext cx="5440680" cy="1371600"/>
          </a:xfrm>
          <a:prstGeom prst="roundRect">
            <a:avLst>
              <a:gd name="adj" fmla="val 8000"/>
            </a:avLst>
          </a:prstGeom>
          <a:solidFill>
            <a:schemeClr val="bg2"/>
          </a:solidFill>
          <a:ln w="12700">
            <a:solidFill>
              <a:schemeClr val="bg2"/>
            </a:solidFill>
            <a:prstDash val="solid"/>
          </a:ln>
        </p:spPr>
      </p:sp>
      <p:sp>
        <p:nvSpPr>
          <p:cNvPr id="11" name="pastille-24"/>
          <p:cNvSpPr/>
          <p:nvPr/>
        </p:nvSpPr>
        <p:spPr>
          <a:xfrm>
            <a:off x="6446520" y="1691640"/>
            <a:ext cx="457200" cy="457200"/>
          </a:xfrm>
          <a:prstGeom prst="ellipse">
            <a:avLst/>
          </a:prstGeom>
          <a:solidFill>
            <a:schemeClr val="accent1"/>
          </a:solidFill>
          <a:ln w="12700">
            <a:solidFill>
              <a:schemeClr val="accent1"/>
            </a:solidFill>
            <a:prstDash val="solid"/>
          </a:ln>
        </p:spPr>
      </p:sp>
      <p:sp>
        <p:nvSpPr>
          <p:cNvPr id="12" name="pastille-texte-25"/>
          <p:cNvSpPr txBox="1"/>
          <p:nvPr/>
        </p:nvSpPr>
        <p:spPr>
          <a:xfrm>
            <a:off x="644652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3" name="texte-26"/>
          <p:cNvSpPr txBox="1"/>
          <p:nvPr/>
        </p:nvSpPr>
        <p:spPr>
          <a:xfrm>
            <a:off x="708660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Commander</a:t>
            </a:r>
            <a:endParaRPr lang="en-US" sz="1800" dirty="0"/>
          </a:p>
        </p:txBody>
      </p:sp>
      <p:sp>
        <p:nvSpPr>
          <p:cNvPr id="14" name="texte-27"/>
          <p:cNvSpPr txBox="1"/>
          <p:nvPr/>
        </p:nvSpPr>
        <p:spPr>
          <a:xfrm>
            <a:off x="708660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Transaction DynamoDB : prix recalculés côté serveur, stock réservé d'un seul coup</a:t>
            </a:r>
            <a:endParaRPr lang="en-US" sz="1400" dirty="0"/>
          </a:p>
        </p:txBody>
      </p:sp>
      <p:sp>
        <p:nvSpPr>
          <p:cNvPr id="15" name="carte-28"/>
          <p:cNvSpPr/>
          <p:nvPr/>
        </p:nvSpPr>
        <p:spPr>
          <a:xfrm>
            <a:off x="548640" y="2990088"/>
            <a:ext cx="5440680" cy="1371600"/>
          </a:xfrm>
          <a:prstGeom prst="roundRect">
            <a:avLst>
              <a:gd name="adj" fmla="val 8000"/>
            </a:avLst>
          </a:prstGeom>
          <a:solidFill>
            <a:schemeClr val="bg2"/>
          </a:solidFill>
          <a:ln w="12700">
            <a:solidFill>
              <a:schemeClr val="bg2"/>
            </a:solidFill>
            <a:prstDash val="solid"/>
          </a:ln>
        </p:spPr>
      </p:sp>
      <p:sp>
        <p:nvSpPr>
          <p:cNvPr id="16" name="pastille-29"/>
          <p:cNvSpPr/>
          <p:nvPr/>
        </p:nvSpPr>
        <p:spPr>
          <a:xfrm>
            <a:off x="822960" y="3264408"/>
            <a:ext cx="457200" cy="457200"/>
          </a:xfrm>
          <a:prstGeom prst="ellipse">
            <a:avLst/>
          </a:prstGeom>
          <a:solidFill>
            <a:schemeClr val="accent1"/>
          </a:solidFill>
          <a:ln w="12700">
            <a:solidFill>
              <a:schemeClr val="accent1"/>
            </a:solidFill>
            <a:prstDash val="solid"/>
          </a:ln>
        </p:spPr>
      </p:sp>
      <p:sp>
        <p:nvSpPr>
          <p:cNvPr id="17" name="pastille-texte-30"/>
          <p:cNvSpPr txBox="1"/>
          <p:nvPr/>
        </p:nvSpPr>
        <p:spPr>
          <a:xfrm>
            <a:off x="82296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8" name="texte-31"/>
          <p:cNvSpPr txBox="1"/>
          <p:nvPr/>
        </p:nvSpPr>
        <p:spPr>
          <a:xfrm>
            <a:off x="146304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Confirmer en temps réel</a:t>
            </a:r>
            <a:endParaRPr lang="en-US" sz="1800" dirty="0"/>
          </a:p>
        </p:txBody>
      </p:sp>
      <p:sp>
        <p:nvSpPr>
          <p:cNvPr id="19" name="texte-32"/>
          <p:cNvSpPr txBox="1"/>
          <p:nvPr/>
        </p:nvSpPr>
        <p:spPr>
          <a:xfrm>
            <a:off x="146304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SNS diffuse l'événement ; Lambda envoie un e-mail HTML avec Amazon SES</a:t>
            </a:r>
            <a:endParaRPr lang="en-US" sz="1400" dirty="0"/>
          </a:p>
        </p:txBody>
      </p:sp>
      <p:sp>
        <p:nvSpPr>
          <p:cNvPr id="20" name="carte-33"/>
          <p:cNvSpPr/>
          <p:nvPr/>
        </p:nvSpPr>
        <p:spPr>
          <a:xfrm>
            <a:off x="6172200" y="2990088"/>
            <a:ext cx="5440680" cy="1371600"/>
          </a:xfrm>
          <a:prstGeom prst="roundRect">
            <a:avLst>
              <a:gd name="adj" fmla="val 8000"/>
            </a:avLst>
          </a:prstGeom>
          <a:solidFill>
            <a:schemeClr val="bg2"/>
          </a:solidFill>
          <a:ln w="12700">
            <a:solidFill>
              <a:schemeClr val="bg2"/>
            </a:solidFill>
            <a:prstDash val="solid"/>
          </a:ln>
        </p:spPr>
      </p:sp>
      <p:sp>
        <p:nvSpPr>
          <p:cNvPr id="21" name="pastille-34"/>
          <p:cNvSpPr/>
          <p:nvPr/>
        </p:nvSpPr>
        <p:spPr>
          <a:xfrm>
            <a:off x="6446520" y="3264408"/>
            <a:ext cx="457200" cy="457200"/>
          </a:xfrm>
          <a:prstGeom prst="ellipse">
            <a:avLst/>
          </a:prstGeom>
          <a:solidFill>
            <a:schemeClr val="accent1"/>
          </a:solidFill>
          <a:ln w="12700">
            <a:solidFill>
              <a:schemeClr val="accent1"/>
            </a:solidFill>
            <a:prstDash val="solid"/>
          </a:ln>
        </p:spPr>
      </p:sp>
      <p:sp>
        <p:nvSpPr>
          <p:cNvPr id="22" name="pastille-texte-35"/>
          <p:cNvSpPr txBox="1"/>
          <p:nvPr/>
        </p:nvSpPr>
        <p:spPr>
          <a:xfrm>
            <a:off x="644652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3" name="texte-36"/>
          <p:cNvSpPr txBox="1"/>
          <p:nvPr/>
        </p:nvSpPr>
        <p:spPr>
          <a:xfrm>
            <a:off x="708660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Auditer les commandes</a:t>
            </a:r>
            <a:endParaRPr lang="en-US" sz="1800" dirty="0"/>
          </a:p>
        </p:txBody>
      </p:sp>
      <p:sp>
        <p:nvSpPr>
          <p:cNvPr id="24" name="texte-37"/>
          <p:cNvSpPr txBox="1"/>
          <p:nvPr/>
        </p:nvSpPr>
        <p:spPr>
          <a:xfrm>
            <a:off x="708660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File SQS dédiée → Lambda → un fichier JSON par commande dans S3</a:t>
            </a:r>
            <a:endParaRPr lang="en-US" sz="1400" dirty="0"/>
          </a:p>
        </p:txBody>
      </p:sp>
      <p:sp>
        <p:nvSpPr>
          <p:cNvPr id="25" name="carte-38"/>
          <p:cNvSpPr/>
          <p:nvPr/>
        </p:nvSpPr>
        <p:spPr>
          <a:xfrm>
            <a:off x="548640" y="4562856"/>
            <a:ext cx="5440680" cy="1371600"/>
          </a:xfrm>
          <a:prstGeom prst="roundRect">
            <a:avLst>
              <a:gd name="adj" fmla="val 8000"/>
            </a:avLst>
          </a:prstGeom>
          <a:solidFill>
            <a:schemeClr val="bg2"/>
          </a:solidFill>
          <a:ln w="12700">
            <a:solidFill>
              <a:schemeClr val="bg2"/>
            </a:solidFill>
            <a:prstDash val="solid"/>
          </a:ln>
        </p:spPr>
      </p:sp>
      <p:sp>
        <p:nvSpPr>
          <p:cNvPr id="26" name="pastille-39"/>
          <p:cNvSpPr/>
          <p:nvPr/>
        </p:nvSpPr>
        <p:spPr>
          <a:xfrm>
            <a:off x="822960" y="4837176"/>
            <a:ext cx="457200" cy="457200"/>
          </a:xfrm>
          <a:prstGeom prst="ellipse">
            <a:avLst/>
          </a:prstGeom>
          <a:solidFill>
            <a:schemeClr val="accent1"/>
          </a:solidFill>
          <a:ln w="12700">
            <a:solidFill>
              <a:schemeClr val="accent1"/>
            </a:solidFill>
            <a:prstDash val="solid"/>
          </a:ln>
        </p:spPr>
      </p:sp>
      <p:sp>
        <p:nvSpPr>
          <p:cNvPr id="27" name="pastille-texte-40"/>
          <p:cNvSpPr txBox="1"/>
          <p:nvPr/>
        </p:nvSpPr>
        <p:spPr>
          <a:xfrm>
            <a:off x="82296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8" name="texte-41"/>
          <p:cNvSpPr txBox="1"/>
          <p:nvPr/>
        </p:nvSpPr>
        <p:spPr>
          <a:xfrm>
            <a:off x="146304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Traiter en interne</a:t>
            </a:r>
            <a:endParaRPr lang="en-US" sz="1800" dirty="0"/>
          </a:p>
        </p:txBody>
      </p:sp>
      <p:sp>
        <p:nvSpPr>
          <p:cNvPr id="29" name="texte-42"/>
          <p:cNvSpPr txBox="1"/>
          <p:nvPr/>
        </p:nvSpPr>
        <p:spPr>
          <a:xfrm>
            <a:off x="146304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Step Functions simule préparation, expédition, incidents et livraison</a:t>
            </a:r>
            <a:endParaRPr lang="en-US" sz="1400" dirty="0"/>
          </a:p>
        </p:txBody>
      </p:sp>
      <p:sp>
        <p:nvSpPr>
          <p:cNvPr id="30" name="carte-43"/>
          <p:cNvSpPr/>
          <p:nvPr/>
        </p:nvSpPr>
        <p:spPr>
          <a:xfrm>
            <a:off x="6172200" y="4562856"/>
            <a:ext cx="5440680" cy="1371600"/>
          </a:xfrm>
          <a:prstGeom prst="roundRect">
            <a:avLst>
              <a:gd name="adj" fmla="val 8000"/>
            </a:avLst>
          </a:prstGeom>
          <a:solidFill>
            <a:schemeClr val="bg2"/>
          </a:solidFill>
          <a:ln w="12700">
            <a:solidFill>
              <a:schemeClr val="bg2"/>
            </a:solidFill>
            <a:prstDash val="solid"/>
          </a:ln>
        </p:spPr>
      </p:sp>
      <p:sp>
        <p:nvSpPr>
          <p:cNvPr id="31" name="pastille-44"/>
          <p:cNvSpPr/>
          <p:nvPr/>
        </p:nvSpPr>
        <p:spPr>
          <a:xfrm>
            <a:off x="6446520" y="4837176"/>
            <a:ext cx="457200" cy="457200"/>
          </a:xfrm>
          <a:prstGeom prst="ellipse">
            <a:avLst/>
          </a:prstGeom>
          <a:solidFill>
            <a:schemeClr val="accent1"/>
          </a:solidFill>
          <a:ln w="12700">
            <a:solidFill>
              <a:schemeClr val="accent1"/>
            </a:solidFill>
            <a:prstDash val="solid"/>
          </a:ln>
        </p:spPr>
      </p:sp>
      <p:sp>
        <p:nvSpPr>
          <p:cNvPr id="32" name="pastille-texte-45"/>
          <p:cNvSpPr txBox="1"/>
          <p:nvPr/>
        </p:nvSpPr>
        <p:spPr>
          <a:xfrm>
            <a:off x="644652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3" name="texte-46"/>
          <p:cNvSpPr txBox="1"/>
          <p:nvPr/>
        </p:nvSpPr>
        <p:spPr>
          <a:xfrm>
            <a:off x="708660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Streaming (Kafka)</a:t>
            </a:r>
            <a:endParaRPr lang="en-US" sz="1800" dirty="0"/>
          </a:p>
        </p:txBody>
      </p:sp>
      <p:sp>
        <p:nvSpPr>
          <p:cNvPr id="34" name="texte-47"/>
          <p:cNvSpPr txBox="1"/>
          <p:nvPr/>
        </p:nvSpPr>
        <p:spPr>
          <a:xfrm>
            <a:off x="708660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DynamoDB Streams joue le rôle du flux de commandes, gratuitement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orateur-48"/>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49"/>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Architecture : une commande devient un événement</a:t>
            </a:r>
            <a:endParaRPr lang="en-US" sz="3000" dirty="0"/>
          </a:p>
        </p:txBody>
      </p:sp>
      <p:sp>
        <p:nvSpPr>
          <p:cNvPr id="5" name="service-50"/>
          <p:cNvSpPr/>
          <p:nvPr/>
        </p:nvSpPr>
        <p:spPr>
          <a:xfrm>
            <a:off x="548640" y="1417320"/>
            <a:ext cx="1600200" cy="749808"/>
          </a:xfrm>
          <a:prstGeom prst="roundRect">
            <a:avLst>
              <a:gd name="adj" fmla="val 9756"/>
            </a:avLst>
          </a:prstGeom>
          <a:solidFill>
            <a:schemeClr val="tx1"/>
          </a:solidFill>
          <a:ln w="15875">
            <a:solidFill>
              <a:schemeClr val="tx1"/>
            </a:solidFill>
            <a:prstDash val="solid"/>
          </a:ln>
        </p:spPr>
      </p:sp>
      <p:sp>
        <p:nvSpPr>
          <p:cNvPr id="6" name="service-texte-51"/>
          <p:cNvSpPr txBox="1"/>
          <p:nvPr/>
        </p:nvSpPr>
        <p:spPr>
          <a:xfrm>
            <a:off x="54864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Client</a:t>
            </a:r>
            <a:endParaRPr lang="en-US" sz="1200" dirty="0"/>
          </a:p>
          <a:p>
            <a:pPr algn="ctr" indent="0" marL="0">
              <a:buNone/>
            </a:pPr>
            <a:r>
              <a:rPr lang="en-US" sz="1000" dirty="0">
                <a:solidFill>
                  <a:schemeClr val="bg1"/>
                </a:solidFill>
              </a:rPr>
              <a:t>navigateur, iPhone</a:t>
            </a:r>
            <a:endParaRPr lang="en-US" sz="1200" dirty="0"/>
          </a:p>
        </p:txBody>
      </p:sp>
      <p:sp>
        <p:nvSpPr>
          <p:cNvPr id="7" name="service-52"/>
          <p:cNvSpPr/>
          <p:nvPr/>
        </p:nvSpPr>
        <p:spPr>
          <a:xfrm>
            <a:off x="2450592" y="1417320"/>
            <a:ext cx="1600200" cy="749808"/>
          </a:xfrm>
          <a:prstGeom prst="roundRect">
            <a:avLst>
              <a:gd name="adj" fmla="val 9756"/>
            </a:avLst>
          </a:prstGeom>
          <a:solidFill>
            <a:schemeClr val="tx1"/>
          </a:solidFill>
          <a:ln w="15875">
            <a:solidFill>
              <a:schemeClr val="tx1"/>
            </a:solidFill>
            <a:prstDash val="solid"/>
          </a:ln>
        </p:spPr>
      </p:sp>
      <p:sp>
        <p:nvSpPr>
          <p:cNvPr id="8" name="service-texte-53"/>
          <p:cNvSpPr txBox="1"/>
          <p:nvPr/>
        </p:nvSpPr>
        <p:spPr>
          <a:xfrm>
            <a:off x="2450592"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CloudFront</a:t>
            </a:r>
            <a:endParaRPr lang="en-US" sz="1200" dirty="0"/>
          </a:p>
          <a:p>
            <a:pPr algn="ctr" indent="0" marL="0">
              <a:buNone/>
            </a:pPr>
            <a:r>
              <a:rPr lang="en-US" sz="1000" dirty="0">
                <a:solidFill>
                  <a:schemeClr val="bg1"/>
                </a:solidFill>
              </a:rPr>
              <a:t>CDN + Functions</a:t>
            </a:r>
            <a:endParaRPr lang="en-US" sz="1200" dirty="0"/>
          </a:p>
        </p:txBody>
      </p:sp>
      <p:sp>
        <p:nvSpPr>
          <p:cNvPr id="9" name="service-54"/>
          <p:cNvSpPr/>
          <p:nvPr/>
        </p:nvSpPr>
        <p:spPr>
          <a:xfrm>
            <a:off x="4352544" y="1417320"/>
            <a:ext cx="1600200" cy="749808"/>
          </a:xfrm>
          <a:prstGeom prst="roundRect">
            <a:avLst>
              <a:gd name="adj" fmla="val 9756"/>
            </a:avLst>
          </a:prstGeom>
          <a:solidFill>
            <a:schemeClr val="tx1"/>
          </a:solidFill>
          <a:ln w="15875">
            <a:solidFill>
              <a:schemeClr val="tx1"/>
            </a:solidFill>
            <a:prstDash val="solid"/>
          </a:ln>
        </p:spPr>
      </p:sp>
      <p:sp>
        <p:nvSpPr>
          <p:cNvPr id="10" name="service-texte-55"/>
          <p:cNvSpPr txBox="1"/>
          <p:nvPr/>
        </p:nvSpPr>
        <p:spPr>
          <a:xfrm>
            <a:off x="4352544"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API Gateway</a:t>
            </a:r>
            <a:endParaRPr lang="en-US" sz="1200" dirty="0"/>
          </a:p>
          <a:p>
            <a:pPr algn="ctr" indent="0" marL="0">
              <a:buNone/>
            </a:pPr>
            <a:r>
              <a:rPr lang="en-US" sz="1000" dirty="0">
                <a:solidFill>
                  <a:schemeClr val="bg1"/>
                </a:solidFill>
              </a:rPr>
              <a:t>API HTTP</a:t>
            </a:r>
            <a:endParaRPr lang="en-US" sz="1200" dirty="0"/>
          </a:p>
        </p:txBody>
      </p:sp>
      <p:sp>
        <p:nvSpPr>
          <p:cNvPr id="11" name="service-56"/>
          <p:cNvSpPr/>
          <p:nvPr/>
        </p:nvSpPr>
        <p:spPr>
          <a:xfrm>
            <a:off x="6254496" y="1417320"/>
            <a:ext cx="1600200" cy="749808"/>
          </a:xfrm>
          <a:prstGeom prst="roundRect">
            <a:avLst>
              <a:gd name="adj" fmla="val 9756"/>
            </a:avLst>
          </a:prstGeom>
          <a:solidFill>
            <a:schemeClr val="accent5"/>
          </a:solidFill>
          <a:ln w="15875">
            <a:solidFill>
              <a:schemeClr val="accent1"/>
            </a:solidFill>
            <a:prstDash val="solid"/>
          </a:ln>
        </p:spPr>
      </p:sp>
      <p:sp>
        <p:nvSpPr>
          <p:cNvPr id="12" name="service-texte-57"/>
          <p:cNvSpPr txBox="1"/>
          <p:nvPr/>
        </p:nvSpPr>
        <p:spPr>
          <a:xfrm>
            <a:off x="6254496"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commandes</a:t>
            </a:r>
            <a:endParaRPr lang="en-US" sz="1200" dirty="0"/>
          </a:p>
          <a:p>
            <a:pPr algn="ctr" indent="0" marL="0">
              <a:buNone/>
            </a:pPr>
            <a:r>
              <a:rPr lang="en-US" sz="1000" dirty="0">
                <a:solidFill>
                  <a:schemeClr val="tx1"/>
                </a:solidFill>
              </a:rPr>
              <a:t>Lambda</a:t>
            </a:r>
            <a:endParaRPr lang="en-US" sz="1200" dirty="0"/>
          </a:p>
        </p:txBody>
      </p:sp>
      <p:sp>
        <p:nvSpPr>
          <p:cNvPr id="13" name="service-58"/>
          <p:cNvSpPr/>
          <p:nvPr/>
        </p:nvSpPr>
        <p:spPr>
          <a:xfrm>
            <a:off x="8156448" y="1417320"/>
            <a:ext cx="1600200" cy="749808"/>
          </a:xfrm>
          <a:prstGeom prst="roundRect">
            <a:avLst>
              <a:gd name="adj" fmla="val 9756"/>
            </a:avLst>
          </a:prstGeom>
          <a:solidFill>
            <a:schemeClr val="bg1"/>
          </a:solidFill>
          <a:ln w="15875">
            <a:solidFill>
              <a:schemeClr val="tx1"/>
            </a:solidFill>
            <a:prstDash val="solid"/>
          </a:ln>
        </p:spPr>
      </p:sp>
      <p:sp>
        <p:nvSpPr>
          <p:cNvPr id="14" name="service-texte-59"/>
          <p:cNvSpPr txBox="1"/>
          <p:nvPr/>
        </p:nvSpPr>
        <p:spPr>
          <a:xfrm>
            <a:off x="8156448"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DynamoDB</a:t>
            </a:r>
            <a:endParaRPr lang="en-US" sz="1200" dirty="0"/>
          </a:p>
          <a:p>
            <a:pPr algn="ctr" indent="0" marL="0">
              <a:buNone/>
            </a:pPr>
            <a:r>
              <a:rPr lang="en-US" sz="1000" dirty="0">
                <a:solidFill>
                  <a:schemeClr val="tx1"/>
                </a:solidFill>
              </a:rPr>
              <a:t>+ Streams</a:t>
            </a:r>
            <a:endParaRPr lang="en-US" sz="1200" dirty="0"/>
          </a:p>
        </p:txBody>
      </p:sp>
      <p:sp>
        <p:nvSpPr>
          <p:cNvPr id="15" name="service-60"/>
          <p:cNvSpPr/>
          <p:nvPr/>
        </p:nvSpPr>
        <p:spPr>
          <a:xfrm>
            <a:off x="10058400" y="1417320"/>
            <a:ext cx="1600200" cy="749808"/>
          </a:xfrm>
          <a:prstGeom prst="roundRect">
            <a:avLst>
              <a:gd name="adj" fmla="val 9756"/>
            </a:avLst>
          </a:prstGeom>
          <a:solidFill>
            <a:schemeClr val="accent5"/>
          </a:solidFill>
          <a:ln w="15875">
            <a:solidFill>
              <a:schemeClr val="accent1"/>
            </a:solidFill>
            <a:prstDash val="solid"/>
          </a:ln>
        </p:spPr>
      </p:sp>
      <p:sp>
        <p:nvSpPr>
          <p:cNvPr id="16" name="service-texte-61"/>
          <p:cNvSpPr txBox="1"/>
          <p:nvPr/>
        </p:nvSpPr>
        <p:spPr>
          <a:xfrm>
            <a:off x="1005840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publication</a:t>
            </a:r>
            <a:endParaRPr lang="en-US" sz="1200" dirty="0"/>
          </a:p>
          <a:p>
            <a:pPr algn="ctr" indent="0" marL="0">
              <a:buNone/>
            </a:pPr>
            <a:r>
              <a:rPr lang="en-US" sz="1000" dirty="0">
                <a:solidFill>
                  <a:schemeClr val="tx1"/>
                </a:solidFill>
              </a:rPr>
              <a:t>Lambda</a:t>
            </a:r>
            <a:endParaRPr lang="en-US" sz="1200" dirty="0"/>
          </a:p>
        </p:txBody>
      </p:sp>
      <p:sp>
        <p:nvSpPr>
          <p:cNvPr id="17" name="fleche-62"/>
          <p:cNvSpPr/>
          <p:nvPr/>
        </p:nvSpPr>
        <p:spPr>
          <a:xfrm>
            <a:off x="2148840" y="1792224"/>
            <a:ext cx="301752" cy="914"/>
          </a:xfrm>
          <a:prstGeom prst="line">
            <a:avLst/>
          </a:prstGeom>
          <a:noFill/>
          <a:ln w="19050">
            <a:solidFill>
              <a:schemeClr val="accent6"/>
            </a:solidFill>
            <a:prstDash val="solid"/>
            <a:tailEnd type="triangle"/>
          </a:ln>
        </p:spPr>
      </p:sp>
      <p:sp>
        <p:nvSpPr>
          <p:cNvPr id="18" name="fleche-63"/>
          <p:cNvSpPr/>
          <p:nvPr/>
        </p:nvSpPr>
        <p:spPr>
          <a:xfrm>
            <a:off x="4050792" y="1792224"/>
            <a:ext cx="301752" cy="914"/>
          </a:xfrm>
          <a:prstGeom prst="line">
            <a:avLst/>
          </a:prstGeom>
          <a:noFill/>
          <a:ln w="19050">
            <a:solidFill>
              <a:schemeClr val="accent6"/>
            </a:solidFill>
            <a:prstDash val="solid"/>
            <a:tailEnd type="triangle"/>
          </a:ln>
        </p:spPr>
      </p:sp>
      <p:sp>
        <p:nvSpPr>
          <p:cNvPr id="19" name="fleche-64"/>
          <p:cNvSpPr/>
          <p:nvPr/>
        </p:nvSpPr>
        <p:spPr>
          <a:xfrm>
            <a:off x="5952744" y="1792224"/>
            <a:ext cx="301752" cy="914"/>
          </a:xfrm>
          <a:prstGeom prst="line">
            <a:avLst/>
          </a:prstGeom>
          <a:noFill/>
          <a:ln w="19050">
            <a:solidFill>
              <a:schemeClr val="accent6"/>
            </a:solidFill>
            <a:prstDash val="solid"/>
            <a:tailEnd type="triangle"/>
          </a:ln>
        </p:spPr>
      </p:sp>
      <p:sp>
        <p:nvSpPr>
          <p:cNvPr id="20" name="fleche-65"/>
          <p:cNvSpPr/>
          <p:nvPr/>
        </p:nvSpPr>
        <p:spPr>
          <a:xfrm>
            <a:off x="7854696" y="1792224"/>
            <a:ext cx="301752" cy="914"/>
          </a:xfrm>
          <a:prstGeom prst="line">
            <a:avLst/>
          </a:prstGeom>
          <a:noFill/>
          <a:ln w="19050">
            <a:solidFill>
              <a:schemeClr val="accent6"/>
            </a:solidFill>
            <a:prstDash val="solid"/>
            <a:tailEnd type="triangle"/>
          </a:ln>
        </p:spPr>
      </p:sp>
      <p:sp>
        <p:nvSpPr>
          <p:cNvPr id="21" name="fleche-66"/>
          <p:cNvSpPr/>
          <p:nvPr/>
        </p:nvSpPr>
        <p:spPr>
          <a:xfrm>
            <a:off x="9756648" y="1792224"/>
            <a:ext cx="301752" cy="914"/>
          </a:xfrm>
          <a:prstGeom prst="line">
            <a:avLst/>
          </a:prstGeom>
          <a:noFill/>
          <a:ln w="19050">
            <a:solidFill>
              <a:schemeClr val="accent6"/>
            </a:solidFill>
            <a:prstDash val="solid"/>
            <a:tailEnd type="triangle"/>
          </a:ln>
        </p:spPr>
      </p:sp>
      <p:sp>
        <p:nvSpPr>
          <p:cNvPr id="22" name="service-67"/>
          <p:cNvSpPr/>
          <p:nvPr/>
        </p:nvSpPr>
        <p:spPr>
          <a:xfrm>
            <a:off x="2450592" y="2606040"/>
            <a:ext cx="1600200" cy="640080"/>
          </a:xfrm>
          <a:prstGeom prst="roundRect">
            <a:avLst>
              <a:gd name="adj" fmla="val 11429"/>
            </a:avLst>
          </a:prstGeom>
          <a:solidFill>
            <a:schemeClr val="bg1"/>
          </a:solidFill>
          <a:ln w="15875">
            <a:solidFill>
              <a:schemeClr val="tx1"/>
            </a:solidFill>
            <a:prstDash val="solid"/>
          </a:ln>
        </p:spPr>
      </p:sp>
      <p:sp>
        <p:nvSpPr>
          <p:cNvPr id="23" name="service-texte-68"/>
          <p:cNvSpPr txBox="1"/>
          <p:nvPr/>
        </p:nvSpPr>
        <p:spPr>
          <a:xfrm>
            <a:off x="2450592"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S3</a:t>
            </a:r>
            <a:endParaRPr lang="en-US" sz="1200" dirty="0"/>
          </a:p>
          <a:p>
            <a:pPr algn="ctr" indent="0" marL="0">
              <a:buNone/>
            </a:pPr>
            <a:r>
              <a:rPr lang="en-US" sz="1000" dirty="0">
                <a:solidFill>
                  <a:schemeClr val="tx1"/>
                </a:solidFill>
              </a:rPr>
              <a:t>site Vue compilé</a:t>
            </a:r>
            <a:endParaRPr lang="en-US" sz="1200" dirty="0"/>
          </a:p>
        </p:txBody>
      </p:sp>
      <p:sp>
        <p:nvSpPr>
          <p:cNvPr id="24" name="fleche-69"/>
          <p:cNvSpPr/>
          <p:nvPr/>
        </p:nvSpPr>
        <p:spPr>
          <a:xfrm>
            <a:off x="3250692" y="2167128"/>
            <a:ext cx="914" cy="438912"/>
          </a:xfrm>
          <a:prstGeom prst="line">
            <a:avLst/>
          </a:prstGeom>
          <a:noFill/>
          <a:ln w="19050">
            <a:solidFill>
              <a:schemeClr val="accent6"/>
            </a:solidFill>
            <a:prstDash val="solid"/>
            <a:tailEnd type="triangle"/>
          </a:ln>
        </p:spPr>
      </p:sp>
      <p:sp>
        <p:nvSpPr>
          <p:cNvPr id="25" name="service-70"/>
          <p:cNvSpPr/>
          <p:nvPr/>
        </p:nvSpPr>
        <p:spPr>
          <a:xfrm>
            <a:off x="4352544" y="2606040"/>
            <a:ext cx="1600200" cy="640080"/>
          </a:xfrm>
          <a:prstGeom prst="roundRect">
            <a:avLst>
              <a:gd name="adj" fmla="val 11429"/>
            </a:avLst>
          </a:prstGeom>
          <a:solidFill>
            <a:schemeClr val="bg1"/>
          </a:solidFill>
          <a:ln w="15875">
            <a:solidFill>
              <a:schemeClr val="tx1"/>
            </a:solidFill>
            <a:prstDash val="solid"/>
          </a:ln>
        </p:spPr>
      </p:sp>
      <p:sp>
        <p:nvSpPr>
          <p:cNvPr id="26" name="service-texte-71"/>
          <p:cNvSpPr txBox="1"/>
          <p:nvPr/>
        </p:nvSpPr>
        <p:spPr>
          <a:xfrm>
            <a:off x="4352544"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Cognito</a:t>
            </a:r>
            <a:endParaRPr lang="en-US" sz="1200" dirty="0"/>
          </a:p>
          <a:p>
            <a:pPr algn="ctr" indent="0" marL="0">
              <a:buNone/>
            </a:pPr>
            <a:r>
              <a:rPr lang="en-US" sz="1000" dirty="0">
                <a:solidFill>
                  <a:schemeClr val="tx1"/>
                </a:solidFill>
              </a:rPr>
              <a:t>comptes et rôles</a:t>
            </a:r>
            <a:endParaRPr lang="en-US" sz="1200" dirty="0"/>
          </a:p>
        </p:txBody>
      </p:sp>
      <p:sp>
        <p:nvSpPr>
          <p:cNvPr id="27" name="fleche-72"/>
          <p:cNvSpPr/>
          <p:nvPr/>
        </p:nvSpPr>
        <p:spPr>
          <a:xfrm flipV="1">
            <a:off x="5152644" y="2167128"/>
            <a:ext cx="914" cy="438912"/>
          </a:xfrm>
          <a:prstGeom prst="line">
            <a:avLst/>
          </a:prstGeom>
          <a:noFill/>
          <a:ln w="19050">
            <a:solidFill>
              <a:schemeClr val="accent6"/>
            </a:solidFill>
            <a:prstDash val="solid"/>
            <a:tailEnd type="triangle"/>
          </a:ln>
        </p:spPr>
      </p:sp>
      <p:sp>
        <p:nvSpPr>
          <p:cNvPr id="28" name="service-73"/>
          <p:cNvSpPr/>
          <p:nvPr/>
        </p:nvSpPr>
        <p:spPr>
          <a:xfrm>
            <a:off x="6254496" y="2606040"/>
            <a:ext cx="1600200" cy="640080"/>
          </a:xfrm>
          <a:prstGeom prst="roundRect">
            <a:avLst>
              <a:gd name="adj" fmla="val 11429"/>
            </a:avLst>
          </a:prstGeom>
          <a:solidFill>
            <a:schemeClr val="bg1"/>
          </a:solidFill>
          <a:ln w="15875">
            <a:solidFill>
              <a:schemeClr val="tx1"/>
            </a:solidFill>
            <a:prstDash val="solid"/>
          </a:ln>
        </p:spPr>
      </p:sp>
      <p:sp>
        <p:nvSpPr>
          <p:cNvPr id="29" name="service-texte-74"/>
          <p:cNvSpPr txBox="1"/>
          <p:nvPr/>
        </p:nvSpPr>
        <p:spPr>
          <a:xfrm>
            <a:off x="6254496"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Translate</a:t>
            </a:r>
            <a:endParaRPr lang="en-US" sz="1200" dirty="0"/>
          </a:p>
          <a:p>
            <a:pPr algn="ctr" indent="0" marL="0">
              <a:buNone/>
            </a:pPr>
            <a:r>
              <a:rPr lang="en-US" sz="1000" dirty="0">
                <a:solidFill>
                  <a:schemeClr val="tx1"/>
                </a:solidFill>
              </a:rPr>
              <a:t>noms en anglais</a:t>
            </a:r>
            <a:endParaRPr lang="en-US" sz="1200" dirty="0"/>
          </a:p>
        </p:txBody>
      </p:sp>
      <p:sp>
        <p:nvSpPr>
          <p:cNvPr id="30" name="fleche-75"/>
          <p:cNvSpPr/>
          <p:nvPr/>
        </p:nvSpPr>
        <p:spPr>
          <a:xfrm>
            <a:off x="7054596" y="2167128"/>
            <a:ext cx="914" cy="438912"/>
          </a:xfrm>
          <a:prstGeom prst="line">
            <a:avLst/>
          </a:prstGeom>
          <a:noFill/>
          <a:ln w="19050">
            <a:solidFill>
              <a:schemeClr val="accent6"/>
            </a:solidFill>
            <a:prstDash val="solid"/>
            <a:tailEnd type="triangle"/>
          </a:ln>
        </p:spPr>
      </p:sp>
      <p:sp>
        <p:nvSpPr>
          <p:cNvPr id="31" name="trait-76"/>
          <p:cNvSpPr/>
          <p:nvPr/>
        </p:nvSpPr>
        <p:spPr>
          <a:xfrm>
            <a:off x="10858500" y="2167128"/>
            <a:ext cx="914" cy="1444752"/>
          </a:xfrm>
          <a:prstGeom prst="line">
            <a:avLst/>
          </a:prstGeom>
          <a:noFill/>
          <a:ln w="19050">
            <a:solidFill>
              <a:schemeClr val="accent6"/>
            </a:solidFill>
            <a:prstDash val="solid"/>
          </a:ln>
        </p:spPr>
      </p:sp>
      <p:sp>
        <p:nvSpPr>
          <p:cNvPr id="32" name="trait-77"/>
          <p:cNvSpPr/>
          <p:nvPr/>
        </p:nvSpPr>
        <p:spPr>
          <a:xfrm>
            <a:off x="1325880" y="3611880"/>
            <a:ext cx="9532620" cy="914"/>
          </a:xfrm>
          <a:prstGeom prst="line">
            <a:avLst/>
          </a:prstGeom>
          <a:noFill/>
          <a:ln w="19050">
            <a:solidFill>
              <a:schemeClr val="accent6"/>
            </a:solidFill>
            <a:prstDash val="solid"/>
          </a:ln>
        </p:spPr>
      </p:sp>
      <p:sp>
        <p:nvSpPr>
          <p:cNvPr id="33" name="fleche-78"/>
          <p:cNvSpPr/>
          <p:nvPr/>
        </p:nvSpPr>
        <p:spPr>
          <a:xfrm>
            <a:off x="1325880" y="3611880"/>
            <a:ext cx="914" cy="365760"/>
          </a:xfrm>
          <a:prstGeom prst="line">
            <a:avLst/>
          </a:prstGeom>
          <a:noFill/>
          <a:ln w="19050">
            <a:solidFill>
              <a:schemeClr val="accent6"/>
            </a:solidFill>
            <a:prstDash val="solid"/>
            <a:tailEnd type="triangle"/>
          </a:ln>
        </p:spPr>
      </p:sp>
      <p:sp>
        <p:nvSpPr>
          <p:cNvPr id="34" name="service-79"/>
          <p:cNvSpPr/>
          <p:nvPr/>
        </p:nvSpPr>
        <p:spPr>
          <a:xfrm>
            <a:off x="548640" y="3977640"/>
            <a:ext cx="1554480" cy="2148840"/>
          </a:xfrm>
          <a:prstGeom prst="roundRect">
            <a:avLst>
              <a:gd name="adj" fmla="val 4706"/>
            </a:avLst>
          </a:prstGeom>
          <a:solidFill>
            <a:schemeClr val="tx1"/>
          </a:solidFill>
          <a:ln w="15875">
            <a:solidFill>
              <a:schemeClr val="tx1"/>
            </a:solidFill>
            <a:prstDash val="solid"/>
          </a:ln>
        </p:spPr>
      </p:sp>
      <p:sp>
        <p:nvSpPr>
          <p:cNvPr id="35" name="service-texte-80"/>
          <p:cNvSpPr txBox="1"/>
          <p:nvPr/>
        </p:nvSpPr>
        <p:spPr>
          <a:xfrm>
            <a:off x="548640" y="3977640"/>
            <a:ext cx="1554480" cy="2148840"/>
          </a:xfrm>
          <a:prstGeom prst="rect">
            <a:avLst/>
          </a:prstGeom>
          <a:noFill/>
          <a:ln/>
        </p:spPr>
        <p:txBody>
          <a:bodyPr wrap="square" lIns="508" tIns="508" rIns="508" bIns="508" rtlCol="0" anchor="ctr"/>
          <a:lstStyle/>
          <a:p>
            <a:pPr algn="ctr" indent="0" marL="0">
              <a:buNone/>
            </a:pPr>
            <a:r>
              <a:rPr lang="en-US" sz="1200" b="1" dirty="0">
                <a:solidFill>
                  <a:schemeClr val="bg1"/>
                </a:solidFill>
              </a:rPr>
              <a:t>SNS</a:t>
            </a:r>
            <a:endParaRPr lang="en-US" sz="1200" dirty="0"/>
          </a:p>
          <a:p>
            <a:pPr algn="ctr" indent="0" marL="0">
              <a:buNone/>
            </a:pPr>
            <a:r>
              <a:rPr lang="en-US" sz="1000" dirty="0">
                <a:solidFill>
                  <a:schemeClr val="bg1"/>
                </a:solidFill>
              </a:rPr>
              <a:t>1 événement,</a:t>
            </a:r>
            <a:endParaRPr lang="en-US" sz="1200" dirty="0"/>
          </a:p>
          <a:p>
            <a:pPr algn="ctr" indent="0" marL="0">
              <a:buNone/>
            </a:pPr>
            <a:r>
              <a:rPr lang="en-US" sz="1000" dirty="0">
                <a:solidFill>
                  <a:schemeClr val="bg1"/>
                </a:solidFill>
              </a:rPr>
              <a:t>3 abonnés</a:t>
            </a:r>
            <a:endParaRPr lang="en-US" sz="1200" dirty="0"/>
          </a:p>
        </p:txBody>
      </p:sp>
      <p:sp>
        <p:nvSpPr>
          <p:cNvPr id="36" name="fleche-81"/>
          <p:cNvSpPr/>
          <p:nvPr/>
        </p:nvSpPr>
        <p:spPr>
          <a:xfrm>
            <a:off x="2103120" y="4325112"/>
            <a:ext cx="548640" cy="914"/>
          </a:xfrm>
          <a:prstGeom prst="line">
            <a:avLst/>
          </a:prstGeom>
          <a:noFill/>
          <a:ln w="19050">
            <a:solidFill>
              <a:schemeClr val="accent6"/>
            </a:solidFill>
            <a:prstDash val="solid"/>
            <a:tailEnd type="triangle"/>
          </a:ln>
        </p:spPr>
      </p:sp>
      <p:sp>
        <p:nvSpPr>
          <p:cNvPr id="37" name="service-82"/>
          <p:cNvSpPr/>
          <p:nvPr/>
        </p:nvSpPr>
        <p:spPr>
          <a:xfrm>
            <a:off x="2651760" y="4023360"/>
            <a:ext cx="1783080" cy="603504"/>
          </a:xfrm>
          <a:prstGeom prst="roundRect">
            <a:avLst>
              <a:gd name="adj" fmla="val 12121"/>
            </a:avLst>
          </a:prstGeom>
          <a:solidFill>
            <a:schemeClr val="bg1"/>
          </a:solidFill>
          <a:ln w="15875">
            <a:solidFill>
              <a:schemeClr val="tx1"/>
            </a:solidFill>
            <a:prstDash val="solid"/>
          </a:ln>
        </p:spPr>
      </p:sp>
      <p:sp>
        <p:nvSpPr>
          <p:cNvPr id="38" name="service-texte-83"/>
          <p:cNvSpPr txBox="1"/>
          <p:nvPr/>
        </p:nvSpPr>
        <p:spPr>
          <a:xfrm>
            <a:off x="26517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traitement</a:t>
            </a:r>
            <a:endParaRPr lang="en-US" sz="1200" dirty="0"/>
          </a:p>
          <a:p>
            <a:pPr algn="ctr" indent="0" marL="0">
              <a:buNone/>
            </a:pPr>
            <a:r>
              <a:rPr lang="en-US" sz="1000" dirty="0">
                <a:solidFill>
                  <a:schemeClr val="tx1"/>
                </a:solidFill>
              </a:rPr>
              <a:t>file</a:t>
            </a:r>
            <a:endParaRPr lang="en-US" sz="1200" dirty="0"/>
          </a:p>
        </p:txBody>
      </p:sp>
      <p:sp>
        <p:nvSpPr>
          <p:cNvPr id="39" name="service-84"/>
          <p:cNvSpPr/>
          <p:nvPr/>
        </p:nvSpPr>
        <p:spPr>
          <a:xfrm>
            <a:off x="4709160" y="4023360"/>
            <a:ext cx="1783080" cy="603504"/>
          </a:xfrm>
          <a:prstGeom prst="roundRect">
            <a:avLst>
              <a:gd name="adj" fmla="val 12121"/>
            </a:avLst>
          </a:prstGeom>
          <a:solidFill>
            <a:schemeClr val="accent5"/>
          </a:solidFill>
          <a:ln w="15875">
            <a:solidFill>
              <a:schemeClr val="accent1"/>
            </a:solidFill>
            <a:prstDash val="solid"/>
          </a:ln>
        </p:spPr>
      </p:sp>
      <p:sp>
        <p:nvSpPr>
          <p:cNvPr id="40" name="service-texte-85"/>
          <p:cNvSpPr txBox="1"/>
          <p:nvPr/>
        </p:nvSpPr>
        <p:spPr>
          <a:xfrm>
            <a:off x="47091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traitement</a:t>
            </a:r>
            <a:endParaRPr lang="en-US" sz="1200" dirty="0"/>
          </a:p>
          <a:p>
            <a:pPr algn="ctr" indent="0" marL="0">
              <a:buNone/>
            </a:pPr>
            <a:r>
              <a:rPr lang="en-US" sz="1000" dirty="0">
                <a:solidFill>
                  <a:schemeClr val="tx1"/>
                </a:solidFill>
              </a:rPr>
              <a:t>Lambda</a:t>
            </a:r>
            <a:endParaRPr lang="en-US" sz="1200" dirty="0"/>
          </a:p>
        </p:txBody>
      </p:sp>
      <p:sp>
        <p:nvSpPr>
          <p:cNvPr id="41" name="fleche-86"/>
          <p:cNvSpPr/>
          <p:nvPr/>
        </p:nvSpPr>
        <p:spPr>
          <a:xfrm>
            <a:off x="4434840" y="4325112"/>
            <a:ext cx="274320" cy="914"/>
          </a:xfrm>
          <a:prstGeom prst="line">
            <a:avLst/>
          </a:prstGeom>
          <a:noFill/>
          <a:ln w="19050">
            <a:solidFill>
              <a:schemeClr val="accent6"/>
            </a:solidFill>
            <a:prstDash val="solid"/>
            <a:tailEnd type="triangle"/>
          </a:ln>
        </p:spPr>
      </p:sp>
      <p:sp>
        <p:nvSpPr>
          <p:cNvPr id="42" name="service-87"/>
          <p:cNvSpPr/>
          <p:nvPr/>
        </p:nvSpPr>
        <p:spPr>
          <a:xfrm>
            <a:off x="6766560" y="4023360"/>
            <a:ext cx="1783080" cy="603504"/>
          </a:xfrm>
          <a:prstGeom prst="roundRect">
            <a:avLst>
              <a:gd name="adj" fmla="val 12121"/>
            </a:avLst>
          </a:prstGeom>
          <a:solidFill>
            <a:schemeClr val="accent5"/>
          </a:solidFill>
          <a:ln w="15875">
            <a:solidFill>
              <a:schemeClr val="accent1"/>
            </a:solidFill>
            <a:prstDash val="solid"/>
          </a:ln>
        </p:spPr>
      </p:sp>
      <p:sp>
        <p:nvSpPr>
          <p:cNvPr id="43" name="service-texte-88"/>
          <p:cNvSpPr txBox="1"/>
          <p:nvPr/>
        </p:nvSpPr>
        <p:spPr>
          <a:xfrm>
            <a:off x="67665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Step Functions</a:t>
            </a:r>
            <a:endParaRPr lang="en-US" sz="1200" dirty="0"/>
          </a:p>
          <a:p>
            <a:pPr algn="ctr" indent="0" marL="0">
              <a:buNone/>
            </a:pPr>
            <a:r>
              <a:rPr lang="en-US" sz="1000" dirty="0">
                <a:solidFill>
                  <a:schemeClr val="tx1"/>
                </a:solidFill>
              </a:rPr>
              <a:t>expédition simulée</a:t>
            </a:r>
            <a:endParaRPr lang="en-US" sz="1200" dirty="0"/>
          </a:p>
        </p:txBody>
      </p:sp>
      <p:sp>
        <p:nvSpPr>
          <p:cNvPr id="44" name="fleche-89"/>
          <p:cNvSpPr/>
          <p:nvPr/>
        </p:nvSpPr>
        <p:spPr>
          <a:xfrm>
            <a:off x="6492240" y="4325112"/>
            <a:ext cx="274320" cy="914"/>
          </a:xfrm>
          <a:prstGeom prst="line">
            <a:avLst/>
          </a:prstGeom>
          <a:noFill/>
          <a:ln w="19050">
            <a:solidFill>
              <a:schemeClr val="accent6"/>
            </a:solidFill>
            <a:prstDash val="solid"/>
            <a:tailEnd type="triangle"/>
          </a:ln>
        </p:spPr>
      </p:sp>
      <p:sp>
        <p:nvSpPr>
          <p:cNvPr id="45" name="texte-90"/>
          <p:cNvSpPr txBox="1"/>
          <p:nvPr/>
        </p:nvSpPr>
        <p:spPr>
          <a:xfrm>
            <a:off x="8823960" y="4133088"/>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Statuts en direct sur la page de suivi</a:t>
            </a:r>
            <a:endParaRPr lang="en-US" sz="1200" dirty="0"/>
          </a:p>
        </p:txBody>
      </p:sp>
      <p:sp>
        <p:nvSpPr>
          <p:cNvPr id="46" name="fleche-91"/>
          <p:cNvSpPr/>
          <p:nvPr/>
        </p:nvSpPr>
        <p:spPr>
          <a:xfrm>
            <a:off x="2103120" y="5074920"/>
            <a:ext cx="548640" cy="914"/>
          </a:xfrm>
          <a:prstGeom prst="line">
            <a:avLst/>
          </a:prstGeom>
          <a:noFill/>
          <a:ln w="19050">
            <a:solidFill>
              <a:schemeClr val="accent6"/>
            </a:solidFill>
            <a:prstDash val="solid"/>
            <a:tailEnd type="triangle"/>
          </a:ln>
        </p:spPr>
      </p:sp>
      <p:sp>
        <p:nvSpPr>
          <p:cNvPr id="47" name="service-92"/>
          <p:cNvSpPr/>
          <p:nvPr/>
        </p:nvSpPr>
        <p:spPr>
          <a:xfrm>
            <a:off x="2651760" y="4773168"/>
            <a:ext cx="1783080" cy="603504"/>
          </a:xfrm>
          <a:prstGeom prst="roundRect">
            <a:avLst>
              <a:gd name="adj" fmla="val 12121"/>
            </a:avLst>
          </a:prstGeom>
          <a:solidFill>
            <a:schemeClr val="bg1"/>
          </a:solidFill>
          <a:ln w="15875">
            <a:solidFill>
              <a:schemeClr val="tx1"/>
            </a:solidFill>
            <a:prstDash val="solid"/>
          </a:ln>
        </p:spPr>
      </p:sp>
      <p:sp>
        <p:nvSpPr>
          <p:cNvPr id="48" name="service-texte-93"/>
          <p:cNvSpPr txBox="1"/>
          <p:nvPr/>
        </p:nvSpPr>
        <p:spPr>
          <a:xfrm>
            <a:off x="26517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audit</a:t>
            </a:r>
            <a:endParaRPr lang="en-US" sz="1200" dirty="0"/>
          </a:p>
          <a:p>
            <a:pPr algn="ctr" indent="0" marL="0">
              <a:buNone/>
            </a:pPr>
            <a:r>
              <a:rPr lang="en-US" sz="1000" dirty="0">
                <a:solidFill>
                  <a:schemeClr val="tx1"/>
                </a:solidFill>
              </a:rPr>
              <a:t>file</a:t>
            </a:r>
            <a:endParaRPr lang="en-US" sz="1200" dirty="0"/>
          </a:p>
        </p:txBody>
      </p:sp>
      <p:sp>
        <p:nvSpPr>
          <p:cNvPr id="49" name="service-94"/>
          <p:cNvSpPr/>
          <p:nvPr/>
        </p:nvSpPr>
        <p:spPr>
          <a:xfrm>
            <a:off x="4709160" y="4773168"/>
            <a:ext cx="1783080" cy="603504"/>
          </a:xfrm>
          <a:prstGeom prst="roundRect">
            <a:avLst>
              <a:gd name="adj" fmla="val 12121"/>
            </a:avLst>
          </a:prstGeom>
          <a:solidFill>
            <a:schemeClr val="accent5"/>
          </a:solidFill>
          <a:ln w="15875">
            <a:solidFill>
              <a:schemeClr val="accent1"/>
            </a:solidFill>
            <a:prstDash val="solid"/>
          </a:ln>
        </p:spPr>
      </p:sp>
      <p:sp>
        <p:nvSpPr>
          <p:cNvPr id="50" name="service-texte-95"/>
          <p:cNvSpPr txBox="1"/>
          <p:nvPr/>
        </p:nvSpPr>
        <p:spPr>
          <a:xfrm>
            <a:off x="47091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audit</a:t>
            </a:r>
            <a:endParaRPr lang="en-US" sz="1200" dirty="0"/>
          </a:p>
          <a:p>
            <a:pPr algn="ctr" indent="0" marL="0">
              <a:buNone/>
            </a:pPr>
            <a:r>
              <a:rPr lang="en-US" sz="1000" dirty="0">
                <a:solidFill>
                  <a:schemeClr val="tx1"/>
                </a:solidFill>
              </a:rPr>
              <a:t>Lambda</a:t>
            </a:r>
            <a:endParaRPr lang="en-US" sz="1200" dirty="0"/>
          </a:p>
        </p:txBody>
      </p:sp>
      <p:sp>
        <p:nvSpPr>
          <p:cNvPr id="51" name="fleche-96"/>
          <p:cNvSpPr/>
          <p:nvPr/>
        </p:nvSpPr>
        <p:spPr>
          <a:xfrm>
            <a:off x="4434840" y="5074920"/>
            <a:ext cx="274320" cy="914"/>
          </a:xfrm>
          <a:prstGeom prst="line">
            <a:avLst/>
          </a:prstGeom>
          <a:noFill/>
          <a:ln w="19050">
            <a:solidFill>
              <a:schemeClr val="accent6"/>
            </a:solidFill>
            <a:prstDash val="solid"/>
            <a:tailEnd type="triangle"/>
          </a:ln>
        </p:spPr>
      </p:sp>
      <p:sp>
        <p:nvSpPr>
          <p:cNvPr id="52" name="service-97"/>
          <p:cNvSpPr/>
          <p:nvPr/>
        </p:nvSpPr>
        <p:spPr>
          <a:xfrm>
            <a:off x="6766560" y="4773168"/>
            <a:ext cx="1783080" cy="603504"/>
          </a:xfrm>
          <a:prstGeom prst="roundRect">
            <a:avLst>
              <a:gd name="adj" fmla="val 12121"/>
            </a:avLst>
          </a:prstGeom>
          <a:solidFill>
            <a:schemeClr val="bg1"/>
          </a:solidFill>
          <a:ln w="15875">
            <a:solidFill>
              <a:schemeClr val="tx1"/>
            </a:solidFill>
            <a:prstDash val="solid"/>
          </a:ln>
        </p:spPr>
      </p:sp>
      <p:sp>
        <p:nvSpPr>
          <p:cNvPr id="53" name="service-texte-98"/>
          <p:cNvSpPr txBox="1"/>
          <p:nvPr/>
        </p:nvSpPr>
        <p:spPr>
          <a:xfrm>
            <a:off x="67665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S3 audit</a:t>
            </a:r>
            <a:endParaRPr lang="en-US" sz="1200" dirty="0"/>
          </a:p>
          <a:p>
            <a:pPr algn="ctr" indent="0" marL="0">
              <a:buNone/>
            </a:pPr>
            <a:r>
              <a:rPr lang="en-US" sz="1000" dirty="0">
                <a:solidFill>
                  <a:schemeClr val="tx1"/>
                </a:solidFill>
              </a:rPr>
              <a:t>1 JSON par commande</a:t>
            </a:r>
            <a:endParaRPr lang="en-US" sz="1200" dirty="0"/>
          </a:p>
        </p:txBody>
      </p:sp>
      <p:sp>
        <p:nvSpPr>
          <p:cNvPr id="54" name="fleche-99"/>
          <p:cNvSpPr/>
          <p:nvPr/>
        </p:nvSpPr>
        <p:spPr>
          <a:xfrm>
            <a:off x="6492240" y="5074920"/>
            <a:ext cx="274320" cy="914"/>
          </a:xfrm>
          <a:prstGeom prst="line">
            <a:avLst/>
          </a:prstGeom>
          <a:noFill/>
          <a:ln w="19050">
            <a:solidFill>
              <a:schemeClr val="accent6"/>
            </a:solidFill>
            <a:prstDash val="solid"/>
            <a:tailEnd type="triangle"/>
          </a:ln>
        </p:spPr>
      </p:sp>
      <p:sp>
        <p:nvSpPr>
          <p:cNvPr id="55" name="texte-100"/>
          <p:cNvSpPr txBox="1"/>
          <p:nvPr/>
        </p:nvSpPr>
        <p:spPr>
          <a:xfrm>
            <a:off x="8823960" y="4882896"/>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Prêt pour Athena et le reporting</a:t>
            </a:r>
            <a:endParaRPr lang="en-US" sz="1200" dirty="0"/>
          </a:p>
        </p:txBody>
      </p:sp>
      <p:sp>
        <p:nvSpPr>
          <p:cNvPr id="56" name="fleche-101"/>
          <p:cNvSpPr/>
          <p:nvPr/>
        </p:nvSpPr>
        <p:spPr>
          <a:xfrm>
            <a:off x="2103120" y="5824728"/>
            <a:ext cx="548640" cy="914"/>
          </a:xfrm>
          <a:prstGeom prst="line">
            <a:avLst/>
          </a:prstGeom>
          <a:noFill/>
          <a:ln w="19050">
            <a:solidFill>
              <a:schemeClr val="accent6"/>
            </a:solidFill>
            <a:prstDash val="solid"/>
            <a:tailEnd type="triangle"/>
          </a:ln>
        </p:spPr>
      </p:sp>
      <p:sp>
        <p:nvSpPr>
          <p:cNvPr id="57" name="service-102"/>
          <p:cNvSpPr/>
          <p:nvPr/>
        </p:nvSpPr>
        <p:spPr>
          <a:xfrm>
            <a:off x="2651760" y="5522976"/>
            <a:ext cx="1783080" cy="603504"/>
          </a:xfrm>
          <a:prstGeom prst="roundRect">
            <a:avLst>
              <a:gd name="adj" fmla="val 12121"/>
            </a:avLst>
          </a:prstGeom>
          <a:solidFill>
            <a:schemeClr val="accent5"/>
          </a:solidFill>
          <a:ln w="15875">
            <a:solidFill>
              <a:schemeClr val="accent1"/>
            </a:solidFill>
            <a:prstDash val="solid"/>
          </a:ln>
        </p:spPr>
      </p:sp>
      <p:sp>
        <p:nvSpPr>
          <p:cNvPr id="58" name="service-texte-103"/>
          <p:cNvSpPr txBox="1"/>
          <p:nvPr/>
        </p:nvSpPr>
        <p:spPr>
          <a:xfrm>
            <a:off x="26517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notification</a:t>
            </a:r>
            <a:endParaRPr lang="en-US" sz="1200" dirty="0"/>
          </a:p>
          <a:p>
            <a:pPr algn="ctr" indent="0" marL="0">
              <a:buNone/>
            </a:pPr>
            <a:r>
              <a:rPr lang="en-US" sz="1000" dirty="0">
                <a:solidFill>
                  <a:schemeClr val="tx1"/>
                </a:solidFill>
              </a:rPr>
              <a:t>Lambda</a:t>
            </a:r>
            <a:endParaRPr lang="en-US" sz="1200" dirty="0"/>
          </a:p>
        </p:txBody>
      </p:sp>
      <p:sp>
        <p:nvSpPr>
          <p:cNvPr id="59" name="service-104"/>
          <p:cNvSpPr/>
          <p:nvPr/>
        </p:nvSpPr>
        <p:spPr>
          <a:xfrm>
            <a:off x="4709160" y="5522976"/>
            <a:ext cx="1783080" cy="603504"/>
          </a:xfrm>
          <a:prstGeom prst="roundRect">
            <a:avLst>
              <a:gd name="adj" fmla="val 12121"/>
            </a:avLst>
          </a:prstGeom>
          <a:solidFill>
            <a:schemeClr val="bg1"/>
          </a:solidFill>
          <a:ln w="15875">
            <a:solidFill>
              <a:schemeClr val="tx1"/>
            </a:solidFill>
            <a:prstDash val="solid"/>
          </a:ln>
        </p:spPr>
      </p:sp>
      <p:sp>
        <p:nvSpPr>
          <p:cNvPr id="60" name="service-texte-105"/>
          <p:cNvSpPr txBox="1"/>
          <p:nvPr/>
        </p:nvSpPr>
        <p:spPr>
          <a:xfrm>
            <a:off x="47091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e-mail FR / EN</a:t>
            </a:r>
            <a:endParaRPr lang="en-US" sz="1200" dirty="0"/>
          </a:p>
        </p:txBody>
      </p:sp>
      <p:sp>
        <p:nvSpPr>
          <p:cNvPr id="61" name="fleche-106"/>
          <p:cNvSpPr/>
          <p:nvPr/>
        </p:nvSpPr>
        <p:spPr>
          <a:xfrm>
            <a:off x="4434840" y="5824728"/>
            <a:ext cx="274320" cy="914"/>
          </a:xfrm>
          <a:prstGeom prst="line">
            <a:avLst/>
          </a:prstGeom>
          <a:noFill/>
          <a:ln w="19050">
            <a:solidFill>
              <a:schemeClr val="accent6"/>
            </a:solidFill>
            <a:prstDash val="solid"/>
            <a:tailEnd type="triangle"/>
          </a:ln>
        </p:spPr>
      </p:sp>
      <p:sp>
        <p:nvSpPr>
          <p:cNvPr id="62" name="service-107"/>
          <p:cNvSpPr/>
          <p:nvPr/>
        </p:nvSpPr>
        <p:spPr>
          <a:xfrm>
            <a:off x="6766560" y="5522976"/>
            <a:ext cx="1783080" cy="603504"/>
          </a:xfrm>
          <a:prstGeom prst="roundRect">
            <a:avLst>
              <a:gd name="adj" fmla="val 12121"/>
            </a:avLst>
          </a:prstGeom>
          <a:solidFill>
            <a:schemeClr val="bg1"/>
          </a:solidFill>
          <a:ln w="15875">
            <a:solidFill>
              <a:schemeClr val="tx1"/>
            </a:solidFill>
            <a:prstDash val="solid"/>
          </a:ln>
        </p:spPr>
      </p:sp>
      <p:sp>
        <p:nvSpPr>
          <p:cNvPr id="63" name="service-texte-108"/>
          <p:cNvSpPr txBox="1"/>
          <p:nvPr/>
        </p:nvSpPr>
        <p:spPr>
          <a:xfrm>
            <a:off x="67665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EventBridge</a:t>
            </a:r>
            <a:endParaRPr lang="en-US" sz="1200" dirty="0"/>
          </a:p>
          <a:p>
            <a:pPr algn="ctr" indent="0" marL="0">
              <a:buNone/>
            </a:pPr>
            <a:r>
              <a:rPr lang="en-US" sz="1000" dirty="0">
                <a:solidFill>
                  <a:schemeClr val="tx1"/>
                </a:solidFill>
              </a:rPr>
              <a:t>Scheduler : rappels</a:t>
            </a:r>
            <a:endParaRPr lang="en-US" sz="1200" dirty="0"/>
          </a:p>
        </p:txBody>
      </p:sp>
      <p:sp>
        <p:nvSpPr>
          <p:cNvPr id="64" name="fleche-109"/>
          <p:cNvSpPr/>
          <p:nvPr/>
        </p:nvSpPr>
        <p:spPr>
          <a:xfrm>
            <a:off x="6492240" y="5824728"/>
            <a:ext cx="274320" cy="914"/>
          </a:xfrm>
          <a:prstGeom prst="line">
            <a:avLst/>
          </a:prstGeom>
          <a:noFill/>
          <a:ln w="19050">
            <a:solidFill>
              <a:schemeClr val="accent6"/>
            </a:solidFill>
            <a:prstDash val="solid"/>
            <a:tailEnd type="triangle"/>
          </a:ln>
        </p:spPr>
      </p:sp>
      <p:sp>
        <p:nvSpPr>
          <p:cNvPr id="65" name="texte-110"/>
          <p:cNvSpPr txBox="1"/>
          <p:nvPr/>
        </p:nvSpPr>
        <p:spPr>
          <a:xfrm>
            <a:off x="8823960" y="5632704"/>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E-mails, rappel la veille, récap à 21 h</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rateur-111"/>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12"/>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Le suivi de commande, simulé de bout en bout</a:t>
            </a:r>
            <a:endParaRPr lang="en-US" sz="3000" dirty="0"/>
          </a:p>
        </p:txBody>
      </p:sp>
      <p:sp>
        <p:nvSpPr>
          <p:cNvPr id="5" name="carte-113"/>
          <p:cNvSpPr/>
          <p:nvPr/>
        </p:nvSpPr>
        <p:spPr>
          <a:xfrm>
            <a:off x="548640" y="1417320"/>
            <a:ext cx="3200400" cy="4480560"/>
          </a:xfrm>
          <a:prstGeom prst="roundRect">
            <a:avLst>
              <a:gd name="adj" fmla="val 3429"/>
            </a:avLst>
          </a:prstGeom>
          <a:solidFill>
            <a:schemeClr val="tx1"/>
          </a:solidFill>
          <a:ln w="12700">
            <a:solidFill>
              <a:schemeClr val="tx1"/>
            </a:solidFill>
            <a:prstDash val="solid"/>
          </a:ln>
        </p:spPr>
      </p:sp>
      <p:sp>
        <p:nvSpPr>
          <p:cNvPr id="6" name="texte-114"/>
          <p:cNvSpPr txBox="1"/>
          <p:nvPr/>
        </p:nvSpPr>
        <p:spPr>
          <a:xfrm>
            <a:off x="822960" y="1783080"/>
            <a:ext cx="2743200" cy="1097280"/>
          </a:xfrm>
          <a:prstGeom prst="rect">
            <a:avLst/>
          </a:prstGeom>
          <a:noFill/>
          <a:ln/>
        </p:spPr>
        <p:txBody>
          <a:bodyPr wrap="square" lIns="0" tIns="0" rIns="0" bIns="0" rtlCol="0" anchor="t"/>
          <a:lstStyle/>
          <a:p>
            <a:pPr indent="0" marL="0">
              <a:buNone/>
            </a:pPr>
            <a:r>
              <a:rPr lang="en-US" sz="6600" b="1" dirty="0">
                <a:solidFill>
                  <a:schemeClr val="accent1"/>
                </a:solidFill>
              </a:rPr>
              <a:t>32 s</a:t>
            </a:r>
            <a:endParaRPr lang="en-US" sz="6600" dirty="0"/>
          </a:p>
        </p:txBody>
      </p:sp>
      <p:sp>
        <p:nvSpPr>
          <p:cNvPr id="7" name="texte-115"/>
          <p:cNvSpPr txBox="1"/>
          <p:nvPr/>
        </p:nvSpPr>
        <p:spPr>
          <a:xfrm>
            <a:off x="822960" y="2971800"/>
            <a:ext cx="2651760" cy="1188720"/>
          </a:xfrm>
          <a:prstGeom prst="rect">
            <a:avLst/>
          </a:prstGeom>
          <a:noFill/>
          <a:ln/>
        </p:spPr>
        <p:txBody>
          <a:bodyPr wrap="square" lIns="0" tIns="0" rIns="0" bIns="0" rtlCol="0" anchor="t"/>
          <a:lstStyle/>
          <a:p>
            <a:pPr indent="0" marL="0">
              <a:buNone/>
            </a:pPr>
            <a:r>
              <a:rPr lang="en-US" sz="1500" dirty="0">
                <a:solidFill>
                  <a:schemeClr val="bg1"/>
                </a:solidFill>
              </a:rPr>
              <a:t>de la commande à la livraison lors de notre test réel, incident de transport compris</a:t>
            </a:r>
            <a:endParaRPr lang="en-US" sz="1500" dirty="0"/>
          </a:p>
        </p:txBody>
      </p:sp>
      <p:sp>
        <p:nvSpPr>
          <p:cNvPr id="8" name="texte-116"/>
          <p:cNvSpPr txBox="1"/>
          <p:nvPr/>
        </p:nvSpPr>
        <p:spPr>
          <a:xfrm>
            <a:off x="822960" y="4800600"/>
            <a:ext cx="2651760" cy="822960"/>
          </a:xfrm>
          <a:prstGeom prst="rect">
            <a:avLst/>
          </a:prstGeom>
          <a:noFill/>
          <a:ln/>
        </p:spPr>
        <p:txBody>
          <a:bodyPr wrap="square" lIns="0" tIns="0" rIns="0" bIns="0" rtlCol="0" anchor="t"/>
          <a:lstStyle/>
          <a:p>
            <a:pPr indent="0" marL="0">
              <a:buNone/>
            </a:pPr>
            <a:r>
              <a:rPr lang="en-US" sz="1200" dirty="0">
                <a:solidFill>
                  <a:schemeClr val="bg2"/>
                </a:solidFill>
              </a:rPr>
              <a:t>Délais et transporteur tirés au hasard à chaque commande</a:t>
            </a:r>
            <a:endParaRPr lang="en-US" sz="1200" dirty="0"/>
          </a:p>
        </p:txBody>
      </p:sp>
      <p:sp>
        <p:nvSpPr>
          <p:cNvPr id="9" name="trait-117"/>
          <p:cNvSpPr/>
          <p:nvPr/>
        </p:nvSpPr>
        <p:spPr>
          <a:xfrm>
            <a:off x="4389120" y="1645920"/>
            <a:ext cx="914" cy="3840480"/>
          </a:xfrm>
          <a:prstGeom prst="line">
            <a:avLst/>
          </a:prstGeom>
          <a:noFill/>
          <a:ln w="19050">
            <a:solidFill>
              <a:schemeClr val="accent6"/>
            </a:solidFill>
            <a:prstDash val="solid"/>
          </a:ln>
        </p:spPr>
      </p:sp>
      <p:sp>
        <p:nvSpPr>
          <p:cNvPr id="10" name="jalon-118"/>
          <p:cNvSpPr/>
          <p:nvPr/>
        </p:nvSpPr>
        <p:spPr>
          <a:xfrm>
            <a:off x="4206240" y="1463040"/>
            <a:ext cx="365760" cy="365760"/>
          </a:xfrm>
          <a:prstGeom prst="ellipse">
            <a:avLst/>
          </a:prstGeom>
          <a:solidFill>
            <a:schemeClr val="bg1"/>
          </a:solidFill>
          <a:ln w="38100">
            <a:solidFill>
              <a:schemeClr val="accent1"/>
            </a:solidFill>
            <a:prstDash val="solid"/>
          </a:ln>
        </p:spPr>
      </p:sp>
      <p:sp>
        <p:nvSpPr>
          <p:cNvPr id="11" name="texte-119"/>
          <p:cNvSpPr txBox="1"/>
          <p:nvPr/>
        </p:nvSpPr>
        <p:spPr>
          <a:xfrm>
            <a:off x="4800600" y="14813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Reçue</a:t>
            </a:r>
            <a:endParaRPr lang="en-US" sz="1600" dirty="0"/>
          </a:p>
        </p:txBody>
      </p:sp>
      <p:sp>
        <p:nvSpPr>
          <p:cNvPr id="12" name="texte-120"/>
          <p:cNvSpPr txBox="1"/>
          <p:nvPr/>
        </p:nvSpPr>
        <p:spPr>
          <a:xfrm>
            <a:off x="7086600" y="14813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Stock réservé</a:t>
            </a:r>
            <a:endParaRPr lang="en-US" sz="1300" dirty="0"/>
          </a:p>
        </p:txBody>
      </p:sp>
      <p:sp>
        <p:nvSpPr>
          <p:cNvPr id="13" name="jalon-121"/>
          <p:cNvSpPr/>
          <p:nvPr/>
        </p:nvSpPr>
        <p:spPr>
          <a:xfrm>
            <a:off x="4206240" y="2103120"/>
            <a:ext cx="365760" cy="365760"/>
          </a:xfrm>
          <a:prstGeom prst="ellipse">
            <a:avLst/>
          </a:prstGeom>
          <a:solidFill>
            <a:schemeClr val="bg1"/>
          </a:solidFill>
          <a:ln w="38100">
            <a:solidFill>
              <a:schemeClr val="accent1"/>
            </a:solidFill>
            <a:prstDash val="solid"/>
          </a:ln>
        </p:spPr>
      </p:sp>
      <p:sp>
        <p:nvSpPr>
          <p:cNvPr id="14" name="texte-122"/>
          <p:cNvSpPr txBox="1"/>
          <p:nvPr/>
        </p:nvSpPr>
        <p:spPr>
          <a:xfrm>
            <a:off x="4800600" y="21214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préparation</a:t>
            </a:r>
            <a:endParaRPr lang="en-US" sz="1600" dirty="0"/>
          </a:p>
        </p:txBody>
      </p:sp>
      <p:sp>
        <p:nvSpPr>
          <p:cNvPr id="15" name="texte-123"/>
          <p:cNvSpPr txBox="1"/>
          <p:nvPr/>
        </p:nvSpPr>
        <p:spPr>
          <a:xfrm>
            <a:off x="7086600" y="21214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Entrepôt</a:t>
            </a:r>
            <a:endParaRPr lang="en-US" sz="1300" dirty="0"/>
          </a:p>
        </p:txBody>
      </p:sp>
      <p:sp>
        <p:nvSpPr>
          <p:cNvPr id="16" name="jalon-124"/>
          <p:cNvSpPr/>
          <p:nvPr/>
        </p:nvSpPr>
        <p:spPr>
          <a:xfrm>
            <a:off x="4206240" y="2743200"/>
            <a:ext cx="365760" cy="365760"/>
          </a:xfrm>
          <a:prstGeom prst="ellipse">
            <a:avLst/>
          </a:prstGeom>
          <a:solidFill>
            <a:schemeClr val="bg1"/>
          </a:solidFill>
          <a:ln w="38100">
            <a:solidFill>
              <a:schemeClr val="accent1"/>
            </a:solidFill>
            <a:prstDash val="solid"/>
          </a:ln>
        </p:spPr>
      </p:sp>
      <p:sp>
        <p:nvSpPr>
          <p:cNvPr id="17" name="texte-125"/>
          <p:cNvSpPr txBox="1"/>
          <p:nvPr/>
        </p:nvSpPr>
        <p:spPr>
          <a:xfrm>
            <a:off x="4800600" y="276148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Emballée</a:t>
            </a:r>
            <a:endParaRPr lang="en-US" sz="1600" dirty="0"/>
          </a:p>
        </p:txBody>
      </p:sp>
      <p:sp>
        <p:nvSpPr>
          <p:cNvPr id="18" name="texte-126"/>
          <p:cNvSpPr txBox="1"/>
          <p:nvPr/>
        </p:nvSpPr>
        <p:spPr>
          <a:xfrm>
            <a:off x="7086600" y="276148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Colis étiqueté</a:t>
            </a:r>
            <a:endParaRPr lang="en-US" sz="1300" dirty="0"/>
          </a:p>
        </p:txBody>
      </p:sp>
      <p:sp>
        <p:nvSpPr>
          <p:cNvPr id="19" name="jalon-127"/>
          <p:cNvSpPr/>
          <p:nvPr/>
        </p:nvSpPr>
        <p:spPr>
          <a:xfrm>
            <a:off x="4206240" y="3383280"/>
            <a:ext cx="365760" cy="365760"/>
          </a:xfrm>
          <a:prstGeom prst="ellipse">
            <a:avLst/>
          </a:prstGeom>
          <a:solidFill>
            <a:schemeClr val="bg1"/>
          </a:solidFill>
          <a:ln w="38100">
            <a:solidFill>
              <a:schemeClr val="accent1"/>
            </a:solidFill>
            <a:prstDash val="solid"/>
          </a:ln>
        </p:spPr>
      </p:sp>
      <p:sp>
        <p:nvSpPr>
          <p:cNvPr id="20" name="texte-128"/>
          <p:cNvSpPr txBox="1"/>
          <p:nvPr/>
        </p:nvSpPr>
        <p:spPr>
          <a:xfrm>
            <a:off x="4800600" y="340156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Expédiée</a:t>
            </a:r>
            <a:endParaRPr lang="en-US" sz="1600" dirty="0"/>
          </a:p>
        </p:txBody>
      </p:sp>
      <p:sp>
        <p:nvSpPr>
          <p:cNvPr id="21" name="texte-129"/>
          <p:cNvSpPr txBox="1"/>
          <p:nvPr/>
        </p:nvSpPr>
        <p:spPr>
          <a:xfrm>
            <a:off x="7086600" y="340156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Transporteur + n° de suivi</a:t>
            </a:r>
            <a:endParaRPr lang="en-US" sz="1300" dirty="0"/>
          </a:p>
        </p:txBody>
      </p:sp>
      <p:sp>
        <p:nvSpPr>
          <p:cNvPr id="22" name="jalon-130"/>
          <p:cNvSpPr/>
          <p:nvPr/>
        </p:nvSpPr>
        <p:spPr>
          <a:xfrm>
            <a:off x="4206240" y="4023360"/>
            <a:ext cx="365760" cy="365760"/>
          </a:xfrm>
          <a:prstGeom prst="ellipse">
            <a:avLst/>
          </a:prstGeom>
          <a:solidFill>
            <a:schemeClr val="bg1"/>
          </a:solidFill>
          <a:ln w="38100">
            <a:solidFill>
              <a:schemeClr val="accent4"/>
            </a:solidFill>
            <a:prstDash val="solid"/>
          </a:ln>
        </p:spPr>
      </p:sp>
      <p:sp>
        <p:nvSpPr>
          <p:cNvPr id="23" name="texte-131"/>
          <p:cNvSpPr txBox="1"/>
          <p:nvPr/>
        </p:nvSpPr>
        <p:spPr>
          <a:xfrm>
            <a:off x="4800600" y="404164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Incident</a:t>
            </a:r>
            <a:endParaRPr lang="en-US" sz="1600" dirty="0"/>
          </a:p>
        </p:txBody>
      </p:sp>
      <p:sp>
        <p:nvSpPr>
          <p:cNvPr id="24" name="texte-132"/>
          <p:cNvSpPr txBox="1"/>
          <p:nvPr/>
        </p:nvSpPr>
        <p:spPr>
          <a:xfrm>
            <a:off x="7086600" y="404164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1 fois sur 4 : retard</a:t>
            </a:r>
            <a:endParaRPr lang="en-US" sz="1300" dirty="0"/>
          </a:p>
        </p:txBody>
      </p:sp>
      <p:sp>
        <p:nvSpPr>
          <p:cNvPr id="25" name="jalon-133"/>
          <p:cNvSpPr/>
          <p:nvPr/>
        </p:nvSpPr>
        <p:spPr>
          <a:xfrm>
            <a:off x="4206240" y="4663440"/>
            <a:ext cx="365760" cy="365760"/>
          </a:xfrm>
          <a:prstGeom prst="ellipse">
            <a:avLst/>
          </a:prstGeom>
          <a:solidFill>
            <a:schemeClr val="bg1"/>
          </a:solidFill>
          <a:ln w="38100">
            <a:solidFill>
              <a:schemeClr val="accent1"/>
            </a:solidFill>
            <a:prstDash val="solid"/>
          </a:ln>
        </p:spPr>
      </p:sp>
      <p:sp>
        <p:nvSpPr>
          <p:cNvPr id="26" name="texte-134"/>
          <p:cNvSpPr txBox="1"/>
          <p:nvPr/>
        </p:nvSpPr>
        <p:spPr>
          <a:xfrm>
            <a:off x="4800600" y="46817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livraison</a:t>
            </a:r>
            <a:endParaRPr lang="en-US" sz="1600" dirty="0"/>
          </a:p>
        </p:txBody>
      </p:sp>
      <p:sp>
        <p:nvSpPr>
          <p:cNvPr id="27" name="texte-135"/>
          <p:cNvSpPr txBox="1"/>
          <p:nvPr/>
        </p:nvSpPr>
        <p:spPr>
          <a:xfrm>
            <a:off x="7086600" y="46817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Dernier kilomètre</a:t>
            </a:r>
            <a:endParaRPr lang="en-US" sz="1300" dirty="0"/>
          </a:p>
        </p:txBody>
      </p:sp>
      <p:sp>
        <p:nvSpPr>
          <p:cNvPr id="28" name="jalon-136"/>
          <p:cNvSpPr/>
          <p:nvPr/>
        </p:nvSpPr>
        <p:spPr>
          <a:xfrm>
            <a:off x="4206240" y="5303520"/>
            <a:ext cx="365760" cy="365760"/>
          </a:xfrm>
          <a:prstGeom prst="ellipse">
            <a:avLst/>
          </a:prstGeom>
          <a:solidFill>
            <a:schemeClr val="bg1"/>
          </a:solidFill>
          <a:ln w="38100">
            <a:solidFill>
              <a:schemeClr val="accent3"/>
            </a:solidFill>
            <a:prstDash val="solid"/>
          </a:ln>
        </p:spPr>
      </p:sp>
      <p:sp>
        <p:nvSpPr>
          <p:cNvPr id="29" name="texte-137"/>
          <p:cNvSpPr txBox="1"/>
          <p:nvPr/>
        </p:nvSpPr>
        <p:spPr>
          <a:xfrm>
            <a:off x="4800600" y="53218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Livrée</a:t>
            </a:r>
            <a:endParaRPr lang="en-US" sz="1600" dirty="0"/>
          </a:p>
        </p:txBody>
      </p:sp>
      <p:sp>
        <p:nvSpPr>
          <p:cNvPr id="30" name="texte-138"/>
          <p:cNvSpPr txBox="1"/>
          <p:nvPr/>
        </p:nvSpPr>
        <p:spPr>
          <a:xfrm>
            <a:off x="7086600" y="53218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Fin du parcours</a:t>
            </a:r>
            <a:endParaRPr lang="en-US" sz="1300" dirty="0"/>
          </a:p>
        </p:txBody>
      </p:sp>
      <p:sp>
        <p:nvSpPr>
          <p:cNvPr id="31" name="carte-139"/>
          <p:cNvSpPr/>
          <p:nvPr/>
        </p:nvSpPr>
        <p:spPr>
          <a:xfrm>
            <a:off x="9326880" y="1417320"/>
            <a:ext cx="2286000" cy="4480560"/>
          </a:xfrm>
          <a:prstGeom prst="roundRect">
            <a:avLst>
              <a:gd name="adj" fmla="val 4800"/>
            </a:avLst>
          </a:prstGeom>
          <a:solidFill>
            <a:schemeClr val="bg2"/>
          </a:solidFill>
          <a:ln w="12700">
            <a:solidFill>
              <a:schemeClr val="bg2"/>
            </a:solidFill>
            <a:prstDash val="solid"/>
          </a:ln>
        </p:spPr>
      </p:sp>
      <p:sp>
        <p:nvSpPr>
          <p:cNvPr id="32" name="texte-140"/>
          <p:cNvSpPr txBox="1"/>
          <p:nvPr/>
        </p:nvSpPr>
        <p:spPr>
          <a:xfrm>
            <a:off x="9555480" y="1645920"/>
            <a:ext cx="1828800" cy="365760"/>
          </a:xfrm>
          <a:prstGeom prst="rect">
            <a:avLst/>
          </a:prstGeom>
          <a:noFill/>
          <a:ln/>
        </p:spPr>
        <p:txBody>
          <a:bodyPr wrap="square" lIns="0" tIns="0" rIns="0" bIns="0" rtlCol="0" anchor="t"/>
          <a:lstStyle/>
          <a:p>
            <a:pPr indent="0" marL="0">
              <a:buNone/>
            </a:pPr>
            <a:r>
              <a:rPr lang="en-US" sz="1600" b="1" dirty="0">
                <a:solidFill>
                  <a:schemeClr val="tx1"/>
                </a:solidFill>
              </a:rPr>
              <a:t>Comment ?</a:t>
            </a:r>
            <a:endParaRPr lang="en-US" sz="1600" dirty="0"/>
          </a:p>
        </p:txBody>
      </p:sp>
      <p:sp>
        <p:nvSpPr>
          <p:cNvPr id="33" name="texte-141"/>
          <p:cNvSpPr txBox="1"/>
          <p:nvPr/>
        </p:nvSpPr>
        <p:spPr>
          <a:xfrm>
            <a:off x="9555480" y="2103120"/>
            <a:ext cx="18745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Step Functions enchaîne des états Wait</a:t>
            </a:r>
            <a:endParaRPr lang="en-US" sz="1300" dirty="0"/>
          </a:p>
          <a:p>
            <a:pPr marL="342900" indent="-342900">
              <a:spcAft>
                <a:spcPts val="800"/>
              </a:spcAft>
              <a:buSzPct val="100000"/>
              <a:buChar char="•"/>
            </a:pPr>
            <a:r>
              <a:rPr lang="en-US" sz="1300" dirty="0">
                <a:solidFill>
                  <a:schemeClr val="tx1"/>
                </a:solidFill>
              </a:rPr>
              <a:t>Chaque étape écrit le statut dans DynamoDB</a:t>
            </a:r>
            <a:endParaRPr lang="en-US" sz="1300" dirty="0"/>
          </a:p>
          <a:p>
            <a:pPr marL="342900" indent="-342900">
              <a:spcAft>
                <a:spcPts val="800"/>
              </a:spcAft>
              <a:buSzPct val="100000"/>
              <a:buChar char="•"/>
            </a:pPr>
            <a:r>
              <a:rPr lang="en-US" sz="1300" dirty="0">
                <a:solidFill>
                  <a:schemeClr val="tx1"/>
                </a:solidFill>
              </a:rPr>
              <a:t>La page de suivi lit ce statut en direct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rateur-142"/>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43"/>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Un rôle, des droits : sur le site comme dans AWS</a:t>
            </a:r>
            <a:endParaRPr lang="en-US" sz="3000" dirty="0"/>
          </a:p>
        </p:txBody>
      </p:sp>
      <p:pic>
        <p:nvPicPr>
          <p:cNvPr id="5" name="Image 0" descr="Console de gestion vue par le rôle stock">    </p:cNvPr>
          <p:cNvPicPr>
            <a:picLocks noChangeAspect="1"/>
          </p:cNvPicPr>
          <p:nvPr/>
        </p:nvPicPr>
        <p:blipFill>
          <a:blip r:embed="rId1"/>
          <a:stretch>
            <a:fillRect/>
          </a:stretch>
        </p:blipFill>
        <p:spPr>
          <a:xfrm>
            <a:off x="548640" y="1417320"/>
            <a:ext cx="5669280" cy="3543300"/>
          </a:xfrm>
          <a:prstGeom prst="rect">
            <a:avLst/>
          </a:prstGeom>
        </p:spPr>
      </p:pic>
      <p:sp>
        <p:nvSpPr>
          <p:cNvPr id="6" name="texte-144"/>
          <p:cNvSpPr txBox="1"/>
          <p:nvPr/>
        </p:nvSpPr>
        <p:spPr>
          <a:xfrm>
            <a:off x="548640" y="5006340"/>
            <a:ext cx="5669280" cy="320040"/>
          </a:xfrm>
          <a:prstGeom prst="rect">
            <a:avLst/>
          </a:prstGeom>
          <a:noFill/>
          <a:ln/>
        </p:spPr>
        <p:txBody>
          <a:bodyPr wrap="square" lIns="0" tIns="0" rIns="0" bIns="0" rtlCol="0" anchor="t"/>
          <a:lstStyle/>
          <a:p>
            <a:pPr indent="0" marL="0">
              <a:buNone/>
            </a:pPr>
            <a:r>
              <a:rPr lang="en-US" sz="1300" dirty="0">
                <a:solidFill>
                  <a:schemeClr val="accent6"/>
                </a:solidFill>
              </a:rPr>
              <a:t>Gabin, rôle « stock » : il ne voit que l'onglet Stock</a:t>
            </a:r>
            <a:endParaRPr lang="en-US" sz="1300" dirty="0"/>
          </a:p>
        </p:txBody>
      </p:sp>
      <p:graphicFrame>
        <p:nvGraphicFramePr>
          <p:cNvPr id="7" name="tableau-roles"/>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1005840"/>
                <a:gridCol w="2194560"/>
                <a:gridCol w="1920240"/>
              </a:tblGrid>
              <a:tr h="457200">
                <a:tc>
                  <a:txBody>
                    <a:bodyPr/>
                    <a:lstStyle/>
                    <a:p>
                      <a:pPr indent="0" marL="0">
                        <a:buNone/>
                      </a:pPr>
                      <a:r>
                        <a:rPr lang="en-US" sz="1200" b="1" dirty="0">
                          <a:solidFill>
                            <a:schemeClr val="bg1"/>
                          </a:solidFill>
                        </a:rPr>
                        <a:t>Rôle</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Site (groupe Cognito)</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Console AWS (IAM)</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200" b="1" dirty="0">
                          <a:solidFill>
                            <a:schemeClr val="tx1"/>
                          </a:solidFill>
                        </a:rPr>
                        <a:t>Admin</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Ventes, export CSV, 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Administrateur</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b="1" dirty="0">
                          <a:solidFill>
                            <a:schemeClr val="tx1"/>
                          </a:solidFill>
                        </a:rPr>
                        <a:t>Ventes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Graphiques et commandes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b="1" dirty="0">
                          <a:solidFill>
                            <a:schemeClr val="tx1"/>
                          </a:solidFill>
                        </a:rPr>
                        <a: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Réassort + / − seulement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Groupe shopimt-stock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rte-145"/>
          <p:cNvSpPr/>
          <p:nvPr/>
        </p:nvSpPr>
        <p:spPr>
          <a:xfrm>
            <a:off x="6492240" y="3474720"/>
            <a:ext cx="5120640" cy="2423160"/>
          </a:xfrm>
          <a:prstGeom prst="roundRect">
            <a:avLst>
              <a:gd name="adj" fmla="val 4528"/>
            </a:avLst>
          </a:prstGeom>
          <a:solidFill>
            <a:schemeClr val="accent5"/>
          </a:solidFill>
          <a:ln w="12700">
            <a:solidFill>
              <a:schemeClr val="accent5"/>
            </a:solidFill>
            <a:prstDash val="solid"/>
          </a:ln>
        </p:spPr>
      </p:sp>
      <p:sp>
        <p:nvSpPr>
          <p:cNvPr id="9" name="texte-146"/>
          <p:cNvSpPr txBox="1"/>
          <p:nvPr/>
        </p:nvSpPr>
        <p:spPr>
          <a:xfrm>
            <a:off x="6720840" y="3639312"/>
            <a:ext cx="4663440" cy="365760"/>
          </a:xfrm>
          <a:prstGeom prst="rect">
            <a:avLst/>
          </a:prstGeom>
          <a:noFill/>
          <a:ln/>
        </p:spPr>
        <p:txBody>
          <a:bodyPr wrap="square" lIns="0" tIns="0" rIns="0" bIns="0" rtlCol="0" anchor="t"/>
          <a:lstStyle/>
          <a:p>
            <a:pPr indent="0" marL="0">
              <a:buNone/>
            </a:pPr>
            <a:r>
              <a:rPr lang="en-US" sz="1600" b="1" dirty="0">
                <a:solidFill>
                  <a:schemeClr val="tx1"/>
                </a:solidFill>
              </a:rPr>
              <a:t>Contrôle d'accès fin DynamoDB</a:t>
            </a:r>
            <a:endParaRPr lang="en-US" sz="1600" dirty="0"/>
          </a:p>
        </p:txBody>
      </p:sp>
      <p:sp>
        <p:nvSpPr>
          <p:cNvPr id="10" name="texte-147"/>
          <p:cNvSpPr txBox="1"/>
          <p:nvPr/>
        </p:nvSpPr>
        <p:spPr>
          <a:xfrm>
            <a:off x="6720840" y="4069080"/>
            <a:ext cx="4663440" cy="17373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Modifier le stock d'un produit : autorisé</a:t>
            </a:r>
            <a:endParaRPr lang="en-US" sz="1300" dirty="0"/>
          </a:p>
          <a:p>
            <a:pPr marL="342900" indent="-342900">
              <a:spcAft>
                <a:spcPts val="600"/>
              </a:spcAft>
              <a:buSzPct val="100000"/>
              <a:buChar char="•"/>
            </a:pPr>
            <a:r>
              <a:rPr lang="en-US" sz="1300" dirty="0">
                <a:solidFill>
                  <a:schemeClr val="tx1"/>
                </a:solidFill>
              </a:rPr>
              <a:t>Modifier son prix : refusé (condition dynamodb:Attributes)</a:t>
            </a:r>
            <a:endParaRPr lang="en-US" sz="1300" dirty="0"/>
          </a:p>
          <a:p>
            <a:pPr marL="342900" indent="-342900">
              <a:spcAft>
                <a:spcPts val="600"/>
              </a:spcAft>
              <a:buSzPct val="100000"/>
              <a:buChar char="•"/>
            </a:pPr>
            <a:r>
              <a:rPr lang="en-US" sz="1300" dirty="0">
                <a:solidFill>
                  <a:schemeClr val="tx1"/>
                </a:solidFill>
              </a:rPr>
              <a:t>Côté API : 401 sans jeton, 403 sans le bon rôle, tentative journalisée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rateur-148"/>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49"/>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Côté client : un site bilingue, mobile, avec e-mails</a:t>
            </a:r>
            <a:endParaRPr lang="en-US" sz="3000" dirty="0"/>
          </a:p>
        </p:txBody>
      </p:sp>
      <p:pic>
        <p:nvPicPr>
          <p:cNvPr id="5" name="Image 0" descr="Boutique sur ordinateur">    </p:cNvPr>
          <p:cNvPicPr>
            <a:picLocks noChangeAspect="1"/>
          </p:cNvPicPr>
          <p:nvPr/>
        </p:nvPicPr>
        <p:blipFill>
          <a:blip r:embed="rId1"/>
          <a:stretch>
            <a:fillRect/>
          </a:stretch>
        </p:blipFill>
        <p:spPr>
          <a:xfrm>
            <a:off x="548640" y="1417320"/>
            <a:ext cx="5120640" cy="3600450"/>
          </a:xfrm>
          <a:prstGeom prst="rect">
            <a:avLst/>
          </a:prstGeom>
        </p:spPr>
      </p:pic>
      <p:sp>
        <p:nvSpPr>
          <p:cNvPr id="6" name="texte-150"/>
          <p:cNvSpPr txBox="1"/>
          <p:nvPr/>
        </p:nvSpPr>
        <p:spPr>
          <a:xfrm>
            <a:off x="548640" y="506349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Vue 3 + TypeScript, servi par CloudFront</a:t>
            </a:r>
            <a:endParaRPr lang="en-US" sz="1300" dirty="0"/>
          </a:p>
        </p:txBody>
      </p:sp>
      <p:pic>
        <p:nvPicPr>
          <p:cNvPr id="7" name="Image 1" descr="Boutique en anglais sur iPhone">    </p:cNvPr>
          <p:cNvPicPr>
            <a:picLocks noChangeAspect="1"/>
          </p:cNvPicPr>
          <p:nvPr/>
        </p:nvPicPr>
        <p:blipFill>
          <a:blip r:embed="rId2"/>
          <a:stretch>
            <a:fillRect/>
          </a:stretch>
        </p:blipFill>
        <p:spPr>
          <a:xfrm>
            <a:off x="5897880" y="1417320"/>
            <a:ext cx="2255704" cy="3840480"/>
          </a:xfrm>
          <a:prstGeom prst="rect">
            <a:avLst/>
          </a:prstGeom>
        </p:spPr>
      </p:pic>
      <p:sp>
        <p:nvSpPr>
          <p:cNvPr id="8" name="texte-151"/>
          <p:cNvSpPr txBox="1"/>
          <p:nvPr/>
        </p:nvSpPr>
        <p:spPr>
          <a:xfrm>
            <a:off x="5897880" y="5349240"/>
            <a:ext cx="2530024" cy="274320"/>
          </a:xfrm>
          <a:prstGeom prst="rect">
            <a:avLst/>
          </a:prstGeom>
          <a:noFill/>
          <a:ln/>
        </p:spPr>
        <p:txBody>
          <a:bodyPr wrap="square" lIns="0" tIns="0" rIns="0" bIns="0" rtlCol="0" anchor="t"/>
          <a:lstStyle/>
          <a:p>
            <a:pPr indent="0" marL="0">
              <a:buNone/>
            </a:pPr>
            <a:r>
              <a:rPr lang="en-US" sz="1300" dirty="0">
                <a:solidFill>
                  <a:schemeClr val="accent6"/>
                </a:solidFill>
              </a:rPr>
              <a:t>Version anglaise</a:t>
            </a:r>
            <a:endParaRPr lang="en-US" sz="1300" dirty="0"/>
          </a:p>
        </p:txBody>
      </p:sp>
      <p:sp>
        <p:nvSpPr>
          <p:cNvPr id="9" name="carte-152"/>
          <p:cNvSpPr/>
          <p:nvPr/>
        </p:nvSpPr>
        <p:spPr>
          <a:xfrm>
            <a:off x="8473624" y="1417320"/>
            <a:ext cx="3166688" cy="4206240"/>
          </a:xfrm>
          <a:prstGeom prst="roundRect">
            <a:avLst>
              <a:gd name="adj" fmla="val 3465"/>
            </a:avLst>
          </a:prstGeom>
          <a:solidFill>
            <a:schemeClr val="accent5"/>
          </a:solidFill>
          <a:ln w="12700">
            <a:solidFill>
              <a:schemeClr val="accent5"/>
            </a:solidFill>
            <a:prstDash val="solid"/>
          </a:ln>
        </p:spPr>
      </p:sp>
      <p:sp>
        <p:nvSpPr>
          <p:cNvPr id="10" name="texte-153"/>
          <p:cNvSpPr txBox="1"/>
          <p:nvPr/>
        </p:nvSpPr>
        <p:spPr>
          <a:xfrm>
            <a:off x="8747944" y="1645920"/>
            <a:ext cx="2618048" cy="365760"/>
          </a:xfrm>
          <a:prstGeom prst="rect">
            <a:avLst/>
          </a:prstGeom>
          <a:noFill/>
          <a:ln/>
        </p:spPr>
        <p:txBody>
          <a:bodyPr wrap="square" lIns="0" tIns="0" rIns="0" bIns="0" rtlCol="0" anchor="t"/>
          <a:lstStyle/>
          <a:p>
            <a:pPr indent="0" marL="0">
              <a:buNone/>
            </a:pPr>
            <a:r>
              <a:rPr lang="en-US" sz="1600" b="1" dirty="0">
                <a:solidFill>
                  <a:schemeClr val="tx1"/>
                </a:solidFill>
              </a:rPr>
              <a:t>Deux langues, quatre services</a:t>
            </a:r>
            <a:endParaRPr lang="en-US" sz="1600" dirty="0"/>
          </a:p>
        </p:txBody>
      </p:sp>
      <p:sp>
        <p:nvSpPr>
          <p:cNvPr id="11" name="texte-154"/>
          <p:cNvSpPr txBox="1"/>
          <p:nvPr/>
        </p:nvSpPr>
        <p:spPr>
          <a:xfrm>
            <a:off x="8747944" y="2148840"/>
            <a:ext cx="2618048" cy="3291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CloudFront Function : choisit la langue d'après le navigateur</a:t>
            </a:r>
            <a:endParaRPr lang="en-US" sz="1300" dirty="0"/>
          </a:p>
          <a:p>
            <a:pPr marL="342900" indent="-342900">
              <a:spcAft>
                <a:spcPts val="800"/>
              </a:spcAft>
              <a:buSzPct val="100000"/>
              <a:buChar char="•"/>
            </a:pPr>
            <a:r>
              <a:rPr lang="en-US" sz="1300" dirty="0">
                <a:solidFill>
                  <a:schemeClr val="tx1"/>
                </a:solidFill>
              </a:rPr>
              <a:t>Amazon Translate : traduit le nom des produits, une seule fois</a:t>
            </a:r>
            <a:endParaRPr lang="en-US" sz="1300" dirty="0"/>
          </a:p>
          <a:p>
            <a:pPr marL="342900" indent="-342900">
              <a:spcAft>
                <a:spcPts val="800"/>
              </a:spcAft>
              <a:buSzPct val="100000"/>
              <a:buChar char="•"/>
            </a:pPr>
            <a:r>
              <a:rPr lang="en-US" sz="1300" dirty="0">
                <a:solidFill>
                  <a:schemeClr val="tx1"/>
                </a:solidFill>
              </a:rPr>
              <a:t>SES : e-mails dans la langue de la commande</a:t>
            </a:r>
            <a:endParaRPr lang="en-US" sz="1300" dirty="0"/>
          </a:p>
          <a:p>
            <a:pPr marL="342900" indent="-342900">
              <a:spcAft>
                <a:spcPts val="800"/>
              </a:spcAft>
              <a:buSzPct val="100000"/>
              <a:buChar char="•"/>
            </a:pPr>
            <a:r>
              <a:rPr lang="en-US" sz="1300" dirty="0">
                <a:solidFill>
                  <a:schemeClr val="tx1"/>
                </a:solidFill>
              </a:rPr>
              <a:t>Cognito : compte et historique des commandes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rateur-155"/>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56"/>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Pensé pour ne perdre aucune commande</a:t>
            </a:r>
            <a:endParaRPr lang="en-US" sz="3000" dirty="0"/>
          </a:p>
        </p:txBody>
      </p:sp>
      <p:sp>
        <p:nvSpPr>
          <p:cNvPr id="5" name="carte-157"/>
          <p:cNvSpPr/>
          <p:nvPr/>
        </p:nvSpPr>
        <p:spPr>
          <a:xfrm>
            <a:off x="548640" y="1417320"/>
            <a:ext cx="5440680" cy="4663440"/>
          </a:xfrm>
          <a:prstGeom prst="roundRect">
            <a:avLst>
              <a:gd name="adj" fmla="val 2353"/>
            </a:avLst>
          </a:prstGeom>
          <a:solidFill>
            <a:schemeClr val="bg2"/>
          </a:solidFill>
          <a:ln w="12700">
            <a:solidFill>
              <a:schemeClr val="bg2"/>
            </a:solidFill>
            <a:prstDash val="solid"/>
          </a:ln>
        </p:spPr>
      </p:sp>
      <p:sp>
        <p:nvSpPr>
          <p:cNvPr id="6" name="texte-158"/>
          <p:cNvSpPr txBox="1"/>
          <p:nvPr/>
        </p:nvSpPr>
        <p:spPr>
          <a:xfrm>
            <a:off x="86868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Résilience</a:t>
            </a:r>
            <a:endParaRPr lang="en-US" sz="2000" dirty="0"/>
          </a:p>
        </p:txBody>
      </p:sp>
      <p:sp>
        <p:nvSpPr>
          <p:cNvPr id="7" name="pastille-159"/>
          <p:cNvSpPr/>
          <p:nvPr/>
        </p:nvSpPr>
        <p:spPr>
          <a:xfrm>
            <a:off x="868680" y="2359152"/>
            <a:ext cx="365760" cy="365760"/>
          </a:xfrm>
          <a:prstGeom prst="ellipse">
            <a:avLst/>
          </a:prstGeom>
          <a:solidFill>
            <a:schemeClr val="accent1"/>
          </a:solidFill>
          <a:ln w="12700">
            <a:solidFill>
              <a:schemeClr val="accent1"/>
            </a:solidFill>
            <a:prstDash val="solid"/>
          </a:ln>
        </p:spPr>
      </p:sp>
      <p:sp>
        <p:nvSpPr>
          <p:cNvPr id="8" name="pastille-texte-160"/>
          <p:cNvSpPr txBox="1"/>
          <p:nvPr/>
        </p:nvSpPr>
        <p:spPr>
          <a:xfrm>
            <a:off x="868680" y="23591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9" name="texte-161"/>
          <p:cNvSpPr txBox="1"/>
          <p:nvPr/>
        </p:nvSpPr>
        <p:spPr>
          <a:xfrm>
            <a:off x="141732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Outbox par DynamoDB Streams</a:t>
            </a:r>
            <a:endParaRPr lang="en-US" sz="1500" dirty="0"/>
          </a:p>
        </p:txBody>
      </p:sp>
      <p:sp>
        <p:nvSpPr>
          <p:cNvPr id="10" name="texte-162"/>
          <p:cNvSpPr txBox="1"/>
          <p:nvPr/>
        </p:nvSpPr>
        <p:spPr>
          <a:xfrm>
            <a:off x="141732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la commande et son événement ne peuvent pas diverger</a:t>
            </a:r>
            <a:endParaRPr lang="en-US" sz="1300" dirty="0"/>
          </a:p>
        </p:txBody>
      </p:sp>
      <p:sp>
        <p:nvSpPr>
          <p:cNvPr id="11" name="pastille-163"/>
          <p:cNvSpPr/>
          <p:nvPr/>
        </p:nvSpPr>
        <p:spPr>
          <a:xfrm>
            <a:off x="868680" y="3273552"/>
            <a:ext cx="365760" cy="365760"/>
          </a:xfrm>
          <a:prstGeom prst="ellipse">
            <a:avLst/>
          </a:prstGeom>
          <a:solidFill>
            <a:schemeClr val="accent1"/>
          </a:solidFill>
          <a:ln w="12700">
            <a:solidFill>
              <a:schemeClr val="accent1"/>
            </a:solidFill>
            <a:prstDash val="solid"/>
          </a:ln>
        </p:spPr>
      </p:sp>
      <p:sp>
        <p:nvSpPr>
          <p:cNvPr id="12" name="pastille-texte-164"/>
          <p:cNvSpPr txBox="1"/>
          <p:nvPr/>
        </p:nvSpPr>
        <p:spPr>
          <a:xfrm>
            <a:off x="868680" y="32735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3" name="texte-165"/>
          <p:cNvSpPr txBox="1"/>
          <p:nvPr/>
        </p:nvSpPr>
        <p:spPr>
          <a:xfrm>
            <a:off x="141732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Relances automatiques</a:t>
            </a:r>
            <a:endParaRPr lang="en-US" sz="1500" dirty="0"/>
          </a:p>
        </p:txBody>
      </p:sp>
      <p:sp>
        <p:nvSpPr>
          <p:cNvPr id="14" name="texte-166"/>
          <p:cNvSpPr txBox="1"/>
          <p:nvPr/>
        </p:nvSpPr>
        <p:spPr>
          <a:xfrm>
            <a:off x="141732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SQS et Streams rejouent un message en échec</a:t>
            </a:r>
            <a:endParaRPr lang="en-US" sz="1300" dirty="0"/>
          </a:p>
        </p:txBody>
      </p:sp>
      <p:sp>
        <p:nvSpPr>
          <p:cNvPr id="15" name="pastille-167"/>
          <p:cNvSpPr/>
          <p:nvPr/>
        </p:nvSpPr>
        <p:spPr>
          <a:xfrm>
            <a:off x="868680" y="4187952"/>
            <a:ext cx="365760" cy="365760"/>
          </a:xfrm>
          <a:prstGeom prst="ellipse">
            <a:avLst/>
          </a:prstGeom>
          <a:solidFill>
            <a:schemeClr val="accent1"/>
          </a:solidFill>
          <a:ln w="12700">
            <a:solidFill>
              <a:schemeClr val="accent1"/>
            </a:solidFill>
            <a:prstDash val="solid"/>
          </a:ln>
        </p:spPr>
      </p:sp>
      <p:sp>
        <p:nvSpPr>
          <p:cNvPr id="16" name="pastille-texte-168"/>
          <p:cNvSpPr txBox="1"/>
          <p:nvPr/>
        </p:nvSpPr>
        <p:spPr>
          <a:xfrm>
            <a:off x="868680" y="41879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7" name="texte-169"/>
          <p:cNvSpPr txBox="1"/>
          <p:nvPr/>
        </p:nvSpPr>
        <p:spPr>
          <a:xfrm>
            <a:off x="141732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File d'erreurs + alarme</a:t>
            </a:r>
            <a:endParaRPr lang="en-US" sz="1500" dirty="0"/>
          </a:p>
        </p:txBody>
      </p:sp>
      <p:sp>
        <p:nvSpPr>
          <p:cNvPr id="18" name="texte-170"/>
          <p:cNvSpPr txBox="1"/>
          <p:nvPr/>
        </p:nvSpPr>
        <p:spPr>
          <a:xfrm>
            <a:off x="141732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un message bloqué part en DLQ et déclenche CloudWatch</a:t>
            </a:r>
            <a:endParaRPr lang="en-US" sz="1300" dirty="0"/>
          </a:p>
        </p:txBody>
      </p:sp>
      <p:sp>
        <p:nvSpPr>
          <p:cNvPr id="19" name="pastille-171"/>
          <p:cNvSpPr/>
          <p:nvPr/>
        </p:nvSpPr>
        <p:spPr>
          <a:xfrm>
            <a:off x="868680" y="5102352"/>
            <a:ext cx="365760" cy="365760"/>
          </a:xfrm>
          <a:prstGeom prst="ellipse">
            <a:avLst/>
          </a:prstGeom>
          <a:solidFill>
            <a:schemeClr val="accent1"/>
          </a:solidFill>
          <a:ln w="12700">
            <a:solidFill>
              <a:schemeClr val="accent1"/>
            </a:solidFill>
            <a:prstDash val="solid"/>
          </a:ln>
        </p:spPr>
      </p:sp>
      <p:sp>
        <p:nvSpPr>
          <p:cNvPr id="20" name="pastille-texte-172"/>
          <p:cNvSpPr txBox="1"/>
          <p:nvPr/>
        </p:nvSpPr>
        <p:spPr>
          <a:xfrm>
            <a:off x="868680" y="51023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1" name="texte-173"/>
          <p:cNvSpPr txBox="1"/>
          <p:nvPr/>
        </p:nvSpPr>
        <p:spPr>
          <a:xfrm>
            <a:off x="141732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Traitements idempotents</a:t>
            </a:r>
            <a:endParaRPr lang="en-US" sz="1500" dirty="0"/>
          </a:p>
        </p:txBody>
      </p:sp>
      <p:sp>
        <p:nvSpPr>
          <p:cNvPr id="22" name="texte-174"/>
          <p:cNvSpPr txBox="1"/>
          <p:nvPr/>
        </p:nvSpPr>
        <p:spPr>
          <a:xfrm>
            <a:off x="141732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rejouer un message ne crée pas de doublon</a:t>
            </a:r>
            <a:endParaRPr lang="en-US" sz="1300" dirty="0"/>
          </a:p>
        </p:txBody>
      </p:sp>
      <p:sp>
        <p:nvSpPr>
          <p:cNvPr id="23" name="carte-175"/>
          <p:cNvSpPr/>
          <p:nvPr/>
        </p:nvSpPr>
        <p:spPr>
          <a:xfrm>
            <a:off x="6172200" y="1417320"/>
            <a:ext cx="5440680" cy="4663440"/>
          </a:xfrm>
          <a:prstGeom prst="roundRect">
            <a:avLst>
              <a:gd name="adj" fmla="val 2353"/>
            </a:avLst>
          </a:prstGeom>
          <a:solidFill>
            <a:schemeClr val="accent5"/>
          </a:solidFill>
          <a:ln w="12700">
            <a:solidFill>
              <a:schemeClr val="accent5"/>
            </a:solidFill>
            <a:prstDash val="solid"/>
          </a:ln>
        </p:spPr>
      </p:sp>
      <p:sp>
        <p:nvSpPr>
          <p:cNvPr id="24" name="texte-176"/>
          <p:cNvSpPr txBox="1"/>
          <p:nvPr/>
        </p:nvSpPr>
        <p:spPr>
          <a:xfrm>
            <a:off x="649224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Sécurité</a:t>
            </a:r>
            <a:endParaRPr lang="en-US" sz="2000" dirty="0"/>
          </a:p>
        </p:txBody>
      </p:sp>
      <p:sp>
        <p:nvSpPr>
          <p:cNvPr id="25" name="pastille-177"/>
          <p:cNvSpPr/>
          <p:nvPr/>
        </p:nvSpPr>
        <p:spPr>
          <a:xfrm>
            <a:off x="6492240" y="2359152"/>
            <a:ext cx="365760" cy="365760"/>
          </a:xfrm>
          <a:prstGeom prst="ellipse">
            <a:avLst/>
          </a:prstGeom>
          <a:solidFill>
            <a:schemeClr val="tx1"/>
          </a:solidFill>
          <a:ln w="12700">
            <a:solidFill>
              <a:schemeClr val="tx1"/>
            </a:solidFill>
            <a:prstDash val="solid"/>
          </a:ln>
        </p:spPr>
      </p:sp>
      <p:sp>
        <p:nvSpPr>
          <p:cNvPr id="26" name="pastille-texte-178"/>
          <p:cNvSpPr txBox="1"/>
          <p:nvPr/>
        </p:nvSpPr>
        <p:spPr>
          <a:xfrm>
            <a:off x="6492240" y="23591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7" name="texte-179"/>
          <p:cNvSpPr txBox="1"/>
          <p:nvPr/>
        </p:nvSpPr>
        <p:spPr>
          <a:xfrm>
            <a:off x="704088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Bucket S3 privé</a:t>
            </a:r>
            <a:endParaRPr lang="en-US" sz="1500" dirty="0"/>
          </a:p>
        </p:txBody>
      </p:sp>
      <p:sp>
        <p:nvSpPr>
          <p:cNvPr id="28" name="texte-180"/>
          <p:cNvSpPr txBox="1"/>
          <p:nvPr/>
        </p:nvSpPr>
        <p:spPr>
          <a:xfrm>
            <a:off x="704088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seul CloudFront le lit (Origin Access Control)</a:t>
            </a:r>
            <a:endParaRPr lang="en-US" sz="1300" dirty="0"/>
          </a:p>
        </p:txBody>
      </p:sp>
      <p:sp>
        <p:nvSpPr>
          <p:cNvPr id="29" name="pastille-181"/>
          <p:cNvSpPr/>
          <p:nvPr/>
        </p:nvSpPr>
        <p:spPr>
          <a:xfrm>
            <a:off x="6492240" y="3273552"/>
            <a:ext cx="365760" cy="365760"/>
          </a:xfrm>
          <a:prstGeom prst="ellipse">
            <a:avLst/>
          </a:prstGeom>
          <a:solidFill>
            <a:schemeClr val="tx1"/>
          </a:solidFill>
          <a:ln w="12700">
            <a:solidFill>
              <a:schemeClr val="tx1"/>
            </a:solidFill>
            <a:prstDash val="solid"/>
          </a:ln>
        </p:spPr>
      </p:sp>
      <p:sp>
        <p:nvSpPr>
          <p:cNvPr id="30" name="pastille-texte-182"/>
          <p:cNvSpPr txBox="1"/>
          <p:nvPr/>
        </p:nvSpPr>
        <p:spPr>
          <a:xfrm>
            <a:off x="6492240" y="32735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31" name="texte-183"/>
          <p:cNvSpPr txBox="1"/>
          <p:nvPr/>
        </p:nvSpPr>
        <p:spPr>
          <a:xfrm>
            <a:off x="704088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Un rôle IAM par Lambda</a:t>
            </a:r>
            <a:endParaRPr lang="en-US" sz="1500" dirty="0"/>
          </a:p>
        </p:txBody>
      </p:sp>
      <p:sp>
        <p:nvSpPr>
          <p:cNvPr id="32" name="texte-184"/>
          <p:cNvSpPr txBox="1"/>
          <p:nvPr/>
        </p:nvSpPr>
        <p:spPr>
          <a:xfrm>
            <a:off x="704088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chaque fonction n'a que les droits dont elle a besoin</a:t>
            </a:r>
            <a:endParaRPr lang="en-US" sz="1300" dirty="0"/>
          </a:p>
        </p:txBody>
      </p:sp>
      <p:sp>
        <p:nvSpPr>
          <p:cNvPr id="33" name="pastille-185"/>
          <p:cNvSpPr/>
          <p:nvPr/>
        </p:nvSpPr>
        <p:spPr>
          <a:xfrm>
            <a:off x="6492240" y="4187952"/>
            <a:ext cx="365760" cy="365760"/>
          </a:xfrm>
          <a:prstGeom prst="ellipse">
            <a:avLst/>
          </a:prstGeom>
          <a:solidFill>
            <a:schemeClr val="tx1"/>
          </a:solidFill>
          <a:ln w="12700">
            <a:solidFill>
              <a:schemeClr val="tx1"/>
            </a:solidFill>
            <a:prstDash val="solid"/>
          </a:ln>
        </p:spPr>
      </p:sp>
      <p:sp>
        <p:nvSpPr>
          <p:cNvPr id="34" name="pastille-texte-186"/>
          <p:cNvSpPr txBox="1"/>
          <p:nvPr/>
        </p:nvSpPr>
        <p:spPr>
          <a:xfrm>
            <a:off x="6492240" y="41879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5" name="texte-187"/>
          <p:cNvSpPr txBox="1"/>
          <p:nvPr/>
        </p:nvSpPr>
        <p:spPr>
          <a:xfrm>
            <a:off x="704088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Prix calculés côté serveur</a:t>
            </a:r>
            <a:endParaRPr lang="en-US" sz="1500" dirty="0"/>
          </a:p>
        </p:txBody>
      </p:sp>
      <p:sp>
        <p:nvSpPr>
          <p:cNvPr id="36" name="texte-188"/>
          <p:cNvSpPr txBox="1"/>
          <p:nvPr/>
        </p:nvSpPr>
        <p:spPr>
          <a:xfrm>
            <a:off x="704088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le navigateur n'envoie que des identifiants et des quantités</a:t>
            </a:r>
            <a:endParaRPr lang="en-US" sz="1300" dirty="0"/>
          </a:p>
        </p:txBody>
      </p:sp>
      <p:sp>
        <p:nvSpPr>
          <p:cNvPr id="37" name="pastille-189"/>
          <p:cNvSpPr/>
          <p:nvPr/>
        </p:nvSpPr>
        <p:spPr>
          <a:xfrm>
            <a:off x="6492240" y="5102352"/>
            <a:ext cx="365760" cy="365760"/>
          </a:xfrm>
          <a:prstGeom prst="ellipse">
            <a:avLst/>
          </a:prstGeom>
          <a:solidFill>
            <a:schemeClr val="tx1"/>
          </a:solidFill>
          <a:ln w="12700">
            <a:solidFill>
              <a:schemeClr val="tx1"/>
            </a:solidFill>
            <a:prstDash val="solid"/>
          </a:ln>
        </p:spPr>
      </p:sp>
      <p:sp>
        <p:nvSpPr>
          <p:cNvPr id="38" name="pastille-texte-190"/>
          <p:cNvSpPr txBox="1"/>
          <p:nvPr/>
        </p:nvSpPr>
        <p:spPr>
          <a:xfrm>
            <a:off x="6492240" y="51023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9" name="texte-191"/>
          <p:cNvSpPr txBox="1"/>
          <p:nvPr/>
        </p:nvSpPr>
        <p:spPr>
          <a:xfrm>
            <a:off x="704088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CloudTrail</a:t>
            </a:r>
            <a:endParaRPr lang="en-US" sz="1500" dirty="0"/>
          </a:p>
        </p:txBody>
      </p:sp>
      <p:sp>
        <p:nvSpPr>
          <p:cNvPr id="40" name="texte-192"/>
          <p:cNvSpPr txBox="1"/>
          <p:nvPr/>
        </p:nvSpPr>
        <p:spPr>
          <a:xfrm>
            <a:off x="704088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toutes les actions sur le compte sont journalisées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rateur-193"/>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94"/>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De git push à la prod, sans clé d'accès</a:t>
            </a:r>
            <a:endParaRPr lang="en-US" sz="3000" dirty="0"/>
          </a:p>
        </p:txBody>
      </p:sp>
      <p:sp>
        <p:nvSpPr>
          <p:cNvPr id="5" name="service-195"/>
          <p:cNvSpPr/>
          <p:nvPr/>
        </p:nvSpPr>
        <p:spPr>
          <a:xfrm>
            <a:off x="548640" y="1463040"/>
            <a:ext cx="1965960" cy="868680"/>
          </a:xfrm>
          <a:prstGeom prst="roundRect">
            <a:avLst>
              <a:gd name="adj" fmla="val 8421"/>
            </a:avLst>
          </a:prstGeom>
          <a:solidFill>
            <a:schemeClr val="tx1"/>
          </a:solidFill>
          <a:ln w="15875">
            <a:solidFill>
              <a:schemeClr val="tx1"/>
            </a:solidFill>
            <a:prstDash val="solid"/>
          </a:ln>
        </p:spPr>
      </p:sp>
      <p:sp>
        <p:nvSpPr>
          <p:cNvPr id="6" name="service-texte-196"/>
          <p:cNvSpPr txBox="1"/>
          <p:nvPr/>
        </p:nvSpPr>
        <p:spPr>
          <a:xfrm>
            <a:off x="548640"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git push</a:t>
            </a:r>
            <a:endParaRPr lang="en-US" sz="1200" dirty="0"/>
          </a:p>
          <a:p>
            <a:pPr algn="ctr" indent="0" marL="0">
              <a:buNone/>
            </a:pPr>
            <a:r>
              <a:rPr lang="en-US" sz="1000" dirty="0">
                <a:solidFill>
                  <a:schemeClr val="bg1"/>
                </a:solidFill>
              </a:rPr>
              <a:t>branche dev ou main</a:t>
            </a:r>
            <a:endParaRPr lang="en-US" sz="1200" dirty="0"/>
          </a:p>
        </p:txBody>
      </p:sp>
      <p:sp>
        <p:nvSpPr>
          <p:cNvPr id="7" name="fleche-197"/>
          <p:cNvSpPr/>
          <p:nvPr/>
        </p:nvSpPr>
        <p:spPr>
          <a:xfrm>
            <a:off x="2514600" y="1897380"/>
            <a:ext cx="310896" cy="914"/>
          </a:xfrm>
          <a:prstGeom prst="line">
            <a:avLst/>
          </a:prstGeom>
          <a:noFill/>
          <a:ln w="19050">
            <a:solidFill>
              <a:schemeClr val="accent6"/>
            </a:solidFill>
            <a:prstDash val="solid"/>
            <a:tailEnd type="triangle"/>
          </a:ln>
        </p:spPr>
      </p:sp>
      <p:sp>
        <p:nvSpPr>
          <p:cNvPr id="8" name="service-198"/>
          <p:cNvSpPr/>
          <p:nvPr/>
        </p:nvSpPr>
        <p:spPr>
          <a:xfrm>
            <a:off x="2825496" y="1463040"/>
            <a:ext cx="1965960" cy="868680"/>
          </a:xfrm>
          <a:prstGeom prst="roundRect">
            <a:avLst>
              <a:gd name="adj" fmla="val 8421"/>
            </a:avLst>
          </a:prstGeom>
          <a:solidFill>
            <a:schemeClr val="accent5"/>
          </a:solidFill>
          <a:ln w="15875">
            <a:solidFill>
              <a:schemeClr val="accent1"/>
            </a:solidFill>
            <a:prstDash val="solid"/>
          </a:ln>
        </p:spPr>
      </p:sp>
      <p:sp>
        <p:nvSpPr>
          <p:cNvPr id="9" name="service-texte-199"/>
          <p:cNvSpPr txBox="1"/>
          <p:nvPr/>
        </p:nvSpPr>
        <p:spPr>
          <a:xfrm>
            <a:off x="2825496"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GitHub Actions</a:t>
            </a:r>
            <a:endParaRPr lang="en-US" sz="1200" dirty="0"/>
          </a:p>
          <a:p>
            <a:pPr algn="ctr" indent="0" marL="0">
              <a:buNone/>
            </a:pPr>
            <a:r>
              <a:rPr lang="en-US" sz="1000" dirty="0">
                <a:solidFill>
                  <a:schemeClr val="tx1"/>
                </a:solidFill>
              </a:rPr>
              <a:t>tests, lint, build</a:t>
            </a:r>
            <a:endParaRPr lang="en-US" sz="1200" dirty="0"/>
          </a:p>
        </p:txBody>
      </p:sp>
      <p:sp>
        <p:nvSpPr>
          <p:cNvPr id="10" name="fleche-200"/>
          <p:cNvSpPr/>
          <p:nvPr/>
        </p:nvSpPr>
        <p:spPr>
          <a:xfrm>
            <a:off x="4791456" y="1897380"/>
            <a:ext cx="310896" cy="914"/>
          </a:xfrm>
          <a:prstGeom prst="line">
            <a:avLst/>
          </a:prstGeom>
          <a:noFill/>
          <a:ln w="19050">
            <a:solidFill>
              <a:schemeClr val="accent6"/>
            </a:solidFill>
            <a:prstDash val="solid"/>
            <a:tailEnd type="triangle"/>
          </a:ln>
        </p:spPr>
      </p:sp>
      <p:sp>
        <p:nvSpPr>
          <p:cNvPr id="11" name="service-201"/>
          <p:cNvSpPr/>
          <p:nvPr/>
        </p:nvSpPr>
        <p:spPr>
          <a:xfrm>
            <a:off x="5102352" y="1463040"/>
            <a:ext cx="1965960" cy="868680"/>
          </a:xfrm>
          <a:prstGeom prst="roundRect">
            <a:avLst>
              <a:gd name="adj" fmla="val 8421"/>
            </a:avLst>
          </a:prstGeom>
          <a:solidFill>
            <a:schemeClr val="accent5"/>
          </a:solidFill>
          <a:ln w="15875">
            <a:solidFill>
              <a:schemeClr val="accent1"/>
            </a:solidFill>
            <a:prstDash val="solid"/>
          </a:ln>
        </p:spPr>
      </p:sp>
      <p:sp>
        <p:nvSpPr>
          <p:cNvPr id="12" name="service-texte-202"/>
          <p:cNvSpPr txBox="1"/>
          <p:nvPr/>
        </p:nvSpPr>
        <p:spPr>
          <a:xfrm>
            <a:off x="5102352"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plan</a:t>
            </a:r>
            <a:endParaRPr lang="en-US" sz="1200" dirty="0"/>
          </a:p>
          <a:p>
            <a:pPr algn="ctr" indent="0" marL="0">
              <a:buNone/>
            </a:pPr>
            <a:r>
              <a:rPr lang="en-US" sz="1000" dirty="0">
                <a:solidFill>
                  <a:schemeClr val="tx1"/>
                </a:solidFill>
              </a:rPr>
              <a:t>affiché dans la PR</a:t>
            </a:r>
            <a:endParaRPr lang="en-US" sz="1200" dirty="0"/>
          </a:p>
        </p:txBody>
      </p:sp>
      <p:sp>
        <p:nvSpPr>
          <p:cNvPr id="13" name="fleche-203"/>
          <p:cNvSpPr/>
          <p:nvPr/>
        </p:nvSpPr>
        <p:spPr>
          <a:xfrm>
            <a:off x="7068312" y="1897380"/>
            <a:ext cx="310896" cy="914"/>
          </a:xfrm>
          <a:prstGeom prst="line">
            <a:avLst/>
          </a:prstGeom>
          <a:noFill/>
          <a:ln w="19050">
            <a:solidFill>
              <a:schemeClr val="accent6"/>
            </a:solidFill>
            <a:prstDash val="solid"/>
            <a:tailEnd type="triangle"/>
          </a:ln>
        </p:spPr>
      </p:sp>
      <p:sp>
        <p:nvSpPr>
          <p:cNvPr id="14" name="service-204"/>
          <p:cNvSpPr/>
          <p:nvPr/>
        </p:nvSpPr>
        <p:spPr>
          <a:xfrm>
            <a:off x="7379208" y="1463040"/>
            <a:ext cx="1965960" cy="868680"/>
          </a:xfrm>
          <a:prstGeom prst="roundRect">
            <a:avLst>
              <a:gd name="adj" fmla="val 8421"/>
            </a:avLst>
          </a:prstGeom>
          <a:solidFill>
            <a:schemeClr val="tx1"/>
          </a:solidFill>
          <a:ln w="15875">
            <a:solidFill>
              <a:schemeClr val="tx1"/>
            </a:solidFill>
            <a:prstDash val="solid"/>
          </a:ln>
        </p:spPr>
      </p:sp>
      <p:sp>
        <p:nvSpPr>
          <p:cNvPr id="15" name="service-texte-205"/>
          <p:cNvSpPr txBox="1"/>
          <p:nvPr/>
        </p:nvSpPr>
        <p:spPr>
          <a:xfrm>
            <a:off x="7379208"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IAM + OIDC</a:t>
            </a:r>
            <a:endParaRPr lang="en-US" sz="1200" dirty="0"/>
          </a:p>
          <a:p>
            <a:pPr algn="ctr" indent="0" marL="0">
              <a:buNone/>
            </a:pPr>
            <a:r>
              <a:rPr lang="en-US" sz="1000" dirty="0">
                <a:solidFill>
                  <a:schemeClr val="bg1"/>
                </a:solidFill>
              </a:rPr>
              <a:t>identifiants d'1 h</a:t>
            </a:r>
            <a:endParaRPr lang="en-US" sz="1200" dirty="0"/>
          </a:p>
        </p:txBody>
      </p:sp>
      <p:sp>
        <p:nvSpPr>
          <p:cNvPr id="16" name="fleche-206"/>
          <p:cNvSpPr/>
          <p:nvPr/>
        </p:nvSpPr>
        <p:spPr>
          <a:xfrm>
            <a:off x="9345168" y="1897380"/>
            <a:ext cx="310896" cy="914"/>
          </a:xfrm>
          <a:prstGeom prst="line">
            <a:avLst/>
          </a:prstGeom>
          <a:noFill/>
          <a:ln w="19050">
            <a:solidFill>
              <a:schemeClr val="accent6"/>
            </a:solidFill>
            <a:prstDash val="solid"/>
            <a:tailEnd type="triangle"/>
          </a:ln>
        </p:spPr>
      </p:sp>
      <p:sp>
        <p:nvSpPr>
          <p:cNvPr id="17" name="service-207"/>
          <p:cNvSpPr/>
          <p:nvPr/>
        </p:nvSpPr>
        <p:spPr>
          <a:xfrm>
            <a:off x="9656064" y="1463040"/>
            <a:ext cx="1965960" cy="868680"/>
          </a:xfrm>
          <a:prstGeom prst="roundRect">
            <a:avLst>
              <a:gd name="adj" fmla="val 8421"/>
            </a:avLst>
          </a:prstGeom>
          <a:solidFill>
            <a:schemeClr val="bg1"/>
          </a:solidFill>
          <a:ln w="15875">
            <a:solidFill>
              <a:schemeClr val="tx1"/>
            </a:solidFill>
            <a:prstDash val="solid"/>
          </a:ln>
        </p:spPr>
      </p:sp>
      <p:sp>
        <p:nvSpPr>
          <p:cNvPr id="18" name="service-texte-208"/>
          <p:cNvSpPr txBox="1"/>
          <p:nvPr/>
        </p:nvSpPr>
        <p:spPr>
          <a:xfrm>
            <a:off x="9656064"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apply</a:t>
            </a:r>
            <a:endParaRPr lang="en-US" sz="1200" dirty="0"/>
          </a:p>
          <a:p>
            <a:pPr algn="ctr" indent="0" marL="0">
              <a:buNone/>
            </a:pPr>
            <a:r>
              <a:rPr lang="en-US" sz="1000" dirty="0">
                <a:solidFill>
                  <a:schemeClr val="tx1"/>
                </a:solidFill>
              </a:rPr>
              <a:t>dev ou prod</a:t>
            </a:r>
            <a:endParaRPr lang="en-US" sz="1200" dirty="0"/>
          </a:p>
        </p:txBody>
      </p:sp>
      <p:sp>
        <p:nvSpPr>
          <p:cNvPr id="19" name="carte-209"/>
          <p:cNvSpPr/>
          <p:nvPr/>
        </p:nvSpPr>
        <p:spPr>
          <a:xfrm>
            <a:off x="548640" y="2743200"/>
            <a:ext cx="5440680" cy="1600200"/>
          </a:xfrm>
          <a:prstGeom prst="roundRect">
            <a:avLst>
              <a:gd name="adj" fmla="val 6857"/>
            </a:avLst>
          </a:prstGeom>
          <a:solidFill>
            <a:schemeClr val="bg2"/>
          </a:solidFill>
          <a:ln w="12700">
            <a:solidFill>
              <a:schemeClr val="bg2"/>
            </a:solidFill>
            <a:prstDash val="solid"/>
          </a:ln>
        </p:spPr>
      </p:sp>
      <p:sp>
        <p:nvSpPr>
          <p:cNvPr id="20" name="texte-210"/>
          <p:cNvSpPr txBox="1"/>
          <p:nvPr/>
        </p:nvSpPr>
        <p:spPr>
          <a:xfrm>
            <a:off x="868680" y="2926080"/>
            <a:ext cx="1371600" cy="548640"/>
          </a:xfrm>
          <a:prstGeom prst="rect">
            <a:avLst/>
          </a:prstGeom>
          <a:noFill/>
          <a:ln/>
        </p:spPr>
        <p:txBody>
          <a:bodyPr wrap="square" lIns="0" tIns="0" rIns="0" bIns="0" rtlCol="0" anchor="t"/>
          <a:lstStyle/>
          <a:p>
            <a:pPr indent="0" marL="0">
              <a:buNone/>
            </a:pPr>
            <a:r>
              <a:rPr lang="en-US" sz="3000" b="1" dirty="0">
                <a:solidFill>
                  <a:schemeClr val="accent1"/>
                </a:solidFill>
              </a:rPr>
              <a:t>dev</a:t>
            </a:r>
            <a:endParaRPr lang="en-US" sz="3000" dirty="0"/>
          </a:p>
        </p:txBody>
      </p:sp>
      <p:sp>
        <p:nvSpPr>
          <p:cNvPr id="21" name="texte-211"/>
          <p:cNvSpPr txBox="1"/>
          <p:nvPr/>
        </p:nvSpPr>
        <p:spPr>
          <a:xfrm>
            <a:off x="228600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dev · préfixe shopimt-dev</a:t>
            </a:r>
            <a:endParaRPr lang="en-US" sz="1500" dirty="0"/>
          </a:p>
        </p:txBody>
      </p:sp>
      <p:sp>
        <p:nvSpPr>
          <p:cNvPr id="22" name="texte-212"/>
          <p:cNvSpPr txBox="1"/>
          <p:nvPr/>
        </p:nvSpPr>
        <p:spPr>
          <a:xfrm>
            <a:off x="228600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Capacité DynamoDB minimale, on y casse tout sans risque</a:t>
            </a:r>
            <a:endParaRPr lang="en-US" sz="1300" dirty="0"/>
          </a:p>
        </p:txBody>
      </p:sp>
      <p:sp>
        <p:nvSpPr>
          <p:cNvPr id="23" name="carte-213"/>
          <p:cNvSpPr/>
          <p:nvPr/>
        </p:nvSpPr>
        <p:spPr>
          <a:xfrm>
            <a:off x="6172200" y="2743200"/>
            <a:ext cx="5440680" cy="1600200"/>
          </a:xfrm>
          <a:prstGeom prst="roundRect">
            <a:avLst>
              <a:gd name="adj" fmla="val 6857"/>
            </a:avLst>
          </a:prstGeom>
          <a:solidFill>
            <a:schemeClr val="accent5"/>
          </a:solidFill>
          <a:ln w="12700">
            <a:solidFill>
              <a:schemeClr val="accent5"/>
            </a:solidFill>
            <a:prstDash val="solid"/>
          </a:ln>
        </p:spPr>
      </p:sp>
      <p:sp>
        <p:nvSpPr>
          <p:cNvPr id="24" name="texte-214"/>
          <p:cNvSpPr txBox="1"/>
          <p:nvPr/>
        </p:nvSpPr>
        <p:spPr>
          <a:xfrm>
            <a:off x="6492240" y="2926080"/>
            <a:ext cx="1371600" cy="548640"/>
          </a:xfrm>
          <a:prstGeom prst="rect">
            <a:avLst/>
          </a:prstGeom>
          <a:noFill/>
          <a:ln/>
        </p:spPr>
        <p:txBody>
          <a:bodyPr wrap="square" lIns="0" tIns="0" rIns="0" bIns="0" rtlCol="0" anchor="t"/>
          <a:lstStyle/>
          <a:p>
            <a:pPr indent="0" marL="0">
              <a:buNone/>
            </a:pPr>
            <a:r>
              <a:rPr lang="en-US" sz="3000" b="1" dirty="0">
                <a:solidFill>
                  <a:schemeClr val="tx1"/>
                </a:solidFill>
              </a:rPr>
              <a:t>prod</a:t>
            </a:r>
            <a:endParaRPr lang="en-US" sz="3000" dirty="0"/>
          </a:p>
        </p:txBody>
      </p:sp>
      <p:sp>
        <p:nvSpPr>
          <p:cNvPr id="25" name="texte-215"/>
          <p:cNvSpPr txBox="1"/>
          <p:nvPr/>
        </p:nvSpPr>
        <p:spPr>
          <a:xfrm>
            <a:off x="790956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main · préfixe shopimt-sls</a:t>
            </a:r>
            <a:endParaRPr lang="en-US" sz="1500" dirty="0"/>
          </a:p>
        </p:txBody>
      </p:sp>
      <p:sp>
        <p:nvSpPr>
          <p:cNvPr id="26" name="texte-216"/>
          <p:cNvSpPr txBox="1"/>
          <p:nvPr/>
        </p:nvSpPr>
        <p:spPr>
          <a:xfrm>
            <a:off x="790956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Même module Terraform, seules quelques valeurs changent</a:t>
            </a:r>
            <a:endParaRPr lang="en-US" sz="1300" dirty="0"/>
          </a:p>
        </p:txBody>
      </p:sp>
      <p:sp>
        <p:nvSpPr>
          <p:cNvPr id="27" name="carte-217"/>
          <p:cNvSpPr/>
          <p:nvPr/>
        </p:nvSpPr>
        <p:spPr>
          <a:xfrm>
            <a:off x="548640" y="4572000"/>
            <a:ext cx="11064240" cy="1508760"/>
          </a:xfrm>
          <a:prstGeom prst="roundRect">
            <a:avLst>
              <a:gd name="adj" fmla="val 7273"/>
            </a:avLst>
          </a:prstGeom>
          <a:solidFill>
            <a:schemeClr val="tx1"/>
          </a:solidFill>
          <a:ln w="12700">
            <a:solidFill>
              <a:schemeClr val="tx1"/>
            </a:solidFill>
            <a:prstDash val="solid"/>
          </a:ln>
        </p:spPr>
      </p:sp>
      <p:sp>
        <p:nvSpPr>
          <p:cNvPr id="28" name="texte-218"/>
          <p:cNvSpPr txBox="1"/>
          <p:nvPr/>
        </p:nvSpPr>
        <p:spPr>
          <a:xfrm>
            <a:off x="868680" y="4800600"/>
            <a:ext cx="10424160" cy="411480"/>
          </a:xfrm>
          <a:prstGeom prst="rect">
            <a:avLst/>
          </a:prstGeom>
          <a:noFill/>
          <a:ln/>
        </p:spPr>
        <p:txBody>
          <a:bodyPr wrap="square" lIns="0" tIns="0" rIns="0" bIns="0" rtlCol="0" anchor="t"/>
          <a:lstStyle/>
          <a:p>
            <a:pPr indent="0" marL="0">
              <a:buNone/>
            </a:pPr>
            <a:r>
              <a:rPr lang="en-US" sz="1500" b="1" dirty="0">
                <a:solidFill>
                  <a:schemeClr val="bg1"/>
                </a:solidFill>
              </a:rPr>
              <a:t>État Terraform dans S3 (versionné, verrouillé) · réglages personnels dans SSM Parameter Store, hors du dépôt</a:t>
            </a:r>
            <a:endParaRPr lang="en-US" sz="1500" dirty="0"/>
          </a:p>
        </p:txBody>
      </p:sp>
      <p:sp>
        <p:nvSpPr>
          <p:cNvPr id="29" name="texte-219"/>
          <p:cNvSpPr txBox="1"/>
          <p:nvPr/>
        </p:nvSpPr>
        <p:spPr>
          <a:xfrm>
            <a:off x="868680" y="5303520"/>
            <a:ext cx="10424160" cy="457200"/>
          </a:xfrm>
          <a:prstGeom prst="rect">
            <a:avLst/>
          </a:prstGeom>
          <a:noFill/>
          <a:ln/>
        </p:spPr>
        <p:txBody>
          <a:bodyPr wrap="square" lIns="0" tIns="0" rIns="0" bIns="0" rtlCol="0" anchor="t"/>
          <a:lstStyle/>
          <a:p>
            <a:pPr indent="0" marL="0">
              <a:buNone/>
            </a:pPr>
            <a:r>
              <a:rPr lang="en-US" sz="1300" dirty="0">
                <a:solidFill>
                  <a:schemeClr val="bg2"/>
                </a:solidFill>
              </a:rPr>
              <a:t>Aucune adresse e-mail, aucun secret, aucun état dans GitHub : le dépôt peut être public.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rateur-220"/>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22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0 € par mois, grâce à des choix précis</a:t>
            </a:r>
            <a:endParaRPr lang="en-US" sz="3000" dirty="0"/>
          </a:p>
        </p:txBody>
      </p:sp>
      <p:sp>
        <p:nvSpPr>
          <p:cNvPr id="5" name="carte-222"/>
          <p:cNvSpPr/>
          <p:nvPr/>
        </p:nvSpPr>
        <p:spPr>
          <a:xfrm>
            <a:off x="548640" y="1417320"/>
            <a:ext cx="3291840" cy="4663440"/>
          </a:xfrm>
          <a:prstGeom prst="roundRect">
            <a:avLst>
              <a:gd name="adj" fmla="val 3333"/>
            </a:avLst>
          </a:prstGeom>
          <a:solidFill>
            <a:schemeClr val="tx1"/>
          </a:solidFill>
          <a:ln w="12700">
            <a:solidFill>
              <a:schemeClr val="tx1"/>
            </a:solidFill>
            <a:prstDash val="solid"/>
          </a:ln>
        </p:spPr>
      </p:sp>
      <p:sp>
        <p:nvSpPr>
          <p:cNvPr id="6" name="texte-223"/>
          <p:cNvSpPr txBox="1"/>
          <p:nvPr/>
        </p:nvSpPr>
        <p:spPr>
          <a:xfrm>
            <a:off x="868680" y="17373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0 €</a:t>
            </a:r>
            <a:endParaRPr lang="en-US" sz="7200" dirty="0"/>
          </a:p>
        </p:txBody>
      </p:sp>
      <p:sp>
        <p:nvSpPr>
          <p:cNvPr id="7" name="texte-224"/>
          <p:cNvSpPr txBox="1"/>
          <p:nvPr/>
        </p:nvSpPr>
        <p:spPr>
          <a:xfrm>
            <a:off x="868680" y="3017520"/>
            <a:ext cx="2697480" cy="914400"/>
          </a:xfrm>
          <a:prstGeom prst="rect">
            <a:avLst/>
          </a:prstGeom>
          <a:noFill/>
          <a:ln/>
        </p:spPr>
        <p:txBody>
          <a:bodyPr wrap="square" lIns="0" tIns="0" rIns="0" bIns="0" rtlCol="0" anchor="t"/>
          <a:lstStyle/>
          <a:p>
            <a:pPr indent="0" marL="0">
              <a:buNone/>
            </a:pPr>
            <a:r>
              <a:rPr lang="en-US" sz="1600" dirty="0">
                <a:solidFill>
                  <a:schemeClr val="bg1"/>
                </a:solidFill>
              </a:rPr>
              <a:t>Deux environnements, tous dans l'offre gratuite AWS</a:t>
            </a:r>
            <a:endParaRPr lang="en-US" sz="1600" dirty="0"/>
          </a:p>
        </p:txBody>
      </p:sp>
      <p:sp>
        <p:nvSpPr>
          <p:cNvPr id="8" name="texte-225"/>
          <p:cNvSpPr txBox="1"/>
          <p:nvPr/>
        </p:nvSpPr>
        <p:spPr>
          <a:xfrm>
            <a:off x="868680" y="5074920"/>
            <a:ext cx="2697480" cy="731520"/>
          </a:xfrm>
          <a:prstGeom prst="rect">
            <a:avLst/>
          </a:prstGeom>
          <a:noFill/>
          <a:ln/>
        </p:spPr>
        <p:txBody>
          <a:bodyPr wrap="square" lIns="0" tIns="0" rIns="0" bIns="0" rtlCol="0" anchor="t"/>
          <a:lstStyle/>
          <a:p>
            <a:pPr indent="0" marL="0">
              <a:buNone/>
            </a:pPr>
            <a:r>
              <a:rPr lang="en-US" sz="1200" dirty="0">
                <a:solidFill>
                  <a:schemeClr val="bg2"/>
                </a:solidFill>
              </a:rPr>
              <a:t>AWS Budgets : alerte à 1 $ sur le compte</a:t>
            </a:r>
            <a:endParaRPr lang="en-US" sz="1200" dirty="0"/>
          </a:p>
        </p:txBody>
      </p:sp>
      <p:graphicFrame>
        <p:nvGraphicFramePr>
          <p:cNvPr id="11" name="tableau-couts"/>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737360"/>
                <a:gridCol w="2834640"/>
                <a:gridCol w="2834640"/>
              </a:tblGrid>
              <a:tr h="548640">
                <a:tc>
                  <a:txBody>
                    <a:bodyPr/>
                    <a:lstStyle/>
                    <a:p>
                      <a:pPr indent="0" marL="0">
                        <a:buNone/>
                      </a:pPr>
                      <a:r>
                        <a:rPr lang="en-US" sz="1300" b="1" dirty="0">
                          <a:solidFill>
                            <a:schemeClr val="bg1"/>
                          </a:solidFill>
                        </a:rPr>
                        <a:t>Service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Notre choix</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Pourquoi c'est gratuit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548640">
                <a:tc>
                  <a:txBody>
                    <a:bodyPr/>
                    <a:lstStyle/>
                    <a:p>
                      <a:pPr indent="0" marL="0">
                        <a:buNone/>
                      </a:pPr>
                      <a:r>
                        <a:rPr lang="en-US" sz="1300" dirty="0">
                          <a:solidFill>
                            <a:schemeClr val="tx1"/>
                          </a:solidFill>
                        </a:rPr>
                        <a:t>Lambda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128 Mo, arm64</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 M d'appels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DynamoDB</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Provisionné 5 (prod) + 1 (dev)</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24 des 25 unités gratuites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Step Functions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États Wait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4 000 transitions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SNS / SQS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Standard</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1 M de requêtes / mois chacun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Amazon SES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Domaine vérifié (DKIM)</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3 000 e-mails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Translate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Traduit une seule fois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 M de caractères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b="1" dirty="0">
                          <a:solidFill>
                            <a:schemeClr val="tx1"/>
                          </a:solidFill>
                        </a:rPr>
                        <a:t>Kafka (MSK)</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Remplacé par DynamoDB Streams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MSK n'a pas d'offre gratuite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orateur-226"/>
          <p:cNvSpPr/>
          <p:nvPr/>
        </p:nvSpPr>
        <p:spPr>
          <a:xfrm>
            <a:off x="8430768"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27"/>
          <p:cNvSpPr txBox="1"/>
          <p:nvPr/>
        </p:nvSpPr>
        <p:spPr>
          <a:xfrm>
            <a:off x="8430768"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orateur-228"/>
          <p:cNvSpPr/>
          <p:nvPr/>
        </p:nvSpPr>
        <p:spPr>
          <a:xfrm>
            <a:off x="9372600" y="109728"/>
            <a:ext cx="1106424" cy="292608"/>
          </a:xfrm>
          <a:prstGeom prst="roundRect">
            <a:avLst>
              <a:gd name="adj" fmla="val 50000"/>
            </a:avLst>
          </a:prstGeom>
          <a:solidFill>
            <a:schemeClr val="accent4"/>
          </a:solidFill>
          <a:ln w="12700">
            <a:solidFill>
              <a:schemeClr val="accent4"/>
            </a:solidFill>
            <a:prstDash val="solid"/>
          </a:ln>
        </p:spPr>
      </p:sp>
      <p:sp>
        <p:nvSpPr>
          <p:cNvPr id="5" name="orateur-texte-229"/>
          <p:cNvSpPr txBox="1"/>
          <p:nvPr/>
        </p:nvSpPr>
        <p:spPr>
          <a:xfrm>
            <a:off x="9372600"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6" name="orateur-230"/>
          <p:cNvSpPr/>
          <p:nvPr/>
        </p:nvSpPr>
        <p:spPr>
          <a:xfrm>
            <a:off x="10552176" y="109728"/>
            <a:ext cx="868680" cy="292608"/>
          </a:xfrm>
          <a:prstGeom prst="roundRect">
            <a:avLst>
              <a:gd name="adj" fmla="val 50000"/>
            </a:avLst>
          </a:prstGeom>
          <a:solidFill>
            <a:schemeClr val="accent3"/>
          </a:solidFill>
          <a:ln w="12700">
            <a:solidFill>
              <a:schemeClr val="accent3"/>
            </a:solidFill>
            <a:prstDash val="solid"/>
          </a:ln>
        </p:spPr>
      </p:sp>
      <p:sp>
        <p:nvSpPr>
          <p:cNvPr id="7" name="orateur-texte-231"/>
          <p:cNvSpPr txBox="1"/>
          <p:nvPr/>
        </p:nvSpPr>
        <p:spPr>
          <a:xfrm>
            <a:off x="10552176"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8" name="texte-232"/>
          <p:cNvSpPr txBox="1"/>
          <p:nvPr/>
        </p:nvSpPr>
        <p:spPr>
          <a:xfrm>
            <a:off x="640080" y="73152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Votre commande est livrée.</a:t>
            </a:r>
            <a:endParaRPr lang="en-US" sz="4000" dirty="0"/>
          </a:p>
        </p:txBody>
      </p:sp>
      <p:sp>
        <p:nvSpPr>
          <p:cNvPr id="9" name="texte-233"/>
          <p:cNvSpPr txBox="1"/>
          <p:nvPr/>
        </p:nvSpPr>
        <p:spPr>
          <a:xfrm>
            <a:off x="64008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17</a:t>
            </a:r>
            <a:endParaRPr lang="en-US" sz="5400" dirty="0"/>
          </a:p>
        </p:txBody>
      </p:sp>
      <p:sp>
        <p:nvSpPr>
          <p:cNvPr id="10" name="texte-234"/>
          <p:cNvSpPr txBox="1"/>
          <p:nvPr/>
        </p:nvSpPr>
        <p:spPr>
          <a:xfrm>
            <a:off x="64008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services AWS</a:t>
            </a:r>
            <a:endParaRPr lang="en-US" sz="2000" dirty="0"/>
          </a:p>
        </p:txBody>
      </p:sp>
      <p:sp>
        <p:nvSpPr>
          <p:cNvPr id="11" name="texte-235"/>
          <p:cNvSpPr txBox="1"/>
          <p:nvPr/>
        </p:nvSpPr>
        <p:spPr>
          <a:xfrm>
            <a:off x="64008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intégrés et déployés</a:t>
            </a:r>
            <a:endParaRPr lang="en-US" sz="1400" dirty="0"/>
          </a:p>
        </p:txBody>
      </p:sp>
      <p:sp>
        <p:nvSpPr>
          <p:cNvPr id="12" name="texte-236"/>
          <p:cNvSpPr txBox="1"/>
          <p:nvPr/>
        </p:nvSpPr>
        <p:spPr>
          <a:xfrm>
            <a:off x="438912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2</a:t>
            </a:r>
            <a:endParaRPr lang="en-US" sz="5400" dirty="0"/>
          </a:p>
        </p:txBody>
      </p:sp>
      <p:sp>
        <p:nvSpPr>
          <p:cNvPr id="13" name="texte-237"/>
          <p:cNvSpPr txBox="1"/>
          <p:nvPr/>
        </p:nvSpPr>
        <p:spPr>
          <a:xfrm>
            <a:off x="438912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environnements</a:t>
            </a:r>
            <a:endParaRPr lang="en-US" sz="2000" dirty="0"/>
          </a:p>
        </p:txBody>
      </p:sp>
      <p:sp>
        <p:nvSpPr>
          <p:cNvPr id="14" name="texte-238"/>
          <p:cNvSpPr txBox="1"/>
          <p:nvPr/>
        </p:nvSpPr>
        <p:spPr>
          <a:xfrm>
            <a:off x="438912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dev et prod, 100 % Terraform</a:t>
            </a:r>
            <a:endParaRPr lang="en-US" sz="1400" dirty="0"/>
          </a:p>
        </p:txBody>
      </p:sp>
      <p:sp>
        <p:nvSpPr>
          <p:cNvPr id="15" name="texte-239"/>
          <p:cNvSpPr txBox="1"/>
          <p:nvPr/>
        </p:nvSpPr>
        <p:spPr>
          <a:xfrm>
            <a:off x="813816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0 €</a:t>
            </a:r>
            <a:endParaRPr lang="en-US" sz="5400" dirty="0"/>
          </a:p>
        </p:txBody>
      </p:sp>
      <p:sp>
        <p:nvSpPr>
          <p:cNvPr id="16" name="texte-240"/>
          <p:cNvSpPr txBox="1"/>
          <p:nvPr/>
        </p:nvSpPr>
        <p:spPr>
          <a:xfrm>
            <a:off x="813816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par mois</a:t>
            </a:r>
            <a:endParaRPr lang="en-US" sz="2000" dirty="0"/>
          </a:p>
        </p:txBody>
      </p:sp>
      <p:sp>
        <p:nvSpPr>
          <p:cNvPr id="17" name="texte-241"/>
          <p:cNvSpPr txBox="1"/>
          <p:nvPr/>
        </p:nvSpPr>
        <p:spPr>
          <a:xfrm>
            <a:off x="813816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offre gratuite respectée</a:t>
            </a:r>
            <a:endParaRPr lang="en-US" sz="1400" dirty="0"/>
          </a:p>
        </p:txBody>
      </p:sp>
      <p:sp>
        <p:nvSpPr>
          <p:cNvPr id="18" name="carte-242"/>
          <p:cNvSpPr/>
          <p:nvPr/>
        </p:nvSpPr>
        <p:spPr>
          <a:xfrm>
            <a:off x="640080" y="4572000"/>
            <a:ext cx="10881360" cy="1371600"/>
          </a:xfrm>
          <a:prstGeom prst="roundRect">
            <a:avLst>
              <a:gd name="adj" fmla="val 8000"/>
            </a:avLst>
          </a:prstGeom>
          <a:solidFill>
            <a:schemeClr val="tx2"/>
          </a:solidFill>
          <a:ln w="12700">
            <a:solidFill>
              <a:schemeClr val="tx2"/>
            </a:solidFill>
            <a:prstDash val="solid"/>
          </a:ln>
        </p:spPr>
      </p:sp>
      <p:sp>
        <p:nvSpPr>
          <p:cNvPr id="19" name="texte-243"/>
          <p:cNvSpPr txBox="1"/>
          <p:nvPr/>
        </p:nvSpPr>
        <p:spPr>
          <a:xfrm>
            <a:off x="960120" y="4754880"/>
            <a:ext cx="10241280" cy="411480"/>
          </a:xfrm>
          <a:prstGeom prst="rect">
            <a:avLst/>
          </a:prstGeom>
          <a:noFill/>
          <a:ln/>
        </p:spPr>
        <p:txBody>
          <a:bodyPr wrap="square" lIns="0" tIns="0" rIns="0" bIns="0" rtlCol="0" anchor="t"/>
          <a:lstStyle/>
          <a:p>
            <a:pPr indent="0" marL="0">
              <a:buNone/>
            </a:pPr>
            <a:r>
              <a:rPr lang="en-US" sz="1800" b="1" dirty="0">
                <a:solidFill>
                  <a:schemeClr val="bg1"/>
                </a:solidFill>
              </a:rPr>
              <a:t>Suite : la solution 2 sur EC2</a:t>
            </a:r>
            <a:endParaRPr lang="en-US" sz="1800" dirty="0"/>
          </a:p>
        </p:txBody>
      </p:sp>
      <p:sp>
        <p:nvSpPr>
          <p:cNvPr id="20" name="texte-244"/>
          <p:cNvSpPr txBox="1"/>
          <p:nvPr/>
        </p:nvSpPr>
        <p:spPr>
          <a:xfrm>
            <a:off x="960120" y="5193792"/>
            <a:ext cx="10241280" cy="594360"/>
          </a:xfrm>
          <a:prstGeom prst="rect">
            <a:avLst/>
          </a:prstGeom>
          <a:noFill/>
          <a:ln/>
        </p:spPr>
        <p:txBody>
          <a:bodyPr wrap="square" lIns="0" tIns="0" rIns="0" bIns="0" rtlCol="0" anchor="t"/>
          <a:lstStyle/>
          <a:p>
            <a:pPr indent="0" marL="0">
              <a:buNone/>
            </a:pPr>
            <a:r>
              <a:rPr lang="en-US" sz="1400" dirty="0">
                <a:solidFill>
                  <a:schemeClr val="bg2"/>
                </a:solidFill>
              </a:rPr>
              <a:t>Même boutique sur une machine virtuelle, avec le même cœur SNS → SQS et un Kafka mono-nœud, pour comparer les deux approches.</a:t>
            </a:r>
            <a:endParaRPr lang="en-US" sz="1400" dirty="0"/>
          </a:p>
        </p:txBody>
      </p:sp>
      <p:sp>
        <p:nvSpPr>
          <p:cNvPr id="22"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23"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Charte IMT">
  <a:themeElements>
    <a:clrScheme name="Charte IMT">
      <a:dk1>
        <a:srgbClr val="14223C"/>
      </a:dk1>
      <a:lt1>
        <a:srgbClr val="FFFFFF"/>
      </a:lt1>
      <a:dk2>
        <a:srgbClr val="0E1930"/>
      </a:dk2>
      <a:lt2>
        <a:srgbClr val="EDF3F4"/>
      </a:lt2>
      <a:accent1>
        <a:srgbClr val="00B8DE"/>
      </a:accent1>
      <a:accent2>
        <a:srgbClr val="14223C"/>
      </a:accent2>
      <a:accent3>
        <a:srgbClr val="1F8A4C"/>
      </a:accent3>
      <a:accent4>
        <a:srgbClr val="C76A00"/>
      </a:accent4>
      <a:accent5>
        <a:srgbClr val="E0F6FB"/>
      </a:accent5>
      <a:accent6>
        <a:srgbClr val="5B6B7C"/>
      </a:accent6>
      <a:hlink>
        <a:srgbClr val="007A94"/>
      </a:hlink>
      <a:folHlink>
        <a:srgbClr val="5B6B7C"/>
      </a:folHlink>
    </a:clrScheme>
    <a:fontScheme name="Charte IM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SHOP'IMT : une boutique en ligne serverless sur AWS</dc:title>
  <dc:subject>PptxGenJS Presentation</dc:subject>
  <dc:creator>Projet AWS FISA 2026</dc:creator>
  <cp:lastModifiedBy>Projet AWS FISA 2026</cp:lastModifiedBy>
  <cp:revision>1</cp:revision>
  <dcterms:created xsi:type="dcterms:W3CDTF">2026-10-29T16:41:57Z</dcterms:created>
  <dcterms:modified xsi:type="dcterms:W3CDTF">2026-10-29T16:41:57Z</dcterms:modified>
</cp:coreProperties>
</file>